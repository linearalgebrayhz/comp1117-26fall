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213" d="100"/>
          <a:sy n="213" d="100"/>
        </p:scale>
        <p:origin x="300" y="1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50-minute tutorial for first-year students. The teaching sequence is requirements discussion, student review, test design, implementation with AI, execution and repair. The course-result rules are fictional classroom rules. Preparation before class: Python and VS Code installed, GitHub Copilot access configured if used, and the student workspace downloaded. The tutor should check the classroom account and network in Hong Kong. Do not spend class time waiting for student-benefit approval. If live AI access is unavailable, students can work with a partner, use HKU GenAI for discussion, or use the supplied offline materials. The teaching draft is deliberately faulty and is not presented as an observed AI response. Screenshot placeholders A–E are intended for the tutor to replace with their own VS Code captures.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By the end, students should be able to explain a reviewed requirements file, a small test plan and actual results. Use the tutor demonstration to connect each decision to a requirement.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Hard stop at 50 minutes. Use a tutor-led requirements demonstration, followed by a class walkthrough of the test cases. Show the prepared screenshots. Finish the requirements review at minute 18 and test design at minute 28. Use the prepared teaching draft if live implementation takes more than two minutes. At minute 40 move to the independent check. Leave the detailed reference code for follow-up reading if time is tight.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these are ways to support learning while retaining the student's own reasoning. Pasting the entire assignment into Chat and asking for a complete solution bypasses the learning task. Students should use focused questions and follow the permitted uses in the assignment rubric. The first interaction in the tutorial asks AI to clarify requirements.</a:t>
            </a:r>
          </a:p>
          <a:p>
            <a:endParaRPr/>
          </a:p>
          <a:p>
            <a:r>
              <a:t>Course guidance supplied by the instructors, 11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for one example of a decision that AI should not invent, such as a pass threshold. Students can reject a suggested rule and document why.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ordering is the main lesson. Students should be able to defend the requirements and expected answers before seeing an implementation.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Course policy supplied by the instructor: AI use and test-case verification are included in assignment marking. Students should retain the evidence required by the specific assignment rubric. No weighting is invented here. The fictional 40/60 weights used later belong only to the programming exercise.</a:t>
            </a:r>
          </a:p>
          <a:p>
            <a:endParaRPr/>
          </a:p>
          <a:p>
            <a:r>
              <a:t>The assessed record of AI use does not authorise outsourcing an assignment solution. Students must do and understand their own work and follow the permitted uses in the assignment rubric. Course guidance supplied by the instructors, 11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HKU GenAI can support concept explanations, worked examples and feedback during learning. The course instructors explicitly advise students not to use this chat to complete their assignments. Focused learning support remains subject to the assignment rubric. Students need to do and understand their own work.</a:t>
            </a:r>
          </a:p>
          <a:p>
            <a:endParaRPr/>
          </a:p>
          <a:p>
            <a:r>
              <a:t>Students sign in with their HKU Portal account. The student allocation is 500,000 AI Credits per month. Credits renew on the 1st and cover the App and API together.</a:t>
            </a:r>
          </a:p>
          <a:p>
            <a:endParaRPr/>
          </a:p>
          <a:p>
            <a:r>
              <a:t>[Sources]</a:t>
            </a:r>
          </a:p>
          <a:p>
            <a:r>
              <a:t>https://its.hku.hk/services/ai-as-a-service/hku-chatgpt/</a:t>
            </a:r>
          </a:p>
          <a:p>
            <a:r>
              <a:t>Service information checked 10 September 2026. Course-use guidance supplied by the instructors, 11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Chat view in the main VS Code window. The tutor screenshot should show where to type, where to send and where to select a model. Use the Copilot session, not a separate provider extension. Follow HKU ITS setup instructions before class, including its privacy settings. Account and plan access need to be working before the session. HKU ITS documents GitHub Copilot use for its community. Avoid a lengthy application demonstration during the tutorial. Screenshot A: crop the Chat area and enough of the editor to establish context. Hide personal email addresses and private repositories.</a:t>
            </a:r>
          </a:p>
          <a:p>
            <a:endParaRPr/>
          </a:p>
          <a:p>
            <a:r>
              <a:t>[Sources]</a:t>
            </a:r>
          </a:p>
          <a:p>
            <a:r>
              <a:t>https://code.visualstudio.com/docs/chat/chat-overview</a:t>
            </a:r>
          </a:p>
          <a:p>
            <a:r>
              <a:t>https://its.hku.hk/software/github-copilot/</a:t>
            </a:r>
          </a:p>
          <a:p>
            <a:r>
              <a:t>Checked 10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model picker is in the chat input area. Demonstrate one supported selection on the classroom account. Auto is an option when available. Do not use a fixed provider-model list in the slides. Check actual availability in Hong Kong before capturing the screenshot, and crop or hide unavailable choices. Switching models may change the explanation but does not change the agreed requirements. If a workspace is in Restricted Mode the picker can show only Auto; this is a setup issue to resolve before the class using a folder you created or trust. Screenshot B should show the real picker, not a recreated interface.</a:t>
            </a:r>
          </a:p>
          <a:p>
            <a:endParaRPr/>
          </a:p>
          <a:p>
            <a:r>
              <a:t>[Sources]</a:t>
            </a:r>
          </a:p>
          <a:p>
            <a:r>
              <a:t>https://code.visualstudio.com/docs/agent-customization/language-models</a:t>
            </a:r>
          </a:p>
          <a:p>
            <a:r>
              <a:t>Checked 10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Agent capability can reduce repetitive editing and test-running steps and provide execution feedback. It does not guarantee correctness. Use a review-only or Ask role if your installed version provides it for the requirements conversation. Otherwise explicitly request discussion only and do not accept premature edits. The precise role controls depend on the installed version. Later allow implementation and terminal actions only in this tutorial workspace. No additional agent service needs to be installed for the exercise.</a:t>
            </a:r>
          </a:p>
          <a:p>
            <a:endParaRPr/>
          </a:p>
          <a:p>
            <a:r>
              <a:t>[Sources]</a:t>
            </a:r>
          </a:p>
          <a:p>
            <a:r>
              <a:t>https://code.visualstudio.com/docs/agents/concepts/agents</a:t>
            </a:r>
          </a:p>
          <a:p>
            <a:r>
              <a:t>Checked 10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reveal code. Invite one ambiguity such as the weighting or whether an excellent coursework mark can compensate for a low exam mark. The rule card on slide 16 supplies the authoritative exercise decisions. These are not COMP1117 assessment weights.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supplied student folder or create the same files manually. Opening a folder makes it the current workspace. The student folder contains a requirements template and an empty test table, with no implementation. Screenshot C should show the Explorer and the Markdown editor together. Before class, check Python runs in this workspace.</a:t>
            </a:r>
          </a:p>
          <a:p>
            <a:endParaRPr/>
          </a:p>
          <a:p>
            <a:r>
              <a:t>[Sources]</a:t>
            </a:r>
          </a:p>
          <a:p>
            <a:r>
              <a:t>https://code.visualstudio.com/docs/editing/workspaces/workspaces</a:t>
            </a:r>
          </a:p>
          <a:p>
            <a:r>
              <a:t>Checked 10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Markdown file is an ordinary text file with simple headings. The starter deliberately records questions instead of silently choosing rules. Students will replace unresolved questions with reviewed requirements. They should not implement the unanswered template.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supplied reviewer prompt. Attach the actual file using Add Context, a file mention selected from the menu, or drag and drop. A filename typed as ordinary text is not proof that the file was included. Ask the AI for one question at a time. If it starts writing a program, steer it back to requirements. Screenshot D must be a real conversation with questions and the student or tutor response, rather than a fabricated answer.</a:t>
            </a:r>
          </a:p>
          <a:p>
            <a:endParaRPr/>
          </a:p>
          <a:p>
            <a:r>
              <a:t>[Sources]</a:t>
            </a:r>
          </a:p>
          <a:p>
            <a:r>
              <a:t>https://code.visualstudio.com/docs/chat/copilot-chat-context</a:t>
            </a:r>
          </a:p>
          <a:p>
            <a:r>
              <a:t>Checked 10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card supplies the facts that the AI cannot invent. Students can still discuss how to word the requirements clearly. Both endpoints are inclusive. Validate the inputs before deciding Pass or Fail. The output is one word followed by a newline. Inputs are guaranteed to be integer text for this exercise, so text/decimal parsing and repeated sessions are out of scope. The weighted total is used for the decision, not printed.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Review this compact reference with the class before implementing the program. R2 includes validating both marks before the pass decision. R4 applies only to valid marks. R5 means exactly one output word and a newline, with no input prompts or printed total. The full requirements document in the tutor materials gives these details. Ask a student to explain why coursework 100 and exam 39 gives Fail.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Answers: 50 and 50 gives Pass because the total is 50 and the exam exceeds 40. 100 and 39 gives Fail because the exam minimum is not met. 80 and 101 gives Invalid because the exam exceeds 100. Ask for the relevant requirement as well as the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Expected output is a prediction from the agreed requirement. Actual output is an observation from running the program. A useful purpose explains what fault the test could reveal. Keep these distinct in the test plan.</a:t>
            </a:r>
          </a:p>
          <a:p>
            <a:endParaRPr/>
          </a:p>
          <a:p>
            <a:r>
              <a:t>[Sources]</a:t>
            </a:r>
          </a:p>
          <a:p>
            <a:r>
              <a:t>https://istqb.org/wp-content/uploads/2024/11/ISTQB_CTFL_Syllabus_v4.0.1.pdf</a:t>
            </a:r>
          </a:p>
          <a:p>
            <a:r>
              <a:t>Checked 10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Holding one mark fixed makes the reason for a result easier to interpret. The exam-minimum tests use coursework 100 so the weighted total already exceeds 50. These tests isolate the exam rule. Check the range of each input independently. This combines equivalence groups and boundary-value reasoning.</a:t>
            </a:r>
          </a:p>
          <a:p>
            <a:endParaRPr/>
          </a:p>
          <a:p>
            <a:r>
              <a:t>[Sources]</a:t>
            </a:r>
          </a:p>
          <a:p>
            <a:r>
              <a:t>https://istqb.org/wp-content/uploads/2024/11/ISTQB_CTFL_Syllabus_v4.0.1.pdf</a:t>
            </a:r>
          </a:p>
          <a:p>
            <a:r>
              <a:t>Checked 10 September 2026.</a:t>
            </a:r>
          </a:p>
          <a:p>
            <a:r>
              <a:t>[/Sources]</a:t>
            </a:r>
          </a:p>
          <a:p>
            <a:endParaRPr/>
          </a:p>
          <a:p>
            <a:r>
              <a:t>After grouping inputs, check that the groups contain tests for every reachable conditional branch. Use the next slide as a checklist, then verify against the actual code after implementation. An uncovered branch may reveal a missing group or test case. If a branch cannot be reached, inspect the requirement and code rather than assuming a test can exercise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groups means groups of input values, not groups of students. Start from requirements when choosing test groups. Once the implementation exists, run representative cases and check the paths actually taken. Each reachable if/elif decision should have both its True and False outcomes exercised.</a:t>
            </a:r>
          </a:p>
          <a:p>
            <a:endParaRPr/>
          </a:p>
          <a:p>
            <a:r>
              <a:t>The table maps three cases to the reviewed implementation: 80/101 takes the invalid branch, 80/80 takes the pass branch, and 100/39 takes the final else branch. Together they exercise the True and False outcomes of both decisions. Keep the more detailed tests that check each input range, the weighted threshold and the exam minimum. Branch coverage alone cannot show that all requirements are implemented correctly. An unreachable branch requires investigation.</a:t>
            </a:r>
          </a:p>
          <a:p>
            <a:endParaRPr/>
          </a:p>
          <a:p>
            <a:r>
              <a:t>[Sources]</a:t>
            </a:r>
          </a:p>
          <a:p>
            <a:r>
              <a:t>https://istqb.org/wp-content/uploads/2024/11/ISTQB_CTFL_Syllabus_v4.0.1.pdf</a:t>
            </a:r>
          </a:p>
          <a:p>
            <a:r>
              <a:t>Section 4.3.2, checked 11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purpose and expected output of each reference test with the class before requesting implementation. The weighted totals for the first five cases are 80, 49.6, 50, 63.4 and 64. Invalid input takes priority over scoring. Use test_plan.csv to record expectations before execution. The groups collectively cover Invalid, Pass and Fail. More boundary cases, ordinary failing inputs and extreme invalid inputs are in the tutor reference CSV. No finite example set proves correctness for all possible inputs.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implementation request comes after students have understood and reviewed the requirements and designed tests. That sequence is essential. In a live demo, first request the plan and wait for students to approve it. Then permit implementation and terminal execution in the tutorial workspace. Review the file changes and actual command outputs. If the live attempt takes over two minutes, move to the supplied teaching draft for the test-and-repair exercise.</a:t>
            </a:r>
          </a:p>
          <a:p>
            <a:endParaRPr/>
          </a:p>
          <a:p>
            <a:r>
              <a:t>[Sources]</a:t>
            </a:r>
          </a:p>
          <a:p>
            <a:r>
              <a:t>https://code.visualstudio.com/docs/chat/copilot-chat-context</a:t>
            </a:r>
          </a:p>
          <a:p>
            <a:r>
              <a:t>https://code.visualstudio.com/docs/agents/concepts/agents</a:t>
            </a:r>
          </a:p>
          <a:p>
            <a:r>
              <a:t>Checked 10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code is a prepared teaching example, not a claimed result from any specific AI prompt. Save or open tutor-materials/teaching_draft.py. It contains three independent faults: it validates only coursework, uses a strict greater-than comparison for the total, and ignores the exam minimum. Do not reveal all faults before students run and interpret the tests.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Screenshot E must show a real terminal run of the supplied teaching draft, using python teaching_draft.py on Windows or python3 teaching_draft.py where needed. The program reads coursework on the first line and exam on the second line. Inputs 50 then 50 produce Fail in this deliberately faulty draft. Run the code again for the next case. Students using their own generated implementation should record their actual output, which may already be correct. Do not replace an observed result with the reference draft result.</a:t>
            </a:r>
          </a:p>
          <a:p>
            <a:endParaRPr/>
          </a:p>
          <a:p>
            <a:r>
              <a:t>[Sources]</a:t>
            </a:r>
          </a:p>
          <a:p>
            <a:r>
              <a:t>https://docs.python.org/3/tutorial/controlflow.html</a:t>
            </a:r>
          </a:p>
          <a:p>
            <a:r>
              <a:t>Checked 10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results were verified by executing the prepared teaching draft. Ask students to map each failure to R2 or R4. 50/50 identifies the weighted threshold; 100/39 identifies the exam minimum; 80/101 identifies missing exam-range validation. The reference results do not describe every possible AI-generated implementation.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report includes a reproducible input, observed output and an explicit rule. Students can ask the AI to diagnose the mismatch, but should assess the proposed cause themselves.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 students review a proposed repair before accepting it. They should insist on rerunning the whole test plan, since a local fix may leave the other two faults unresolved or introduce a regression. If AI claims a test passed, look for the executed command and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cw is an abbreviation for coursework. Explain the validation branch first, then the conjunction in the pass condition. Multiplying the weighted-total threshold by 10 gives an equivalent integer comparison, avoiding a rounding decision. The code prints exactly one word. Students need to understand the branches, not memorise them. Keep this page as follow-up reading if the demonstration is running late.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students to add 0/100 (Pass), 100/0 (Fail), 101/80 (Invalid) and 80/−1 (Invalid). Non-integer input is outside the agreed contract here. Later, a requirement change can legitimately change expected answers, which is the point of the next exercise.</a:t>
            </a:r>
          </a:p>
          <a:p>
            <a:endParaRPr/>
          </a:p>
          <a:p>
            <a:r>
              <a:t>[Sources]</a:t>
            </a:r>
          </a:p>
          <a:p>
            <a:r>
              <a:t>https://istqb.org/wp-content/uploads/2024/11/ISTQB_CTFL_Syllabus_v4.0.1.pdf</a:t>
            </a:r>
          </a:p>
          <a:p>
            <a:r>
              <a:t>Checked 10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Move here at minute 40. Students work independently for four minutes, then compare answers with the class. They should update the requirement and the affected expected results before requesting a code change. Coursework 100 with exams 44 and 45 isolates the new boundary.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50/50, the weighted threshold remains exactly 50 and the exam satisfies 45. This is an unaffected weighted-boundary case. Ask students to distinguish changing a requirement from changing a test just to make faulty code pass. After reviewing the new tests, they may ask AI to implement the revised requirement and rerun the plan.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final three minutes for two short answers and the evidence checklist. Remind students that the assignment rubric determines what to submit and how it is graded. The tutorial files are examples of evidence, not a newly invented submission policy.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Service guidance was checked against HKU ITS and Microsoft VS Code documentation on 10 September 2026. Only HKU GenAI and the HKU-documented GitHub Copilot route are presented as services for this tutorial. Model availability must be confirmed for the classroom account and Hong Kong location. The coursework/exam requirements and all test cases are fictional teaching materials. The testing terminology follows the ISTQB Foundation Level syllabus.</a:t>
            </a:r>
          </a:p>
          <a:p>
            <a:endParaRPr/>
          </a:p>
          <a:p>
            <a:r>
              <a:t>[Sources]</a:t>
            </a:r>
          </a:p>
          <a:p>
            <a:r>
              <a:t>https://its.hku.hk/services/ai-as-a-service/hku-chatgpt/</a:t>
            </a:r>
          </a:p>
          <a:p>
            <a:r>
              <a:t>https://its.hku.hk/software/github-copilot/</a:t>
            </a:r>
          </a:p>
          <a:p>
            <a:r>
              <a:t>https://code.visualstudio.com/docs/chat/chat-overview</a:t>
            </a:r>
          </a:p>
          <a:p>
            <a:r>
              <a:t>https://code.visualstudio.com/docs/agent-customization/language-models</a:t>
            </a:r>
          </a:p>
          <a:p>
            <a:r>
              <a:t>https://code.visualstudio.com/docs/chat/copilot-chat-context</a:t>
            </a:r>
          </a:p>
          <a:p>
            <a:r>
              <a:t>https://code.visualstudio.com/docs/editing/workspaces/workspaces</a:t>
            </a:r>
          </a:p>
          <a:p>
            <a:r>
              <a:t>https://code.visualstudio.com/docs/agents/concepts/agents</a:t>
            </a:r>
          </a:p>
          <a:p>
            <a:r>
              <a:t>https://istqb.org/wp-content/uploads/2024/11/ISTQB_CTFL_Syllabus_v4.0.1.pdf</a:t>
            </a:r>
          </a:p>
          <a:p>
            <a:r>
              <a:t>https://docs.python.org/3/tutorial/controlflow.html</a:t>
            </a:r>
          </a:p>
          <a:p>
            <a:r>
              <a:t>Checked 10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hyperlink" Target="https://its.hku.hk/services/ai-as-a-service/hku-chatgpt/" TargetMode="External"/><Relationship Id="rId4" Type="http://schemas.openxmlformats.org/officeDocument/2006/relationships/hyperlink" Target="https://genai.hku.hk"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hyperlink" Target="https://code.visualstudio.com/docs/chat/copilot-chat-context" TargetMode="External"/><Relationship Id="rId3" Type="http://schemas.openxmlformats.org/officeDocument/2006/relationships/image" Target="../media/image2.png"/><Relationship Id="rId7" Type="http://schemas.openxmlformats.org/officeDocument/2006/relationships/hyperlink" Target="https://code.visualstudio.com/docs/agent-customization/language-models" TargetMode="External"/><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hyperlink" Target="https://code.visualstudio.com/docs/chat/chat-overview" TargetMode="External"/><Relationship Id="rId5" Type="http://schemas.openxmlformats.org/officeDocument/2006/relationships/hyperlink" Target="https://its.hku.hk/software/github-copilot/" TargetMode="External"/><Relationship Id="rId10" Type="http://schemas.openxmlformats.org/officeDocument/2006/relationships/hyperlink" Target="https://docs.python.org/3/tutorial/controlflow.html" TargetMode="External"/><Relationship Id="rId4" Type="http://schemas.openxmlformats.org/officeDocument/2006/relationships/hyperlink" Target="https://its.hku.hk/services/ai-as-a-service/hku-chatgpt/" TargetMode="External"/><Relationship Id="rId9" Type="http://schemas.openxmlformats.org/officeDocument/2006/relationships/hyperlink" Target="https://istqb.org/wp-content/uploads/2024/11/ISTQB_CTFL_Syllabus_v4.0.1.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2367153-5D33-46CE-8224-8316E6B82156}"/>
              </a:ext>
            </a:extLst>
          </p:cNvPr>
          <p:cNvSpPr>
            <a:spLocks noGrp="1"/>
          </p:cNvSpPr>
          <p:nvPr/>
        </p:nvSpPr>
        <p:spPr>
          <a:xfrm>
            <a:off x="731520" y="1737360"/>
            <a:ext cx="7680960" cy="1097280"/>
          </a:xfrm>
          <a:prstGeom prst="rect">
            <a:avLst/>
          </a:prstGeom>
          <a:noFill/>
          <a:ln w="0">
            <a:noFill/>
          </a:ln>
        </p:spPr>
        <p:txBody>
          <a:bodyPr wrap="square" lIns="0" tIns="0" rIns="0" bIns="0" anchor="ctr">
            <a:noAutofit/>
          </a:bodyPr>
          <a:lstStyle/>
          <a:p>
            <a:pPr marL="0" indent="0" algn="l">
              <a:buNone/>
              <a:defRPr sz="4400" b="0">
                <a:solidFill>
                  <a:srgbClr val="FFFFFF"/>
                </a:solidFill>
                <a:latin typeface="Century Gothic"/>
                <a:ea typeface="Century Gothic"/>
                <a:cs typeface="Century Gothic"/>
              </a:defRPr>
            </a:pPr>
            <a:r>
              <a:rPr sz="4400" b="0">
                <a:solidFill>
                  <a:srgbClr val="FFFFFF"/>
                </a:solidFill>
                <a:latin typeface="Century Gothic"/>
                <a:ea typeface="Century Gothic"/>
                <a:cs typeface="Century Gothic"/>
              </a:rPr>
              <a:t>COMP1117 Tutorial 2</a:t>
            </a:r>
            <a:endParaRPr sz="4400"/>
          </a:p>
        </p:txBody>
      </p:sp>
      <p:sp>
        <p:nvSpPr>
          <p:cNvPr id="3" name="Text 1">
            <a:extLst>
              <a:ext uri="{FF2B5EF4-FFF2-40B4-BE49-F238E27FC236}">
                <a16:creationId xmlns:a16="http://schemas.microsoft.com/office/drawing/2014/main" id="{96E890F9-620B-48A2-989F-E16D0F37C78D}"/>
              </a:ext>
            </a:extLst>
          </p:cNvPr>
          <p:cNvSpPr>
            <a:spLocks noGrp="1"/>
          </p:cNvSpPr>
          <p:nvPr/>
        </p:nvSpPr>
        <p:spPr>
          <a:xfrm>
            <a:off x="731520" y="3990975"/>
            <a:ext cx="7715250" cy="838200"/>
          </a:xfrm>
          <a:prstGeom prst="rect">
            <a:avLst/>
          </a:prstGeom>
          <a:noFill/>
          <a:ln w="0">
            <a:noFill/>
          </a:ln>
        </p:spPr>
        <p:txBody>
          <a:bodyPr wrap="square" lIns="0" tIns="0" rIns="0" bIns="0" anchor="t">
            <a:noAutofit/>
          </a:bodyPr>
          <a:lstStyle/>
          <a:p>
            <a:pPr marL="0" indent="0" algn="l">
              <a:buNone/>
              <a:defRPr sz="2000" b="0">
                <a:solidFill>
                  <a:srgbClr val="ED46AC"/>
                </a:solidFill>
                <a:latin typeface="Century Gothic"/>
                <a:ea typeface="Century Gothic"/>
                <a:cs typeface="Century Gothic"/>
              </a:defRPr>
            </a:pPr>
            <a:r>
              <a:rPr sz="2000" b="0">
                <a:solidFill>
                  <a:srgbClr val="ED46AC"/>
                </a:solidFill>
                <a:latin typeface="Century Gothic"/>
                <a:ea typeface="Century Gothic"/>
                <a:cs typeface="Century Gothic"/>
              </a:rPr>
              <a:t>AI USE AND TESTING</a:t>
            </a:r>
            <a:endParaRPr sz="1800"/>
          </a:p>
          <a:p>
            <a:pPr marL="0" indent="0" algn="l">
              <a:buNone/>
              <a:defRPr sz="2000" b="0">
                <a:solidFill>
                  <a:srgbClr val="ED46AC"/>
                </a:solidFill>
                <a:latin typeface="Century Gothic"/>
                <a:ea typeface="Century Gothic"/>
                <a:cs typeface="Century Gothic"/>
              </a:defRPr>
            </a:pPr>
            <a:r>
              <a:rPr sz="2000" b="0">
                <a:solidFill>
                  <a:srgbClr val="ED46AC"/>
                </a:solidFill>
                <a:latin typeface="Century Gothic"/>
                <a:ea typeface="Century Gothic"/>
                <a:cs typeface="Century Gothic"/>
              </a:rPr>
              <a:t>AI-GENERATED CODE</a:t>
            </a:r>
            <a:endParaRPr sz="1800"/>
          </a:p>
        </p:txBody>
      </p:sp>
      <p:sp>
        <p:nvSpPr>
          <p:cNvPr id="4" name="Shape 2">
            <a:extLst>
              <a:ext uri="{FF2B5EF4-FFF2-40B4-BE49-F238E27FC236}">
                <a16:creationId xmlns:a16="http://schemas.microsoft.com/office/drawing/2014/main" id="{BD9B4CAC-0A40-4283-B267-FB9BEA830B1D}"/>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3">
            <a:extLst>
              <a:ext uri="{FF2B5EF4-FFF2-40B4-BE49-F238E27FC236}">
                <a16:creationId xmlns:a16="http://schemas.microsoft.com/office/drawing/2014/main" id="{7811843C-9336-4949-989B-FBB2BF5DC7A1}"/>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1</a:t>
            </a:r>
            <a:endParaRPr sz="2000"/>
          </a:p>
        </p:txBody>
      </p:sp>
    </p:spTree>
    <p:extLst>
      <p:ext uri="{BB962C8B-B14F-4D97-AF65-F5344CB8AC3E}">
        <p14:creationId xmlns:p14="http://schemas.microsoft.com/office/powerpoint/2010/main" val="1142777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Learning outcomes</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2</a:t>
            </a:r>
            <a:endParaRPr sz="2000"/>
          </a:p>
        </p:txBody>
      </p:sp>
      <p:sp>
        <p:nvSpPr>
          <p:cNvPr id="14" name="Body">
            <a:extLst>
              <a:ext uri="{FF2B5EF4-FFF2-40B4-BE49-F238E27FC236}">
                <a16:creationId xmlns:a16="http://schemas.microsoft.com/office/drawing/2014/main" id="{120F0777-2D31-46F3-9EA0-69DEC8988546}"/>
              </a:ext>
            </a:extLst>
          </p:cNvPr>
          <p:cNvSpPr>
            <a:spLocks noGrp="1"/>
          </p:cNvSpPr>
          <p:nvPr/>
        </p:nvSpPr>
        <p:spPr>
          <a:xfrm>
            <a:off x="609600" y="1733550"/>
            <a:ext cx="7886700" cy="638175"/>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Use AI to question and clarify a programming requirement.</a:t>
            </a:r>
          </a:p>
        </p:txBody>
      </p:sp>
      <p:sp>
        <p:nvSpPr>
          <p:cNvPr id="15" name="Body">
            <a:extLst>
              <a:ext uri="{FF2B5EF4-FFF2-40B4-BE49-F238E27FC236}">
                <a16:creationId xmlns:a16="http://schemas.microsoft.com/office/drawing/2014/main" id="{8B0E698A-CED0-4AA6-8FB8-CF137B006D4C}"/>
              </a:ext>
            </a:extLst>
          </p:cNvPr>
          <p:cNvSpPr>
            <a:spLocks noGrp="1"/>
          </p:cNvSpPr>
          <p:nvPr/>
        </p:nvSpPr>
        <p:spPr>
          <a:xfrm>
            <a:off x="609600" y="2428875"/>
            <a:ext cx="7886700" cy="638175"/>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Review requirements.md and explain the decisions yourself.</a:t>
            </a:r>
          </a:p>
        </p:txBody>
      </p:sp>
      <p:sp>
        <p:nvSpPr>
          <p:cNvPr id="16" name="Body">
            <a:extLst>
              <a:ext uri="{FF2B5EF4-FFF2-40B4-BE49-F238E27FC236}">
                <a16:creationId xmlns:a16="http://schemas.microsoft.com/office/drawing/2014/main" id="{C82D18FA-764A-4DDD-A9F6-C67A11D115AD}"/>
              </a:ext>
            </a:extLst>
          </p:cNvPr>
          <p:cNvSpPr>
            <a:spLocks noGrp="1"/>
          </p:cNvSpPr>
          <p:nvPr/>
        </p:nvSpPr>
        <p:spPr>
          <a:xfrm>
            <a:off x="609600" y="3124200"/>
            <a:ext cx="7886700" cy="638175"/>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Choose tests with expected answers before generating code.</a:t>
            </a:r>
          </a:p>
        </p:txBody>
      </p:sp>
      <p:sp>
        <p:nvSpPr>
          <p:cNvPr id="17" name="Body">
            <a:extLst>
              <a:ext uri="{FF2B5EF4-FFF2-40B4-BE49-F238E27FC236}">
                <a16:creationId xmlns:a16="http://schemas.microsoft.com/office/drawing/2014/main" id="{E0009525-4AF7-446D-8D8F-92B4D1185C6C}"/>
              </a:ext>
            </a:extLst>
          </p:cNvPr>
          <p:cNvSpPr>
            <a:spLocks noGrp="1"/>
          </p:cNvSpPr>
          <p:nvPr/>
        </p:nvSpPr>
        <p:spPr>
          <a:xfrm>
            <a:off x="609600" y="3819525"/>
            <a:ext cx="7886700" cy="638175"/>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Use execution evidence to repair and retest the program.</a:t>
            </a:r>
          </a:p>
        </p:txBody>
      </p:sp>
    </p:spTree>
    <p:extLst>
      <p:ext uri="{BB962C8B-B14F-4D97-AF65-F5344CB8AC3E}">
        <p14:creationId xmlns:p14="http://schemas.microsoft.com/office/powerpoint/2010/main" val="1282225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Our 50-minute tutorial</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3</a:t>
            </a:r>
            <a:endParaRPr sz="2000"/>
          </a:p>
        </p:txBody>
      </p:sp>
      <p:graphicFrame>
        <p:nvGraphicFramePr>
          <p:cNvPr id="23" name="表格 22"/>
          <p:cNvGraphicFramePr/>
          <p:nvPr/>
        </p:nvGraphicFramePr>
        <p:xfrm>
          <a:off x="552450" y="1752600"/>
          <a:ext cx="8039100" cy="2781300"/>
        </p:xfrm>
        <a:graphic>
          <a:graphicData uri="http://schemas.openxmlformats.org/drawingml/2006/table">
            <a:tbl>
              <a:tblPr/>
              <a:tblGrid>
                <a:gridCol w="17145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397329">
                <a:tc>
                  <a:txBody>
                    <a:bodyPr/>
                    <a:lstStyle/>
                    <a:p>
                      <a:r>
                        <a:rPr sz="1725" b="1">
                          <a:solidFill>
                            <a:srgbClr val="FFFFFF"/>
                          </a:solidFill>
                          <a:latin typeface="Calibri"/>
                          <a:ea typeface="Calibri"/>
                          <a:cs typeface="Calibri"/>
                        </a:rPr>
                        <a:t>Time</a:t>
                      </a:r>
                    </a:p>
                  </a:txBody>
                  <a:tcPr anchor="ctr">
                    <a:solidFill>
                      <a:srgbClr val="4C2859"/>
                    </a:solidFill>
                  </a:tcPr>
                </a:tc>
                <a:tc>
                  <a:txBody>
                    <a:bodyPr/>
                    <a:lstStyle/>
                    <a:p>
                      <a:r>
                        <a:rPr sz="1725" b="1">
                          <a:solidFill>
                            <a:srgbClr val="FFFFFF"/>
                          </a:solidFill>
                          <a:latin typeface="Calibri"/>
                          <a:ea typeface="Calibri"/>
                          <a:cs typeface="Calibri"/>
                        </a:rPr>
                        <a:t>Activity</a:t>
                      </a:r>
                    </a:p>
                  </a:txBody>
                  <a:tcPr anchor="ctr">
                    <a:solidFill>
                      <a:srgbClr val="4C2859"/>
                    </a:solidFill>
                  </a:tcPr>
                </a:tc>
                <a:extLst>
                  <a:ext uri="{0D108BD9-81ED-4DB2-BD59-A6C34878D82A}">
                    <a16:rowId xmlns:a16="http://schemas.microsoft.com/office/drawing/2014/main" val="10000"/>
                  </a:ext>
                </a:extLst>
              </a:tr>
              <a:tr h="397329">
                <a:tc>
                  <a:txBody>
                    <a:bodyPr/>
                    <a:lstStyle/>
                    <a:p>
                      <a:r>
                        <a:rPr sz="1725" b="0">
                          <a:solidFill>
                            <a:srgbClr val="333333"/>
                          </a:solidFill>
                          <a:latin typeface="Calibri"/>
                          <a:ea typeface="Calibri"/>
                          <a:cs typeface="Calibri"/>
                        </a:rPr>
                        <a:t>0–8 min</a:t>
                      </a:r>
                    </a:p>
                  </a:txBody>
                  <a:tcPr anchor="ctr">
                    <a:solidFill>
                      <a:srgbClr val="FFFFFF"/>
                    </a:solidFill>
                  </a:tcPr>
                </a:tc>
                <a:tc>
                  <a:txBody>
                    <a:bodyPr/>
                    <a:lstStyle/>
                    <a:p>
                      <a:r>
                        <a:rPr sz="1725" b="0">
                          <a:solidFill>
                            <a:srgbClr val="333333"/>
                          </a:solidFill>
                          <a:latin typeface="Calibri"/>
                          <a:ea typeface="Calibri"/>
                          <a:cs typeface="Calibri"/>
                        </a:rPr>
                        <a:t>AI use, HKU access and VS Code Chat</a:t>
                      </a:r>
                    </a:p>
                  </a:txBody>
                  <a:tcPr anchor="ctr">
                    <a:solidFill>
                      <a:srgbClr val="FFFFFF"/>
                    </a:solidFill>
                  </a:tcPr>
                </a:tc>
                <a:extLst>
                  <a:ext uri="{0D108BD9-81ED-4DB2-BD59-A6C34878D82A}">
                    <a16:rowId xmlns:a16="http://schemas.microsoft.com/office/drawing/2014/main" val="10001"/>
                  </a:ext>
                </a:extLst>
              </a:tr>
              <a:tr h="397329">
                <a:tc>
                  <a:txBody>
                    <a:bodyPr/>
                    <a:lstStyle/>
                    <a:p>
                      <a:r>
                        <a:rPr sz="1725" b="0">
                          <a:solidFill>
                            <a:srgbClr val="333333"/>
                          </a:solidFill>
                          <a:latin typeface="Calibri"/>
                          <a:ea typeface="Calibri"/>
                          <a:cs typeface="Calibri"/>
                        </a:rPr>
                        <a:t>8–18 min</a:t>
                      </a:r>
                    </a:p>
                  </a:txBody>
                  <a:tcPr anchor="ctr">
                    <a:solidFill>
                      <a:srgbClr val="F8F5FA"/>
                    </a:solidFill>
                  </a:tcPr>
                </a:tc>
                <a:tc>
                  <a:txBody>
                    <a:bodyPr/>
                    <a:lstStyle/>
                    <a:p>
                      <a:r>
                        <a:rPr sz="1725" b="0">
                          <a:solidFill>
                            <a:srgbClr val="333333"/>
                          </a:solidFill>
                          <a:latin typeface="Calibri"/>
                          <a:ea typeface="Calibri"/>
                          <a:cs typeface="Calibri"/>
                        </a:rPr>
                        <a:t>Workspace and requirements demonstration</a:t>
                      </a:r>
                    </a:p>
                  </a:txBody>
                  <a:tcPr anchor="ctr">
                    <a:solidFill>
                      <a:srgbClr val="F8F5FA"/>
                    </a:solidFill>
                  </a:tcPr>
                </a:tc>
                <a:extLst>
                  <a:ext uri="{0D108BD9-81ED-4DB2-BD59-A6C34878D82A}">
                    <a16:rowId xmlns:a16="http://schemas.microsoft.com/office/drawing/2014/main" val="10002"/>
                  </a:ext>
                </a:extLst>
              </a:tr>
              <a:tr h="397329">
                <a:tc>
                  <a:txBody>
                    <a:bodyPr/>
                    <a:lstStyle/>
                    <a:p>
                      <a:r>
                        <a:rPr sz="1725" b="0">
                          <a:solidFill>
                            <a:srgbClr val="333333"/>
                          </a:solidFill>
                          <a:latin typeface="Calibri"/>
                          <a:ea typeface="Calibri"/>
                          <a:cs typeface="Calibri"/>
                        </a:rPr>
                        <a:t>18–28 min</a:t>
                      </a:r>
                    </a:p>
                  </a:txBody>
                  <a:tcPr anchor="ctr">
                    <a:solidFill>
                      <a:srgbClr val="FFFFFF"/>
                    </a:solidFill>
                  </a:tcPr>
                </a:tc>
                <a:tc>
                  <a:txBody>
                    <a:bodyPr/>
                    <a:lstStyle/>
                    <a:p>
                      <a:r>
                        <a:rPr sz="1725" b="0">
                          <a:solidFill>
                            <a:srgbClr val="333333"/>
                          </a:solidFill>
                          <a:latin typeface="Calibri"/>
                          <a:ea typeface="Calibri"/>
                          <a:cs typeface="Calibri"/>
                        </a:rPr>
                        <a:t>Test groups, boundaries and branch coverage</a:t>
                      </a:r>
                    </a:p>
                  </a:txBody>
                  <a:tcPr anchor="ctr">
                    <a:solidFill>
                      <a:srgbClr val="FFFFFF"/>
                    </a:solidFill>
                  </a:tcPr>
                </a:tc>
                <a:extLst>
                  <a:ext uri="{0D108BD9-81ED-4DB2-BD59-A6C34878D82A}">
                    <a16:rowId xmlns:a16="http://schemas.microsoft.com/office/drawing/2014/main" val="10003"/>
                  </a:ext>
                </a:extLst>
              </a:tr>
              <a:tr h="397329">
                <a:tc>
                  <a:txBody>
                    <a:bodyPr/>
                    <a:lstStyle/>
                    <a:p>
                      <a:r>
                        <a:rPr sz="1725" b="0">
                          <a:solidFill>
                            <a:srgbClr val="333333"/>
                          </a:solidFill>
                          <a:latin typeface="Calibri"/>
                          <a:ea typeface="Calibri"/>
                          <a:cs typeface="Calibri"/>
                        </a:rPr>
                        <a:t>28–40 min</a:t>
                      </a:r>
                    </a:p>
                  </a:txBody>
                  <a:tcPr anchor="ctr">
                    <a:solidFill>
                      <a:srgbClr val="F8F5FA"/>
                    </a:solidFill>
                  </a:tcPr>
                </a:tc>
                <a:tc>
                  <a:txBody>
                    <a:bodyPr/>
                    <a:lstStyle/>
                    <a:p>
                      <a:r>
                        <a:rPr sz="1725" b="0">
                          <a:solidFill>
                            <a:srgbClr val="333333"/>
                          </a:solidFill>
                          <a:latin typeface="Calibri"/>
                          <a:ea typeface="Calibri"/>
                          <a:cs typeface="Calibri"/>
                        </a:rPr>
                        <a:t>Implement, run tests and investigate failures</a:t>
                      </a:r>
                    </a:p>
                  </a:txBody>
                  <a:tcPr anchor="ctr">
                    <a:solidFill>
                      <a:srgbClr val="F8F5FA"/>
                    </a:solidFill>
                  </a:tcPr>
                </a:tc>
                <a:extLst>
                  <a:ext uri="{0D108BD9-81ED-4DB2-BD59-A6C34878D82A}">
                    <a16:rowId xmlns:a16="http://schemas.microsoft.com/office/drawing/2014/main" val="10004"/>
                  </a:ext>
                </a:extLst>
              </a:tr>
              <a:tr h="397329">
                <a:tc>
                  <a:txBody>
                    <a:bodyPr/>
                    <a:lstStyle/>
                    <a:p>
                      <a:r>
                        <a:rPr sz="1725" b="0">
                          <a:solidFill>
                            <a:srgbClr val="333333"/>
                          </a:solidFill>
                          <a:latin typeface="Calibri"/>
                          <a:ea typeface="Calibri"/>
                          <a:cs typeface="Calibri"/>
                        </a:rPr>
                        <a:t>40–47 min</a:t>
                      </a:r>
                    </a:p>
                  </a:txBody>
                  <a:tcPr anchor="ctr">
                    <a:solidFill>
                      <a:srgbClr val="FFFFFF"/>
                    </a:solidFill>
                  </a:tcPr>
                </a:tc>
                <a:tc>
                  <a:txBody>
                    <a:bodyPr/>
                    <a:lstStyle/>
                    <a:p>
                      <a:r>
                        <a:rPr sz="1725" b="0">
                          <a:solidFill>
                            <a:srgbClr val="333333"/>
                          </a:solidFill>
                          <a:latin typeface="Calibri"/>
                          <a:ea typeface="Calibri"/>
                          <a:cs typeface="Calibri"/>
                        </a:rPr>
                        <a:t>Independent check: a changed requirement</a:t>
                      </a:r>
                    </a:p>
                  </a:txBody>
                  <a:tcPr anchor="ctr">
                    <a:solidFill>
                      <a:srgbClr val="FFFFFF"/>
                    </a:solidFill>
                  </a:tcPr>
                </a:tc>
                <a:extLst>
                  <a:ext uri="{0D108BD9-81ED-4DB2-BD59-A6C34878D82A}">
                    <a16:rowId xmlns:a16="http://schemas.microsoft.com/office/drawing/2014/main" val="10005"/>
                  </a:ext>
                </a:extLst>
              </a:tr>
              <a:tr h="397329">
                <a:tc>
                  <a:txBody>
                    <a:bodyPr/>
                    <a:lstStyle/>
                    <a:p>
                      <a:r>
                        <a:rPr sz="1725" b="0">
                          <a:solidFill>
                            <a:srgbClr val="333333"/>
                          </a:solidFill>
                          <a:latin typeface="Calibri"/>
                          <a:ea typeface="Calibri"/>
                          <a:cs typeface="Calibri"/>
                        </a:rPr>
                        <a:t>47–50 min</a:t>
                      </a:r>
                    </a:p>
                  </a:txBody>
                  <a:tcPr anchor="ctr">
                    <a:solidFill>
                      <a:srgbClr val="F8F5FA"/>
                    </a:solidFill>
                  </a:tcPr>
                </a:tc>
                <a:tc>
                  <a:txBody>
                    <a:bodyPr/>
                    <a:lstStyle/>
                    <a:p>
                      <a:r>
                        <a:rPr sz="1725" b="0">
                          <a:solidFill>
                            <a:srgbClr val="333333"/>
                          </a:solidFill>
                          <a:latin typeface="Calibri"/>
                          <a:ea typeface="Calibri"/>
                          <a:cs typeface="Calibri"/>
                        </a:rPr>
                        <a:t>Exit questions and evidence checklist</a:t>
                      </a:r>
                    </a:p>
                  </a:txBody>
                  <a:tcPr anchor="ctr">
                    <a:solidFill>
                      <a:srgbClr val="F8F5FA"/>
                    </a:solidFill>
                  </a:tcPr>
                </a:tc>
                <a:extLst>
                  <a:ext uri="{0D108BD9-81ED-4DB2-BD59-A6C34878D82A}">
                    <a16:rowId xmlns:a16="http://schemas.microsoft.com/office/drawing/2014/main" val="10006"/>
                  </a:ext>
                </a:extLst>
              </a:tr>
            </a:tbl>
          </a:graphicData>
        </a:graphic>
      </p:graphicFrame>
      <p:sp>
        <p:nvSpPr>
          <p:cNvPr id="18" name="Body">
            <a:extLst>
              <a:ext uri="{FF2B5EF4-FFF2-40B4-BE49-F238E27FC236}">
                <a16:creationId xmlns:a16="http://schemas.microsoft.com/office/drawing/2014/main" id="{38A83E5A-8620-4AB7-A008-3F5A59BD195E}"/>
              </a:ext>
            </a:extLst>
          </p:cNvPr>
          <p:cNvSpPr>
            <a:spLocks noGrp="1"/>
          </p:cNvSpPr>
          <p:nvPr/>
        </p:nvSpPr>
        <p:spPr>
          <a:xfrm>
            <a:off x="552450" y="4629150"/>
            <a:ext cx="8039100" cy="419100"/>
          </a:xfrm>
          <a:prstGeom prst="rect">
            <a:avLst/>
          </a:prstGeom>
          <a:noFill/>
          <a:ln w="0">
            <a:noFill/>
          </a:ln>
        </p:spPr>
        <p:txBody>
          <a:bodyPr wrap="square" lIns="0" tIns="0" rIns="0" bIns="0" anchor="t">
            <a:noAutofit/>
          </a:bodyPr>
          <a:lstStyle/>
          <a:p>
            <a:pPr algn="l">
              <a:defRPr sz="1650" b="1">
                <a:solidFill>
                  <a:srgbClr val="4C2859"/>
                </a:solidFill>
                <a:latin typeface="Calibri"/>
                <a:ea typeface="Calibri"/>
                <a:cs typeface="Calibri"/>
              </a:defRPr>
            </a:pPr>
            <a:r>
              <a:rPr sz="1650" b="1">
                <a:solidFill>
                  <a:srgbClr val="4C2859"/>
                </a:solidFill>
                <a:latin typeface="Calibri"/>
                <a:ea typeface="Calibri"/>
                <a:cs typeface="Calibri"/>
              </a:rPr>
              <a:t>Follow the demonstration and explain the decisions as we go.</a:t>
            </a:r>
          </a:p>
        </p:txBody>
      </p:sp>
    </p:spTree>
    <p:extLst>
      <p:ext uri="{BB962C8B-B14F-4D97-AF65-F5344CB8AC3E}">
        <p14:creationId xmlns:p14="http://schemas.microsoft.com/office/powerpoint/2010/main" val="1282225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Constructive ways to use AI</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4</a:t>
            </a:r>
            <a:endParaRPr sz="2000"/>
          </a:p>
        </p:txBody>
      </p:sp>
      <p:graphicFrame>
        <p:nvGraphicFramePr>
          <p:cNvPr id="13" name="表格 12"/>
          <p:cNvGraphicFramePr/>
          <p:nvPr/>
        </p:nvGraphicFramePr>
        <p:xfrm>
          <a:off x="552450" y="1752600"/>
          <a:ext cx="8039100" cy="2381250"/>
        </p:xfrm>
        <a:graphic>
          <a:graphicData uri="http://schemas.openxmlformats.org/drawingml/2006/table">
            <a:tbl>
              <a:tblPr/>
              <a:tblGrid>
                <a:gridCol w="2352675">
                  <a:extLst>
                    <a:ext uri="{9D8B030D-6E8A-4147-A177-3AD203B41FA5}">
                      <a16:colId xmlns:a16="http://schemas.microsoft.com/office/drawing/2014/main" val="20000"/>
                    </a:ext>
                  </a:extLst>
                </a:gridCol>
                <a:gridCol w="5686425">
                  <a:extLst>
                    <a:ext uri="{9D8B030D-6E8A-4147-A177-3AD203B41FA5}">
                      <a16:colId xmlns:a16="http://schemas.microsoft.com/office/drawing/2014/main" val="20001"/>
                    </a:ext>
                  </a:extLst>
                </a:gridCol>
              </a:tblGrid>
              <a:tr h="476250">
                <a:tc>
                  <a:txBody>
                    <a:bodyPr/>
                    <a:lstStyle/>
                    <a:p>
                      <a:r>
                        <a:rPr sz="1800" b="1">
                          <a:solidFill>
                            <a:srgbClr val="FFFFFF"/>
                          </a:solidFill>
                          <a:latin typeface="Calibri"/>
                          <a:ea typeface="Calibri"/>
                          <a:cs typeface="Calibri"/>
                        </a:rPr>
                        <a:t>Learning purpose</a:t>
                      </a:r>
                    </a:p>
                  </a:txBody>
                  <a:tcPr anchor="ctr">
                    <a:solidFill>
                      <a:srgbClr val="4C2859"/>
                    </a:solidFill>
                  </a:tcPr>
                </a:tc>
                <a:tc>
                  <a:txBody>
                    <a:bodyPr/>
                    <a:lstStyle/>
                    <a:p>
                      <a:r>
                        <a:rPr sz="1800" b="1">
                          <a:solidFill>
                            <a:srgbClr val="FFFFFF"/>
                          </a:solidFill>
                          <a:latin typeface="Calibri"/>
                          <a:ea typeface="Calibri"/>
                          <a:cs typeface="Calibri"/>
                        </a:rPr>
                        <a:t>A useful request</a:t>
                      </a:r>
                    </a:p>
                  </a:txBody>
                  <a:tcPr anchor="ctr">
                    <a:solidFill>
                      <a:srgbClr val="4C2859"/>
                    </a:solidFill>
                  </a:tcPr>
                </a:tc>
                <a:extLst>
                  <a:ext uri="{0D108BD9-81ED-4DB2-BD59-A6C34878D82A}">
                    <a16:rowId xmlns:a16="http://schemas.microsoft.com/office/drawing/2014/main" val="10000"/>
                  </a:ext>
                </a:extLst>
              </a:tr>
              <a:tr h="476250">
                <a:tc>
                  <a:txBody>
                    <a:bodyPr/>
                    <a:lstStyle/>
                    <a:p>
                      <a:r>
                        <a:rPr sz="1800" b="0">
                          <a:solidFill>
                            <a:srgbClr val="333333"/>
                          </a:solidFill>
                          <a:latin typeface="Calibri"/>
                          <a:ea typeface="Calibri"/>
                          <a:cs typeface="Calibri"/>
                        </a:rPr>
                        <a:t>Clarify a task</a:t>
                      </a:r>
                    </a:p>
                  </a:txBody>
                  <a:tcPr anchor="ctr">
                    <a:solidFill>
                      <a:srgbClr val="FFFFFF"/>
                    </a:solidFill>
                  </a:tcPr>
                </a:tc>
                <a:tc>
                  <a:txBody>
                    <a:bodyPr/>
                    <a:lstStyle/>
                    <a:p>
                      <a:r>
                        <a:rPr sz="1800" b="0">
                          <a:solidFill>
                            <a:srgbClr val="333333"/>
                          </a:solidFill>
                          <a:latin typeface="Calibri"/>
                          <a:ea typeface="Calibri"/>
                          <a:cs typeface="Calibri"/>
                        </a:rPr>
                        <a:t>What is ambiguous in these requirements?</a:t>
                      </a:r>
                    </a:p>
                  </a:txBody>
                  <a:tcPr anchor="ctr">
                    <a:solidFill>
                      <a:srgbClr val="FFFFFF"/>
                    </a:solidFill>
                  </a:tcPr>
                </a:tc>
                <a:extLst>
                  <a:ext uri="{0D108BD9-81ED-4DB2-BD59-A6C34878D82A}">
                    <a16:rowId xmlns:a16="http://schemas.microsoft.com/office/drawing/2014/main" val="10001"/>
                  </a:ext>
                </a:extLst>
              </a:tr>
              <a:tr h="476250">
                <a:tc>
                  <a:txBody>
                    <a:bodyPr/>
                    <a:lstStyle/>
                    <a:p>
                      <a:r>
                        <a:rPr sz="1800" b="0">
                          <a:solidFill>
                            <a:srgbClr val="333333"/>
                          </a:solidFill>
                          <a:latin typeface="Calibri"/>
                          <a:ea typeface="Calibri"/>
                          <a:cs typeface="Calibri"/>
                        </a:rPr>
                        <a:t>Compare decisions</a:t>
                      </a:r>
                    </a:p>
                  </a:txBody>
                  <a:tcPr anchor="ctr">
                    <a:solidFill>
                      <a:srgbClr val="F8F5FA"/>
                    </a:solidFill>
                  </a:tcPr>
                </a:tc>
                <a:tc>
                  <a:txBody>
                    <a:bodyPr/>
                    <a:lstStyle/>
                    <a:p>
                      <a:r>
                        <a:rPr sz="1800" b="0">
                          <a:solidFill>
                            <a:srgbClr val="333333"/>
                          </a:solidFill>
                          <a:latin typeface="Calibri"/>
                          <a:ea typeface="Calibri"/>
                          <a:cs typeface="Calibri"/>
                        </a:rPr>
                        <a:t>Give two options and explain their consequences.</a:t>
                      </a:r>
                    </a:p>
                  </a:txBody>
                  <a:tcPr anchor="ctr">
                    <a:solidFill>
                      <a:srgbClr val="F8F5FA"/>
                    </a:solidFill>
                  </a:tcPr>
                </a:tc>
                <a:extLst>
                  <a:ext uri="{0D108BD9-81ED-4DB2-BD59-A6C34878D82A}">
                    <a16:rowId xmlns:a16="http://schemas.microsoft.com/office/drawing/2014/main" val="10002"/>
                  </a:ext>
                </a:extLst>
              </a:tr>
              <a:tr h="476250">
                <a:tc>
                  <a:txBody>
                    <a:bodyPr/>
                    <a:lstStyle/>
                    <a:p>
                      <a:r>
                        <a:rPr sz="1800" b="0">
                          <a:solidFill>
                            <a:srgbClr val="333333"/>
                          </a:solidFill>
                          <a:latin typeface="Calibri"/>
                          <a:ea typeface="Calibri"/>
                          <a:cs typeface="Calibri"/>
                        </a:rPr>
                        <a:t>Check understanding</a:t>
                      </a:r>
                    </a:p>
                  </a:txBody>
                  <a:tcPr anchor="ctr">
                    <a:solidFill>
                      <a:srgbClr val="FFFFFF"/>
                    </a:solidFill>
                  </a:tcPr>
                </a:tc>
                <a:tc>
                  <a:txBody>
                    <a:bodyPr/>
                    <a:lstStyle/>
                    <a:p>
                      <a:r>
                        <a:rPr sz="1800" b="0">
                          <a:solidFill>
                            <a:srgbClr val="333333"/>
                          </a:solidFill>
                          <a:latin typeface="Calibri"/>
                          <a:ea typeface="Calibri"/>
                          <a:cs typeface="Calibri"/>
                        </a:rPr>
                        <a:t>Ask me to predict a result and explain my reasoning.</a:t>
                      </a:r>
                    </a:p>
                  </a:txBody>
                  <a:tcPr anchor="ctr">
                    <a:solidFill>
                      <a:srgbClr val="FFFFFF"/>
                    </a:solidFill>
                  </a:tcPr>
                </a:tc>
                <a:extLst>
                  <a:ext uri="{0D108BD9-81ED-4DB2-BD59-A6C34878D82A}">
                    <a16:rowId xmlns:a16="http://schemas.microsoft.com/office/drawing/2014/main" val="10003"/>
                  </a:ext>
                </a:extLst>
              </a:tr>
              <a:tr h="476250">
                <a:tc>
                  <a:txBody>
                    <a:bodyPr/>
                    <a:lstStyle/>
                    <a:p>
                      <a:r>
                        <a:rPr sz="1800" b="0">
                          <a:solidFill>
                            <a:srgbClr val="333333"/>
                          </a:solidFill>
                          <a:latin typeface="Calibri"/>
                          <a:ea typeface="Calibri"/>
                          <a:cs typeface="Calibri"/>
                        </a:rPr>
                        <a:t>Review evidence</a:t>
                      </a:r>
                    </a:p>
                  </a:txBody>
                  <a:tcPr anchor="ctr">
                    <a:solidFill>
                      <a:srgbClr val="F8F5FA"/>
                    </a:solidFill>
                  </a:tcPr>
                </a:tc>
                <a:tc>
                  <a:txBody>
                    <a:bodyPr/>
                    <a:lstStyle/>
                    <a:p>
                      <a:r>
                        <a:rPr sz="1800" b="0">
                          <a:solidFill>
                            <a:srgbClr val="333333"/>
                          </a:solidFill>
                          <a:latin typeface="Calibri"/>
                          <a:ea typeface="Calibri"/>
                          <a:cs typeface="Calibri"/>
                        </a:rPr>
                        <a:t>Which requirement does this failing test contradict?</a:t>
                      </a:r>
                    </a:p>
                  </a:txBody>
                  <a:tcPr anchor="ctr">
                    <a:solidFill>
                      <a:srgbClr val="F8F5FA"/>
                    </a:solidFill>
                  </a:tcPr>
                </a:tc>
                <a:extLst>
                  <a:ext uri="{0D108BD9-81ED-4DB2-BD59-A6C34878D82A}">
                    <a16:rowId xmlns:a16="http://schemas.microsoft.com/office/drawing/2014/main" val="10004"/>
                  </a:ext>
                </a:extLst>
              </a:tr>
            </a:tbl>
          </a:graphicData>
        </a:graphic>
      </p:graphicFrame>
      <p:sp>
        <p:nvSpPr>
          <p:cNvPr id="8" name="Body">
            <a:extLst>
              <a:ext uri="{FF2B5EF4-FFF2-40B4-BE49-F238E27FC236}">
                <a16:creationId xmlns:a16="http://schemas.microsoft.com/office/drawing/2014/main" id="{8242E2AE-BE52-40E6-A010-D42A15ADEBB2}"/>
              </a:ext>
            </a:extLst>
          </p:cNvPr>
          <p:cNvSpPr>
            <a:spLocks noGrp="1"/>
          </p:cNvSpPr>
          <p:nvPr/>
        </p:nvSpPr>
        <p:spPr>
          <a:xfrm>
            <a:off x="552450" y="4333875"/>
            <a:ext cx="8039100" cy="723900"/>
          </a:xfrm>
          <a:prstGeom prst="rect">
            <a:avLst/>
          </a:prstGeom>
          <a:noFill/>
          <a:ln w="0">
            <a:noFill/>
          </a:ln>
        </p:spPr>
        <p:txBody>
          <a:bodyPr wrap="square" lIns="0" tIns="0" rIns="0" bIns="0" anchor="t">
            <a:noAutofit/>
          </a:bodyPr>
          <a:lstStyle/>
          <a:p>
            <a:pPr algn="l">
              <a:defRPr sz="1950" b="1">
                <a:solidFill>
                  <a:srgbClr val="B50C70"/>
                </a:solidFill>
                <a:latin typeface="Calibri"/>
                <a:ea typeface="Calibri"/>
                <a:cs typeface="Calibri"/>
              </a:defRPr>
            </a:pPr>
            <a:r>
              <a:rPr sz="1950" b="1">
                <a:solidFill>
                  <a:srgbClr val="B50C70"/>
                </a:solidFill>
                <a:latin typeface="Calibri"/>
                <a:ea typeface="Calibri"/>
                <a:cs typeface="Calibri"/>
              </a:rPr>
              <a:t>Do not paste the whole assignment into Chat</a:t>
            </a:r>
          </a:p>
          <a:p>
            <a:pPr algn="l">
              <a:defRPr sz="1950" b="1">
                <a:solidFill>
                  <a:srgbClr val="B50C70"/>
                </a:solidFill>
                <a:latin typeface="Calibri"/>
                <a:ea typeface="Calibri"/>
                <a:cs typeface="Calibri"/>
              </a:defRPr>
            </a:pPr>
            <a:r>
              <a:rPr sz="1950" b="1">
                <a:solidFill>
                  <a:srgbClr val="B50C70"/>
                </a:solidFill>
                <a:latin typeface="Calibri"/>
                <a:ea typeface="Calibri"/>
                <a:cs typeface="Calibri"/>
              </a:rPr>
              <a:t>and ask AI to “Solve it for me”.</a:t>
            </a:r>
          </a:p>
        </p:txBody>
      </p:sp>
    </p:spTree>
    <p:extLst>
      <p:ext uri="{BB962C8B-B14F-4D97-AF65-F5344CB8AC3E}">
        <p14:creationId xmlns:p14="http://schemas.microsoft.com/office/powerpoint/2010/main" val="1282225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Your decisions still matter</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5</a:t>
            </a:r>
            <a:endParaRPr sz="2000"/>
          </a:p>
        </p:txBody>
      </p:sp>
      <p:sp>
        <p:nvSpPr>
          <p:cNvPr id="14" name="Body">
            <a:extLst>
              <a:ext uri="{FF2B5EF4-FFF2-40B4-BE49-F238E27FC236}">
                <a16:creationId xmlns:a16="http://schemas.microsoft.com/office/drawing/2014/main" id="{26298862-FB86-4D9A-BD01-E11A620A8114}"/>
              </a:ext>
            </a:extLst>
          </p:cNvPr>
          <p:cNvSpPr>
            <a:spLocks noGrp="1"/>
          </p:cNvSpPr>
          <p:nvPr/>
        </p:nvSpPr>
        <p:spPr>
          <a:xfrm>
            <a:off x="609600" y="1733550"/>
            <a:ext cx="7886700" cy="638175"/>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AI may fill in a missing rule without asking.</a:t>
            </a:r>
          </a:p>
        </p:txBody>
      </p:sp>
      <p:sp>
        <p:nvSpPr>
          <p:cNvPr id="15" name="Body">
            <a:extLst>
              <a:ext uri="{FF2B5EF4-FFF2-40B4-BE49-F238E27FC236}">
                <a16:creationId xmlns:a16="http://schemas.microsoft.com/office/drawing/2014/main" id="{CF0A4E52-6EE3-4B09-A8BE-2C981D3AC474}"/>
              </a:ext>
            </a:extLst>
          </p:cNvPr>
          <p:cNvSpPr>
            <a:spLocks noGrp="1"/>
          </p:cNvSpPr>
          <p:nvPr/>
        </p:nvSpPr>
        <p:spPr>
          <a:xfrm>
            <a:off x="609600" y="2428875"/>
            <a:ext cx="7886700" cy="638175"/>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You confirm the rules with the task brief or tutor.</a:t>
            </a:r>
          </a:p>
        </p:txBody>
      </p:sp>
      <p:sp>
        <p:nvSpPr>
          <p:cNvPr id="16" name="Body">
            <a:extLst>
              <a:ext uri="{FF2B5EF4-FFF2-40B4-BE49-F238E27FC236}">
                <a16:creationId xmlns:a16="http://schemas.microsoft.com/office/drawing/2014/main" id="{BE7A5D44-3696-4FB3-82CA-31570CE91E7B}"/>
              </a:ext>
            </a:extLst>
          </p:cNvPr>
          <p:cNvSpPr>
            <a:spLocks noGrp="1"/>
          </p:cNvSpPr>
          <p:nvPr/>
        </p:nvSpPr>
        <p:spPr>
          <a:xfrm>
            <a:off x="609600" y="3124200"/>
            <a:ext cx="7886700" cy="638175"/>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You work out expected outputs independently.</a:t>
            </a:r>
          </a:p>
        </p:txBody>
      </p:sp>
      <p:sp>
        <p:nvSpPr>
          <p:cNvPr id="17" name="Body">
            <a:extLst>
              <a:ext uri="{FF2B5EF4-FFF2-40B4-BE49-F238E27FC236}">
                <a16:creationId xmlns:a16="http://schemas.microsoft.com/office/drawing/2014/main" id="{B049C46A-92B0-4FE6-81E9-4E92F56B4FBA}"/>
              </a:ext>
            </a:extLst>
          </p:cNvPr>
          <p:cNvSpPr>
            <a:spLocks noGrp="1"/>
          </p:cNvSpPr>
          <p:nvPr/>
        </p:nvSpPr>
        <p:spPr>
          <a:xfrm>
            <a:off x="609600" y="3819525"/>
            <a:ext cx="7886700" cy="638175"/>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You accept an edit only when you can explain it.</a:t>
            </a:r>
          </a:p>
        </p:txBody>
      </p:sp>
    </p:spTree>
    <p:extLst>
      <p:ext uri="{BB962C8B-B14F-4D97-AF65-F5344CB8AC3E}">
        <p14:creationId xmlns:p14="http://schemas.microsoft.com/office/powerpoint/2010/main" val="1282225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8"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The workflow for this session</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6</a:t>
            </a:r>
            <a:endParaRPr sz="2000"/>
          </a:p>
        </p:txBody>
      </p:sp>
      <p:graphicFrame>
        <p:nvGraphicFramePr>
          <p:cNvPr id="22" name="表格 19"/>
          <p:cNvGraphicFramePr/>
          <p:nvPr/>
        </p:nvGraphicFramePr>
        <p:xfrm>
          <a:off x="552450" y="1752600"/>
          <a:ext cx="8039100" cy="2647950"/>
        </p:xfrm>
        <a:graphic>
          <a:graphicData uri="http://schemas.openxmlformats.org/drawingml/2006/table">
            <a:tbl>
              <a:tblPr/>
              <a:tblGrid>
                <a:gridCol w="2543175">
                  <a:extLst>
                    <a:ext uri="{9D8B030D-6E8A-4147-A177-3AD203B41FA5}">
                      <a16:colId xmlns:a16="http://schemas.microsoft.com/office/drawing/2014/main" val="20000"/>
                    </a:ext>
                  </a:extLst>
                </a:gridCol>
                <a:gridCol w="5495925">
                  <a:extLst>
                    <a:ext uri="{9D8B030D-6E8A-4147-A177-3AD203B41FA5}">
                      <a16:colId xmlns:a16="http://schemas.microsoft.com/office/drawing/2014/main" val="20001"/>
                    </a:ext>
                  </a:extLst>
                </a:gridCol>
              </a:tblGrid>
              <a:tr h="529590">
                <a:tc>
                  <a:txBody>
                    <a:bodyPr/>
                    <a:lstStyle/>
                    <a:p>
                      <a:r>
                        <a:rPr sz="1800" b="1">
                          <a:solidFill>
                            <a:srgbClr val="FFFFFF"/>
                          </a:solidFill>
                          <a:latin typeface="Calibri"/>
                          <a:ea typeface="Calibri"/>
                          <a:cs typeface="Calibri"/>
                        </a:rPr>
                        <a:t>Stage</a:t>
                      </a:r>
                    </a:p>
                  </a:txBody>
                  <a:tcPr anchor="ctr">
                    <a:solidFill>
                      <a:srgbClr val="4C2859"/>
                    </a:solidFill>
                  </a:tcPr>
                </a:tc>
                <a:tc>
                  <a:txBody>
                    <a:bodyPr/>
                    <a:lstStyle/>
                    <a:p>
                      <a:r>
                        <a:rPr sz="1800" b="1">
                          <a:solidFill>
                            <a:srgbClr val="FFFFFF"/>
                          </a:solidFill>
                          <a:latin typeface="Calibri"/>
                          <a:ea typeface="Calibri"/>
                          <a:cs typeface="Calibri"/>
                        </a:rPr>
                        <a:t>Evidence you keep</a:t>
                      </a:r>
                    </a:p>
                  </a:txBody>
                  <a:tcPr anchor="ctr">
                    <a:solidFill>
                      <a:srgbClr val="4C2859"/>
                    </a:solidFill>
                  </a:tcPr>
                </a:tc>
                <a:extLst>
                  <a:ext uri="{0D108BD9-81ED-4DB2-BD59-A6C34878D82A}">
                    <a16:rowId xmlns:a16="http://schemas.microsoft.com/office/drawing/2014/main" val="10000"/>
                  </a:ext>
                </a:extLst>
              </a:tr>
              <a:tr h="529590">
                <a:tc>
                  <a:txBody>
                    <a:bodyPr/>
                    <a:lstStyle/>
                    <a:p>
                      <a:r>
                        <a:rPr sz="1800" b="0">
                          <a:solidFill>
                            <a:srgbClr val="333333"/>
                          </a:solidFill>
                          <a:latin typeface="Calibri"/>
                          <a:ea typeface="Calibri"/>
                          <a:cs typeface="Calibri"/>
                        </a:rPr>
                        <a:t>Understand and agree</a:t>
                      </a:r>
                    </a:p>
                  </a:txBody>
                  <a:tcPr anchor="ctr">
                    <a:solidFill>
                      <a:srgbClr val="FFFFFF"/>
                    </a:solidFill>
                  </a:tcPr>
                </a:tc>
                <a:tc>
                  <a:txBody>
                    <a:bodyPr/>
                    <a:lstStyle/>
                    <a:p>
                      <a:r>
                        <a:rPr sz="1800" b="0">
                          <a:solidFill>
                            <a:srgbClr val="333333"/>
                          </a:solidFill>
                          <a:latin typeface="Calibri"/>
                          <a:ea typeface="Calibri"/>
                          <a:cs typeface="Calibri"/>
                        </a:rPr>
                        <a:t>Reviewed requirements.md</a:t>
                      </a:r>
                    </a:p>
                  </a:txBody>
                  <a:tcPr anchor="ctr">
                    <a:solidFill>
                      <a:srgbClr val="FFFFFF"/>
                    </a:solidFill>
                  </a:tcPr>
                </a:tc>
                <a:extLst>
                  <a:ext uri="{0D108BD9-81ED-4DB2-BD59-A6C34878D82A}">
                    <a16:rowId xmlns:a16="http://schemas.microsoft.com/office/drawing/2014/main" val="10001"/>
                  </a:ext>
                </a:extLst>
              </a:tr>
              <a:tr h="529590">
                <a:tc>
                  <a:txBody>
                    <a:bodyPr/>
                    <a:lstStyle/>
                    <a:p>
                      <a:r>
                        <a:rPr sz="1800" b="0">
                          <a:solidFill>
                            <a:srgbClr val="333333"/>
                          </a:solidFill>
                          <a:latin typeface="Calibri"/>
                          <a:ea typeface="Calibri"/>
                          <a:cs typeface="Calibri"/>
                        </a:rPr>
                        <a:t>Prepare tests</a:t>
                      </a:r>
                    </a:p>
                  </a:txBody>
                  <a:tcPr anchor="ctr">
                    <a:solidFill>
                      <a:srgbClr val="F8F5FA"/>
                    </a:solidFill>
                  </a:tcPr>
                </a:tc>
                <a:tc>
                  <a:txBody>
                    <a:bodyPr/>
                    <a:lstStyle/>
                    <a:p>
                      <a:r>
                        <a:rPr sz="1800" b="0">
                          <a:solidFill>
                            <a:srgbClr val="333333"/>
                          </a:solidFill>
                          <a:latin typeface="Calibri"/>
                          <a:ea typeface="Calibri"/>
                          <a:cs typeface="Calibri"/>
                        </a:rPr>
                        <a:t>Inputs, expected results and a reason for each case</a:t>
                      </a:r>
                    </a:p>
                  </a:txBody>
                  <a:tcPr anchor="ctr">
                    <a:solidFill>
                      <a:srgbClr val="F8F5FA"/>
                    </a:solidFill>
                  </a:tcPr>
                </a:tc>
                <a:extLst>
                  <a:ext uri="{0D108BD9-81ED-4DB2-BD59-A6C34878D82A}">
                    <a16:rowId xmlns:a16="http://schemas.microsoft.com/office/drawing/2014/main" val="10002"/>
                  </a:ext>
                </a:extLst>
              </a:tr>
              <a:tr h="529590">
                <a:tc>
                  <a:txBody>
                    <a:bodyPr/>
                    <a:lstStyle/>
                    <a:p>
                      <a:r>
                        <a:rPr sz="1800" b="0">
                          <a:solidFill>
                            <a:srgbClr val="333333"/>
                          </a:solidFill>
                          <a:latin typeface="Calibri"/>
                          <a:ea typeface="Calibri"/>
                          <a:cs typeface="Calibri"/>
                        </a:rPr>
                        <a:t>Implement with AI</a:t>
                      </a:r>
                    </a:p>
                  </a:txBody>
                  <a:tcPr anchor="ctr">
                    <a:solidFill>
                      <a:srgbClr val="FFFFFF"/>
                    </a:solidFill>
                  </a:tcPr>
                </a:tc>
                <a:tc>
                  <a:txBody>
                    <a:bodyPr/>
                    <a:lstStyle/>
                    <a:p>
                      <a:r>
                        <a:rPr sz="1800" b="0">
                          <a:solidFill>
                            <a:srgbClr val="333333"/>
                          </a:solidFill>
                          <a:latin typeface="Calibri"/>
                          <a:ea typeface="Calibri"/>
                          <a:cs typeface="Calibri"/>
                        </a:rPr>
                        <a:t>Code and a record of the changes you accepted</a:t>
                      </a:r>
                    </a:p>
                  </a:txBody>
                  <a:tcPr anchor="ctr">
                    <a:solidFill>
                      <a:srgbClr val="FFFFFF"/>
                    </a:solidFill>
                  </a:tcPr>
                </a:tc>
                <a:extLst>
                  <a:ext uri="{0D108BD9-81ED-4DB2-BD59-A6C34878D82A}">
                    <a16:rowId xmlns:a16="http://schemas.microsoft.com/office/drawing/2014/main" val="10003"/>
                  </a:ext>
                </a:extLst>
              </a:tr>
              <a:tr h="529590">
                <a:tc>
                  <a:txBody>
                    <a:bodyPr/>
                    <a:lstStyle/>
                    <a:p>
                      <a:r>
                        <a:rPr sz="1800" b="0">
                          <a:solidFill>
                            <a:srgbClr val="333333"/>
                          </a:solidFill>
                          <a:latin typeface="Calibri"/>
                          <a:ea typeface="Calibri"/>
                          <a:cs typeface="Calibri"/>
                        </a:rPr>
                        <a:t>Run, repair and retest</a:t>
                      </a:r>
                    </a:p>
                  </a:txBody>
                  <a:tcPr anchor="ctr">
                    <a:solidFill>
                      <a:srgbClr val="F8F5FA"/>
                    </a:solidFill>
                  </a:tcPr>
                </a:tc>
                <a:tc>
                  <a:txBody>
                    <a:bodyPr/>
                    <a:lstStyle/>
                    <a:p>
                      <a:r>
                        <a:rPr sz="1800" b="0">
                          <a:solidFill>
                            <a:srgbClr val="333333"/>
                          </a:solidFill>
                          <a:latin typeface="Calibri"/>
                          <a:ea typeface="Calibri"/>
                          <a:cs typeface="Calibri"/>
                        </a:rPr>
                        <a:t>Actual outputs and a short explanation of failures</a:t>
                      </a:r>
                    </a:p>
                  </a:txBody>
                  <a:tcPr anchor="ctr">
                    <a:solidFill>
                      <a:srgbClr val="F8F5FA"/>
                    </a:solidFill>
                  </a:tcPr>
                </a:tc>
                <a:extLst>
                  <a:ext uri="{0D108BD9-81ED-4DB2-BD59-A6C34878D82A}">
                    <a16:rowId xmlns:a16="http://schemas.microsoft.com/office/drawing/2014/main" val="10004"/>
                  </a:ext>
                </a:extLst>
              </a:tr>
            </a:tbl>
          </a:graphicData>
        </a:graphic>
      </p:graphicFrame>
      <p:sp>
        <p:nvSpPr>
          <p:cNvPr id="15" name="Body">
            <a:extLst>
              <a:ext uri="{FF2B5EF4-FFF2-40B4-BE49-F238E27FC236}">
                <a16:creationId xmlns:a16="http://schemas.microsoft.com/office/drawing/2014/main" id="{429BA1C1-2248-473C-A555-668151C4DF9D}"/>
              </a:ext>
            </a:extLst>
          </p:cNvPr>
          <p:cNvSpPr>
            <a:spLocks noGrp="1"/>
          </p:cNvSpPr>
          <p:nvPr/>
        </p:nvSpPr>
        <p:spPr>
          <a:xfrm>
            <a:off x="552450" y="4629150"/>
            <a:ext cx="8039100" cy="41910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Implementation starts after the requirements and tests are reviewed.</a:t>
            </a:r>
          </a:p>
        </p:txBody>
      </p:sp>
    </p:spTree>
    <p:extLst>
      <p:ext uri="{BB962C8B-B14F-4D97-AF65-F5344CB8AC3E}">
        <p14:creationId xmlns:p14="http://schemas.microsoft.com/office/powerpoint/2010/main" val="1282225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AI use and testing in assignments</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7</a:t>
            </a:r>
            <a:endParaRPr sz="2000"/>
          </a:p>
        </p:txBody>
      </p:sp>
      <p:sp>
        <p:nvSpPr>
          <p:cNvPr id="9" name="Body">
            <a:extLst>
              <a:ext uri="{FF2B5EF4-FFF2-40B4-BE49-F238E27FC236}">
                <a16:creationId xmlns:a16="http://schemas.microsoft.com/office/drawing/2014/main" id="{8873B7D9-E7F1-4A7E-AB08-21EE7114D53A}"/>
              </a:ext>
            </a:extLst>
          </p:cNvPr>
          <p:cNvSpPr>
            <a:spLocks noGrp="1"/>
          </p:cNvSpPr>
          <p:nvPr/>
        </p:nvSpPr>
        <p:spPr>
          <a:xfrm>
            <a:off x="609600" y="1752600"/>
            <a:ext cx="7886700" cy="647700"/>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rPr sz="1875" b="1">
                <a:solidFill>
                  <a:srgbClr val="B50C70"/>
                </a:solidFill>
                <a:latin typeface="Calibri"/>
                <a:ea typeface="Calibri"/>
                <a:cs typeface="Calibri"/>
              </a:rPr>
              <a:t>AI use and test-case verification count towards your assignment grade.</a:t>
            </a:r>
          </a:p>
        </p:txBody>
      </p:sp>
      <p:sp>
        <p:nvSpPr>
          <p:cNvPr id="10" name="Body">
            <a:extLst>
              <a:ext uri="{FF2B5EF4-FFF2-40B4-BE49-F238E27FC236}">
                <a16:creationId xmlns:a16="http://schemas.microsoft.com/office/drawing/2014/main" id="{0B5A551E-17DD-4FBF-836C-359E39E4F637}"/>
              </a:ext>
            </a:extLst>
          </p:cNvPr>
          <p:cNvSpPr>
            <a:spLocks noGrp="1"/>
          </p:cNvSpPr>
          <p:nvPr/>
        </p:nvSpPr>
        <p:spPr>
          <a:xfrm>
            <a:off x="609600" y="2438400"/>
            <a:ext cx="7886700" cy="647700"/>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Keep a record of your prompts and changes to AI-generated code.</a:t>
            </a:r>
          </a:p>
        </p:txBody>
      </p:sp>
      <p:sp>
        <p:nvSpPr>
          <p:cNvPr id="11" name="Body">
            <a:extLst>
              <a:ext uri="{FF2B5EF4-FFF2-40B4-BE49-F238E27FC236}">
                <a16:creationId xmlns:a16="http://schemas.microsoft.com/office/drawing/2014/main" id="{A792CB0A-799E-4B4D-BE21-6BE51E368B50}"/>
              </a:ext>
            </a:extLst>
          </p:cNvPr>
          <p:cNvSpPr>
            <a:spLocks noGrp="1"/>
          </p:cNvSpPr>
          <p:nvPr/>
        </p:nvSpPr>
        <p:spPr>
          <a:xfrm>
            <a:off x="609600" y="3124200"/>
            <a:ext cx="7886700" cy="647700"/>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Document test inputs, expected outputs and actual results.</a:t>
            </a:r>
          </a:p>
        </p:txBody>
      </p:sp>
      <p:sp>
        <p:nvSpPr>
          <p:cNvPr id="12" name="Body">
            <a:extLst>
              <a:ext uri="{FF2B5EF4-FFF2-40B4-BE49-F238E27FC236}">
                <a16:creationId xmlns:a16="http://schemas.microsoft.com/office/drawing/2014/main" id="{A6C3B38A-5A8E-40B2-B20F-000C929DBAB8}"/>
              </a:ext>
            </a:extLst>
          </p:cNvPr>
          <p:cNvSpPr>
            <a:spLocks noGrp="1"/>
          </p:cNvSpPr>
          <p:nvPr/>
        </p:nvSpPr>
        <p:spPr>
          <a:xfrm>
            <a:off x="609600" y="3810000"/>
            <a:ext cx="7886700" cy="647700"/>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Explain failures and verify the program again after fixes.</a:t>
            </a:r>
          </a:p>
        </p:txBody>
      </p:sp>
      <p:sp>
        <p:nvSpPr>
          <p:cNvPr id="13" name="Body">
            <a:extLst>
              <a:ext uri="{FF2B5EF4-FFF2-40B4-BE49-F238E27FC236}">
                <a16:creationId xmlns:a16="http://schemas.microsoft.com/office/drawing/2014/main" id="{5C2A0475-7A3C-4628-90FB-4265E746A3F7}"/>
              </a:ext>
            </a:extLst>
          </p:cNvPr>
          <p:cNvSpPr>
            <a:spLocks noGrp="1"/>
          </p:cNvSpPr>
          <p:nvPr/>
        </p:nvSpPr>
        <p:spPr>
          <a:xfrm>
            <a:off x="552450" y="4610100"/>
            <a:ext cx="8039100" cy="466725"/>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Follow the assignment rubric for the required evidence and marking details.</a:t>
            </a:r>
          </a:p>
        </p:txBody>
      </p:sp>
    </p:spTree>
    <p:extLst>
      <p:ext uri="{BB962C8B-B14F-4D97-AF65-F5344CB8AC3E}">
        <p14:creationId xmlns:p14="http://schemas.microsoft.com/office/powerpoint/2010/main" val="1282225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7"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HKU AI access for this tutorial</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8</a:t>
            </a:r>
            <a:endParaRPr sz="2000"/>
          </a:p>
        </p:txBody>
      </p:sp>
      <p:sp>
        <p:nvSpPr>
          <p:cNvPr id="21" name="Body">
            <a:extLst>
              <a:ext uri="{FF2B5EF4-FFF2-40B4-BE49-F238E27FC236}">
                <a16:creationId xmlns:a16="http://schemas.microsoft.com/office/drawing/2014/main" id="{9E09C11D-CCAB-4D09-9359-4FD813928B5C}"/>
              </a:ext>
            </a:extLst>
          </p:cNvPr>
          <p:cNvSpPr>
            <a:spLocks noGrp="1"/>
          </p:cNvSpPr>
          <p:nvPr/>
        </p:nvSpPr>
        <p:spPr>
          <a:xfrm>
            <a:off x="552450" y="1724025"/>
            <a:ext cx="8039100" cy="428625"/>
          </a:xfrm>
          <a:prstGeom prst="rect">
            <a:avLst/>
          </a:prstGeom>
          <a:noFill/>
          <a:ln w="0">
            <a:noFill/>
          </a:ln>
        </p:spPr>
        <p:txBody>
          <a:bodyPr wrap="square" lIns="0" tIns="0" rIns="0" bIns="0" anchor="t">
            <a:noAutofit/>
          </a:bodyPr>
          <a:lstStyle/>
          <a:p>
            <a:pPr algn="l">
              <a:defRPr sz="2325" b="0">
                <a:solidFill>
                  <a:srgbClr val="4C2859"/>
                </a:solidFill>
                <a:latin typeface="Calibri"/>
                <a:ea typeface="Calibri"/>
                <a:cs typeface="Calibri"/>
              </a:defRPr>
            </a:pPr>
            <a:r>
              <a:rPr sz="2325" b="0">
                <a:solidFill>
                  <a:srgbClr val="4C2859"/>
                </a:solidFill>
                <a:latin typeface="Calibri"/>
                <a:ea typeface="Calibri"/>
                <a:cs typeface="Calibri"/>
                <a:hlinkClick r:id="rId4"/>
              </a:rPr>
              <a:t>HKU GenAI: genai.hku.hk</a:t>
            </a:r>
          </a:p>
        </p:txBody>
      </p:sp>
      <p:sp>
        <p:nvSpPr>
          <p:cNvPr id="22" name="Body">
            <a:extLst>
              <a:ext uri="{FF2B5EF4-FFF2-40B4-BE49-F238E27FC236}">
                <a16:creationId xmlns:a16="http://schemas.microsoft.com/office/drawing/2014/main" id="{B4726301-D7F5-46F0-A62E-31E96BB084B7}"/>
              </a:ext>
            </a:extLst>
          </p:cNvPr>
          <p:cNvSpPr>
            <a:spLocks noGrp="1"/>
          </p:cNvSpPr>
          <p:nvPr/>
        </p:nvSpPr>
        <p:spPr>
          <a:xfrm>
            <a:off x="609600" y="2305050"/>
            <a:ext cx="7886700" cy="504825"/>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Sign in with your HKU Portal account.</a:t>
            </a:r>
          </a:p>
        </p:txBody>
      </p:sp>
      <p:sp>
        <p:nvSpPr>
          <p:cNvPr id="23" name="Body">
            <a:extLst>
              <a:ext uri="{FF2B5EF4-FFF2-40B4-BE49-F238E27FC236}">
                <a16:creationId xmlns:a16="http://schemas.microsoft.com/office/drawing/2014/main" id="{83B07B8F-9A4F-4F9D-8D17-E733B9004095}"/>
              </a:ext>
            </a:extLst>
          </p:cNvPr>
          <p:cNvSpPr>
            <a:spLocks noGrp="1"/>
          </p:cNvSpPr>
          <p:nvPr/>
        </p:nvSpPr>
        <p:spPr>
          <a:xfrm>
            <a:off x="609600" y="2867025"/>
            <a:ext cx="7886700" cy="504825"/>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Ask for explanations, examples and feedback to help you learn.</a:t>
            </a:r>
          </a:p>
        </p:txBody>
      </p:sp>
      <p:sp>
        <p:nvSpPr>
          <p:cNvPr id="24" name="Body">
            <a:extLst>
              <a:ext uri="{FF2B5EF4-FFF2-40B4-BE49-F238E27FC236}">
                <a16:creationId xmlns:a16="http://schemas.microsoft.com/office/drawing/2014/main" id="{3494B041-71C5-4525-AE7F-AFE9E7220AFB}"/>
              </a:ext>
            </a:extLst>
          </p:cNvPr>
          <p:cNvSpPr>
            <a:spLocks noGrp="1"/>
          </p:cNvSpPr>
          <p:nvPr/>
        </p:nvSpPr>
        <p:spPr>
          <a:xfrm>
            <a:off x="609600" y="3429000"/>
            <a:ext cx="7886700" cy="504825"/>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Students receive 500,000 AI Credits each month.</a:t>
            </a:r>
          </a:p>
        </p:txBody>
      </p:sp>
      <p:sp>
        <p:nvSpPr>
          <p:cNvPr id="25" name="Body">
            <a:extLst>
              <a:ext uri="{FF2B5EF4-FFF2-40B4-BE49-F238E27FC236}">
                <a16:creationId xmlns:a16="http://schemas.microsoft.com/office/drawing/2014/main" id="{81245237-57F9-4E39-881A-C97B753F9499}"/>
              </a:ext>
            </a:extLst>
          </p:cNvPr>
          <p:cNvSpPr>
            <a:spLocks noGrp="1"/>
          </p:cNvSpPr>
          <p:nvPr/>
        </p:nvSpPr>
        <p:spPr>
          <a:xfrm>
            <a:off x="552450" y="4086225"/>
            <a:ext cx="8039100" cy="638175"/>
          </a:xfrm>
          <a:prstGeom prst="rect">
            <a:avLst/>
          </a:prstGeom>
          <a:noFill/>
          <a:ln w="0">
            <a:noFill/>
          </a:ln>
        </p:spPr>
        <p:txBody>
          <a:bodyPr wrap="square" lIns="0" tIns="0" rIns="0" bIns="0" anchor="t">
            <a:noAutofit/>
          </a:bodyPr>
          <a:lstStyle/>
          <a:p>
            <a:pPr algn="l">
              <a:defRPr sz="1950" b="1">
                <a:solidFill>
                  <a:srgbClr val="B50C70"/>
                </a:solidFill>
                <a:latin typeface="Calibri"/>
                <a:ea typeface="Calibri"/>
                <a:cs typeface="Calibri"/>
              </a:defRPr>
            </a:pPr>
            <a:r>
              <a:rPr sz="1950" b="1">
                <a:solidFill>
                  <a:srgbClr val="B50C70"/>
                </a:solidFill>
                <a:latin typeface="Calibri"/>
                <a:ea typeface="Calibri"/>
                <a:cs typeface="Calibri"/>
              </a:rPr>
              <a:t>Use GenAI to support your learning.</a:t>
            </a:r>
          </a:p>
          <a:p>
            <a:pPr algn="l">
              <a:defRPr sz="1950" b="1">
                <a:solidFill>
                  <a:srgbClr val="B50C70"/>
                </a:solidFill>
                <a:latin typeface="Calibri"/>
                <a:ea typeface="Calibri"/>
                <a:cs typeface="Calibri"/>
              </a:defRPr>
            </a:pPr>
            <a:r>
              <a:rPr sz="1950" b="1">
                <a:solidFill>
                  <a:srgbClr val="B50C70"/>
                </a:solidFill>
                <a:latin typeface="Calibri"/>
                <a:ea typeface="Calibri"/>
                <a:cs typeface="Calibri"/>
              </a:rPr>
              <a:t>Do not use this chat to complete your assignments.</a:t>
            </a:r>
          </a:p>
        </p:txBody>
      </p:sp>
      <p:sp>
        <p:nvSpPr>
          <p:cNvPr id="26" name="Body">
            <a:extLst>
              <a:ext uri="{FF2B5EF4-FFF2-40B4-BE49-F238E27FC236}">
                <a16:creationId xmlns:a16="http://schemas.microsoft.com/office/drawing/2014/main" id="{F9514B46-8524-4C28-A41F-0BDE94AD4974}"/>
              </a:ext>
            </a:extLst>
          </p:cNvPr>
          <p:cNvSpPr>
            <a:spLocks noGrp="1"/>
          </p:cNvSpPr>
          <p:nvPr/>
        </p:nvSpPr>
        <p:spPr>
          <a:xfrm>
            <a:off x="552450" y="4791075"/>
            <a:ext cx="3619500" cy="276225"/>
          </a:xfrm>
          <a:prstGeom prst="rect">
            <a:avLst/>
          </a:prstGeom>
          <a:noFill/>
          <a:ln w="0">
            <a:noFill/>
          </a:ln>
        </p:spPr>
        <p:txBody>
          <a:bodyPr wrap="square" lIns="0" tIns="0" rIns="0" bIns="0" anchor="t">
            <a:noAutofit/>
          </a:bodyPr>
          <a:lstStyle/>
          <a:p>
            <a:pPr algn="l">
              <a:defRPr sz="1350" b="0">
                <a:solidFill>
                  <a:srgbClr val="4C2859"/>
                </a:solidFill>
                <a:latin typeface="Calibri"/>
                <a:ea typeface="Calibri"/>
                <a:cs typeface="Calibri"/>
              </a:defRPr>
            </a:pPr>
            <a:r>
              <a:rPr sz="1350" b="0">
                <a:solidFill>
                  <a:srgbClr val="4C2859"/>
                </a:solidFill>
                <a:latin typeface="Calibri"/>
                <a:ea typeface="Calibri"/>
                <a:cs typeface="Calibri"/>
                <a:hlinkClick r:id="rId5"/>
              </a:rPr>
              <a:t>HKU ITS service details</a:t>
            </a:r>
          </a:p>
        </p:txBody>
      </p:sp>
    </p:spTree>
    <p:extLst>
      <p:ext uri="{BB962C8B-B14F-4D97-AF65-F5344CB8AC3E}">
        <p14:creationId xmlns:p14="http://schemas.microsoft.com/office/powerpoint/2010/main" val="1282225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Chat inside VS Code</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9</a:t>
            </a:r>
            <a:endParaRPr sz="2000"/>
          </a:p>
        </p:txBody>
      </p:sp>
      <p:sp>
        <p:nvSpPr>
          <p:cNvPr id="14" name="Body">
            <a:extLst>
              <a:ext uri="{FF2B5EF4-FFF2-40B4-BE49-F238E27FC236}">
                <a16:creationId xmlns:a16="http://schemas.microsoft.com/office/drawing/2014/main" id="{8B91694A-4CD2-4BD5-BBBC-6CD734427B0D}"/>
              </a:ext>
            </a:extLst>
          </p:cNvPr>
          <p:cNvSpPr>
            <a:spLocks noGrp="1"/>
          </p:cNvSpPr>
          <p:nvPr/>
        </p:nvSpPr>
        <p:spPr>
          <a:xfrm>
            <a:off x="590550" y="1790700"/>
            <a:ext cx="2609850" cy="781050"/>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Sign in with your GitHub account.</a:t>
            </a:r>
          </a:p>
        </p:txBody>
      </p:sp>
      <p:sp>
        <p:nvSpPr>
          <p:cNvPr id="15" name="Body">
            <a:extLst>
              <a:ext uri="{FF2B5EF4-FFF2-40B4-BE49-F238E27FC236}">
                <a16:creationId xmlns:a16="http://schemas.microsoft.com/office/drawing/2014/main" id="{9593254D-71E8-4929-82CF-A3042F64EBC5}"/>
              </a:ext>
            </a:extLst>
          </p:cNvPr>
          <p:cNvSpPr>
            <a:spLocks noGrp="1"/>
          </p:cNvSpPr>
          <p:nvPr/>
        </p:nvSpPr>
        <p:spPr>
          <a:xfrm>
            <a:off x="590550" y="2657475"/>
            <a:ext cx="2609850" cy="781050"/>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Open the built-in Chat view.</a:t>
            </a:r>
          </a:p>
        </p:txBody>
      </p:sp>
      <p:sp>
        <p:nvSpPr>
          <p:cNvPr id="16" name="Body">
            <a:extLst>
              <a:ext uri="{FF2B5EF4-FFF2-40B4-BE49-F238E27FC236}">
                <a16:creationId xmlns:a16="http://schemas.microsoft.com/office/drawing/2014/main" id="{021EC2C8-B6E9-4C31-BF71-03308EDCBDDE}"/>
              </a:ext>
            </a:extLst>
          </p:cNvPr>
          <p:cNvSpPr>
            <a:spLocks noGrp="1"/>
          </p:cNvSpPr>
          <p:nvPr/>
        </p:nvSpPr>
        <p:spPr>
          <a:xfrm>
            <a:off x="590550" y="3524250"/>
            <a:ext cx="2609850" cy="781050"/>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Type a question and send it.</a:t>
            </a:r>
          </a:p>
        </p:txBody>
      </p:sp>
      <p:sp>
        <p:nvSpPr>
          <p:cNvPr id="18" name="Body">
            <a:extLst>
              <a:ext uri="{FF2B5EF4-FFF2-40B4-BE49-F238E27FC236}">
                <a16:creationId xmlns:a16="http://schemas.microsoft.com/office/drawing/2014/main" id="{67D11297-D3A0-4E18-9804-7A8D618B58DC}"/>
              </a:ext>
            </a:extLst>
          </p:cNvPr>
          <p:cNvSpPr>
            <a:spLocks noGrp="1"/>
          </p:cNvSpPr>
          <p:nvPr/>
        </p:nvSpPr>
        <p:spPr>
          <a:xfrm>
            <a:off x="552450" y="4629150"/>
            <a:ext cx="8039100" cy="41910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Keep the discussion beside the files you are working on.</a:t>
            </a:r>
          </a:p>
        </p:txBody>
      </p:sp>
      <p:pic>
        <p:nvPicPr>
          <p:cNvPr id="29" name="图片 7"/>
          <p:cNvPicPr>
            <a:picLocks noChangeAspect="1"/>
          </p:cNvPicPr>
          <p:nvPr/>
        </p:nvPicPr>
        <p:blipFill>
          <a:blip r:embed="rId4"/>
          <a:stretch>
            <a:fillRect/>
          </a:stretch>
        </p:blipFill>
        <p:spPr>
          <a:xfrm>
            <a:off x="3494154" y="1722882"/>
            <a:ext cx="4975092" cy="2724150"/>
          </a:xfrm>
          <a:prstGeom prst="rect">
            <a:avLst/>
          </a:prstGeom>
        </p:spPr>
      </p:pic>
      <p:sp>
        <p:nvSpPr>
          <p:cNvPr id="2" name="椭圆 1">
            <a:extLst>
              <a:ext uri="{FF2B5EF4-FFF2-40B4-BE49-F238E27FC236}">
                <a16:creationId xmlns:a16="http://schemas.microsoft.com/office/drawing/2014/main" id="{7AF207EE-3F98-EE30-9FA1-F42E9C75B96C}"/>
              </a:ext>
            </a:extLst>
          </p:cNvPr>
          <p:cNvSpPr/>
          <p:nvPr/>
        </p:nvSpPr>
        <p:spPr>
          <a:xfrm>
            <a:off x="6771341" y="1700306"/>
            <a:ext cx="259977" cy="19423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81739EC4-391F-613E-112B-CBAF04A23FCA}"/>
              </a:ext>
            </a:extLst>
          </p:cNvPr>
          <p:cNvSpPr/>
          <p:nvPr/>
        </p:nvSpPr>
        <p:spPr>
          <a:xfrm>
            <a:off x="7126941" y="4040094"/>
            <a:ext cx="259977" cy="19423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82225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Choosing a chat model</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10</a:t>
            </a:r>
            <a:endParaRPr sz="2000"/>
          </a:p>
        </p:txBody>
      </p:sp>
      <p:sp>
        <p:nvSpPr>
          <p:cNvPr id="14" name="Body">
            <a:extLst>
              <a:ext uri="{FF2B5EF4-FFF2-40B4-BE49-F238E27FC236}">
                <a16:creationId xmlns:a16="http://schemas.microsoft.com/office/drawing/2014/main" id="{8069C015-711C-40C8-95B7-37D9E58E8872}"/>
              </a:ext>
            </a:extLst>
          </p:cNvPr>
          <p:cNvSpPr>
            <a:spLocks noGrp="1"/>
          </p:cNvSpPr>
          <p:nvPr/>
        </p:nvSpPr>
        <p:spPr>
          <a:xfrm>
            <a:off x="590550" y="1790700"/>
            <a:ext cx="2609850" cy="819150"/>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Open the model picker in Chat.</a:t>
            </a:r>
          </a:p>
        </p:txBody>
      </p:sp>
      <p:sp>
        <p:nvSpPr>
          <p:cNvPr id="15" name="Body">
            <a:extLst>
              <a:ext uri="{FF2B5EF4-FFF2-40B4-BE49-F238E27FC236}">
                <a16:creationId xmlns:a16="http://schemas.microsoft.com/office/drawing/2014/main" id="{5B033A0F-FC51-47D6-9D18-E61736C1C85E}"/>
              </a:ext>
            </a:extLst>
          </p:cNvPr>
          <p:cNvSpPr>
            <a:spLocks noGrp="1"/>
          </p:cNvSpPr>
          <p:nvPr/>
        </p:nvSpPr>
        <p:spPr>
          <a:xfrm>
            <a:off x="590550" y="2657475"/>
            <a:ext cx="2609850" cy="819150"/>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Select an available model.</a:t>
            </a:r>
          </a:p>
        </p:txBody>
      </p:sp>
      <p:sp>
        <p:nvSpPr>
          <p:cNvPr id="16" name="Body">
            <a:extLst>
              <a:ext uri="{FF2B5EF4-FFF2-40B4-BE49-F238E27FC236}">
                <a16:creationId xmlns:a16="http://schemas.microsoft.com/office/drawing/2014/main" id="{666C90F6-EB44-4E56-857D-EF6843D8ADDB}"/>
              </a:ext>
            </a:extLst>
          </p:cNvPr>
          <p:cNvSpPr>
            <a:spLocks noGrp="1"/>
          </p:cNvSpPr>
          <p:nvPr/>
        </p:nvSpPr>
        <p:spPr>
          <a:xfrm>
            <a:off x="590550" y="3524250"/>
            <a:ext cx="2609850" cy="819150"/>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Repeat one question and compare the explanation.</a:t>
            </a:r>
          </a:p>
        </p:txBody>
      </p:sp>
      <p:sp>
        <p:nvSpPr>
          <p:cNvPr id="18" name="Body">
            <a:extLst>
              <a:ext uri="{FF2B5EF4-FFF2-40B4-BE49-F238E27FC236}">
                <a16:creationId xmlns:a16="http://schemas.microsoft.com/office/drawing/2014/main" id="{95B96F26-11AD-42F5-AF4E-8E478CDDF5C6}"/>
              </a:ext>
            </a:extLst>
          </p:cNvPr>
          <p:cNvSpPr>
            <a:spLocks noGrp="1"/>
          </p:cNvSpPr>
          <p:nvPr/>
        </p:nvSpPr>
        <p:spPr>
          <a:xfrm>
            <a:off x="552450" y="4629150"/>
            <a:ext cx="8039100" cy="41910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Available choices depend on your account, location and service settings.</a:t>
            </a:r>
          </a:p>
        </p:txBody>
      </p:sp>
      <p:pic>
        <p:nvPicPr>
          <p:cNvPr id="29" name="图片 5"/>
          <p:cNvPicPr>
            <a:picLocks noChangeAspect="1"/>
          </p:cNvPicPr>
          <p:nvPr/>
        </p:nvPicPr>
        <p:blipFill>
          <a:blip r:embed="rId4"/>
          <a:stretch>
            <a:fillRect/>
          </a:stretch>
        </p:blipFill>
        <p:spPr>
          <a:xfrm>
            <a:off x="3545689" y="1737285"/>
            <a:ext cx="4945234" cy="2697630"/>
          </a:xfrm>
          <a:prstGeom prst="rect">
            <a:avLst/>
          </a:prstGeom>
        </p:spPr>
      </p:pic>
    </p:spTree>
    <p:extLst>
      <p:ext uri="{BB962C8B-B14F-4D97-AF65-F5344CB8AC3E}">
        <p14:creationId xmlns:p14="http://schemas.microsoft.com/office/powerpoint/2010/main" val="1282225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AI agents and your review</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11</a:t>
            </a:r>
            <a:endParaRPr sz="2000"/>
          </a:p>
        </p:txBody>
      </p:sp>
      <p:sp>
        <p:nvSpPr>
          <p:cNvPr id="14" name="Body">
            <a:extLst>
              <a:ext uri="{FF2B5EF4-FFF2-40B4-BE49-F238E27FC236}">
                <a16:creationId xmlns:a16="http://schemas.microsoft.com/office/drawing/2014/main" id="{B03EEA31-3E24-408E-B5A0-33CE30AD714D}"/>
              </a:ext>
            </a:extLst>
          </p:cNvPr>
          <p:cNvSpPr>
            <a:spLocks noGrp="1"/>
          </p:cNvSpPr>
          <p:nvPr/>
        </p:nvSpPr>
        <p:spPr>
          <a:xfrm>
            <a:off x="552450" y="1733550"/>
            <a:ext cx="8039100" cy="762000"/>
          </a:xfrm>
          <a:prstGeom prst="rect">
            <a:avLst/>
          </a:prstGeom>
          <a:noFill/>
          <a:ln w="0">
            <a:noFill/>
          </a:ln>
        </p:spPr>
        <p:txBody>
          <a:bodyPr wrap="square" lIns="0" tIns="0" rIns="0" bIns="0" anchor="t">
            <a:noAutofit/>
          </a:bodyPr>
          <a:lstStyle/>
          <a:p>
            <a:pPr algn="l">
              <a:buNone/>
              <a:defRPr sz="2100" b="1">
                <a:solidFill>
                  <a:srgbClr val="4C2859"/>
                </a:solidFill>
                <a:latin typeface="Calibri"/>
                <a:ea typeface="Calibri"/>
                <a:cs typeface="Calibri"/>
              </a:defRPr>
            </a:pPr>
            <a:r>
              <a:rPr sz="2100" b="1">
                <a:solidFill>
                  <a:srgbClr val="4C2859"/>
                </a:solidFill>
                <a:latin typeface="Calibri"/>
                <a:ea typeface="Calibri"/>
                <a:cs typeface="Calibri"/>
              </a:rPr>
              <a:t>An agent can choose actions, edit files and run tools, then use the results to decide what to do next.</a:t>
            </a:r>
          </a:p>
        </p:txBody>
      </p:sp>
      <p:graphicFrame>
        <p:nvGraphicFramePr>
          <p:cNvPr id="24" name="表格 21"/>
          <p:cNvGraphicFramePr/>
          <p:nvPr/>
        </p:nvGraphicFramePr>
        <p:xfrm>
          <a:off x="552450" y="2809875"/>
          <a:ext cx="8039100" cy="1562100"/>
        </p:xfrm>
        <a:graphic>
          <a:graphicData uri="http://schemas.openxmlformats.org/drawingml/2006/table">
            <a:tbl>
              <a:tblPr/>
              <a:tblGrid>
                <a:gridCol w="2667000">
                  <a:extLst>
                    <a:ext uri="{9D8B030D-6E8A-4147-A177-3AD203B41FA5}">
                      <a16:colId xmlns:a16="http://schemas.microsoft.com/office/drawing/2014/main" val="20000"/>
                    </a:ext>
                  </a:extLst>
                </a:gridCol>
                <a:gridCol w="5372100">
                  <a:extLst>
                    <a:ext uri="{9D8B030D-6E8A-4147-A177-3AD203B41FA5}">
                      <a16:colId xmlns:a16="http://schemas.microsoft.com/office/drawing/2014/main" val="20001"/>
                    </a:ext>
                  </a:extLst>
                </a:gridCol>
              </a:tblGrid>
              <a:tr h="520700">
                <a:tc>
                  <a:txBody>
                    <a:bodyPr/>
                    <a:lstStyle/>
                    <a:p>
                      <a:r>
                        <a:rPr sz="1800" b="1">
                          <a:solidFill>
                            <a:srgbClr val="FFFFFF"/>
                          </a:solidFill>
                          <a:latin typeface="Calibri"/>
                          <a:ea typeface="Calibri"/>
                          <a:cs typeface="Calibri"/>
                        </a:rPr>
                        <a:t>Stage</a:t>
                      </a:r>
                    </a:p>
                  </a:txBody>
                  <a:tcPr anchor="ctr">
                    <a:solidFill>
                      <a:srgbClr val="4C2859"/>
                    </a:solidFill>
                  </a:tcPr>
                </a:tc>
                <a:tc>
                  <a:txBody>
                    <a:bodyPr/>
                    <a:lstStyle/>
                    <a:p>
                      <a:r>
                        <a:rPr sz="1800" b="1">
                          <a:solidFill>
                            <a:srgbClr val="FFFFFF"/>
                          </a:solidFill>
                          <a:latin typeface="Calibri"/>
                          <a:ea typeface="Calibri"/>
                          <a:cs typeface="Calibri"/>
                        </a:rPr>
                        <a:t>How we use the AI</a:t>
                      </a:r>
                    </a:p>
                  </a:txBody>
                  <a:tcPr anchor="ctr">
                    <a:solidFill>
                      <a:srgbClr val="4C2859"/>
                    </a:solidFill>
                  </a:tcPr>
                </a:tc>
                <a:extLst>
                  <a:ext uri="{0D108BD9-81ED-4DB2-BD59-A6C34878D82A}">
                    <a16:rowId xmlns:a16="http://schemas.microsoft.com/office/drawing/2014/main" val="10000"/>
                  </a:ext>
                </a:extLst>
              </a:tr>
              <a:tr h="520700">
                <a:tc>
                  <a:txBody>
                    <a:bodyPr/>
                    <a:lstStyle/>
                    <a:p>
                      <a:r>
                        <a:rPr sz="1800" b="0">
                          <a:solidFill>
                            <a:srgbClr val="333333"/>
                          </a:solidFill>
                          <a:latin typeface="Calibri"/>
                          <a:ea typeface="Calibri"/>
                          <a:cs typeface="Calibri"/>
                        </a:rPr>
                        <a:t>Requirements discussion</a:t>
                      </a:r>
                    </a:p>
                  </a:txBody>
                  <a:tcPr anchor="ctr">
                    <a:solidFill>
                      <a:srgbClr val="FFFFFF"/>
                    </a:solidFill>
                  </a:tcPr>
                </a:tc>
                <a:tc>
                  <a:txBody>
                    <a:bodyPr/>
                    <a:lstStyle/>
                    <a:p>
                      <a:r>
                        <a:rPr sz="1800" b="0">
                          <a:solidFill>
                            <a:srgbClr val="333333"/>
                          </a:solidFill>
                          <a:latin typeface="Calibri"/>
                          <a:ea typeface="Calibri"/>
                          <a:cs typeface="Calibri"/>
                        </a:rPr>
                        <a:t>Ask questions and review proposed wording.</a:t>
                      </a:r>
                    </a:p>
                  </a:txBody>
                  <a:tcPr anchor="ctr">
                    <a:solidFill>
                      <a:srgbClr val="FFFFFF"/>
                    </a:solidFill>
                  </a:tcPr>
                </a:tc>
                <a:extLst>
                  <a:ext uri="{0D108BD9-81ED-4DB2-BD59-A6C34878D82A}">
                    <a16:rowId xmlns:a16="http://schemas.microsoft.com/office/drawing/2014/main" val="10001"/>
                  </a:ext>
                </a:extLst>
              </a:tr>
              <a:tr h="520700">
                <a:tc>
                  <a:txBody>
                    <a:bodyPr/>
                    <a:lstStyle/>
                    <a:p>
                      <a:r>
                        <a:rPr sz="1800" b="0">
                          <a:solidFill>
                            <a:srgbClr val="333333"/>
                          </a:solidFill>
                          <a:latin typeface="Calibri"/>
                          <a:ea typeface="Calibri"/>
                          <a:cs typeface="Calibri"/>
                        </a:rPr>
                        <a:t>Implementation</a:t>
                      </a:r>
                    </a:p>
                  </a:txBody>
                  <a:tcPr anchor="ctr">
                    <a:solidFill>
                      <a:srgbClr val="F8F5FA"/>
                    </a:solidFill>
                  </a:tcPr>
                </a:tc>
                <a:tc>
                  <a:txBody>
                    <a:bodyPr/>
                    <a:lstStyle/>
                    <a:p>
                      <a:r>
                        <a:rPr sz="1800" b="0">
                          <a:solidFill>
                            <a:srgbClr val="333333"/>
                          </a:solidFill>
                          <a:latin typeface="Calibri"/>
                          <a:ea typeface="Calibri"/>
                          <a:cs typeface="Calibri"/>
                        </a:rPr>
                        <a:t>After review, let Copilot edit and run code.</a:t>
                      </a:r>
                    </a:p>
                  </a:txBody>
                  <a:tcPr anchor="ctr">
                    <a:solidFill>
                      <a:srgbClr val="F8F5FA"/>
                    </a:solidFill>
                  </a:tcPr>
                </a:tc>
                <a:extLst>
                  <a:ext uri="{0D108BD9-81ED-4DB2-BD59-A6C34878D82A}">
                    <a16:rowId xmlns:a16="http://schemas.microsoft.com/office/drawing/2014/main" val="10002"/>
                  </a:ext>
                </a:extLst>
              </a:tr>
            </a:tbl>
          </a:graphicData>
        </a:graphic>
      </p:graphicFrame>
      <p:sp>
        <p:nvSpPr>
          <p:cNvPr id="16" name="Body">
            <a:extLst>
              <a:ext uri="{FF2B5EF4-FFF2-40B4-BE49-F238E27FC236}">
                <a16:creationId xmlns:a16="http://schemas.microsoft.com/office/drawing/2014/main" id="{32A7BE72-A2A9-4F1A-B068-873B864487E9}"/>
              </a:ext>
            </a:extLst>
          </p:cNvPr>
          <p:cNvSpPr>
            <a:spLocks noGrp="1"/>
          </p:cNvSpPr>
          <p:nvPr/>
        </p:nvSpPr>
        <p:spPr>
          <a:xfrm>
            <a:off x="552450" y="4629150"/>
            <a:ext cx="8039100" cy="41910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You decide the expected behaviour and review the evidence.</a:t>
            </a:r>
          </a:p>
        </p:txBody>
      </p:sp>
    </p:spTree>
    <p:extLst>
      <p:ext uri="{BB962C8B-B14F-4D97-AF65-F5344CB8AC3E}">
        <p14:creationId xmlns:p14="http://schemas.microsoft.com/office/powerpoint/2010/main" val="1282225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Our project: a course result checker</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12</a:t>
            </a:r>
            <a:endParaRPr sz="2000"/>
          </a:p>
        </p:txBody>
      </p:sp>
      <p:sp>
        <p:nvSpPr>
          <p:cNvPr id="14" name="Body">
            <a:extLst>
              <a:ext uri="{FF2B5EF4-FFF2-40B4-BE49-F238E27FC236}">
                <a16:creationId xmlns:a16="http://schemas.microsoft.com/office/drawing/2014/main" id="{C3F61CE9-32E9-456A-97E9-AB719DBDC0CE}"/>
              </a:ext>
            </a:extLst>
          </p:cNvPr>
          <p:cNvSpPr>
            <a:spLocks noGrp="1"/>
          </p:cNvSpPr>
          <p:nvPr/>
        </p:nvSpPr>
        <p:spPr>
          <a:xfrm>
            <a:off x="552450" y="1752600"/>
            <a:ext cx="8039100" cy="866775"/>
          </a:xfrm>
          <a:prstGeom prst="rect">
            <a:avLst/>
          </a:prstGeom>
          <a:noFill/>
          <a:ln w="0">
            <a:noFill/>
          </a:ln>
        </p:spPr>
        <p:txBody>
          <a:bodyPr wrap="square" lIns="0" tIns="0" rIns="0" bIns="0" anchor="t">
            <a:noAutofit/>
          </a:bodyPr>
          <a:lstStyle/>
          <a:p>
            <a:pPr algn="l">
              <a:buNone/>
              <a:defRPr sz="2250" b="1">
                <a:solidFill>
                  <a:srgbClr val="4C2859"/>
                </a:solidFill>
                <a:latin typeface="Calibri"/>
                <a:ea typeface="Calibri"/>
                <a:cs typeface="Calibri"/>
              </a:defRPr>
            </a:pPr>
            <a:r>
              <a:rPr sz="2250" b="1">
                <a:solidFill>
                  <a:srgbClr val="4C2859"/>
                </a:solidFill>
                <a:latin typeface="Calibri"/>
                <a:ea typeface="Calibri"/>
                <a:cs typeface="Calibri"/>
              </a:rPr>
              <a:t>A student wants a small program to decide a course result from coursework and exam marks.</a:t>
            </a:r>
          </a:p>
        </p:txBody>
      </p:sp>
      <p:sp>
        <p:nvSpPr>
          <p:cNvPr id="15" name="Body">
            <a:extLst>
              <a:ext uri="{FF2B5EF4-FFF2-40B4-BE49-F238E27FC236}">
                <a16:creationId xmlns:a16="http://schemas.microsoft.com/office/drawing/2014/main" id="{6344B2EE-EBEF-494A-A061-B52F6AAAEA98}"/>
              </a:ext>
            </a:extLst>
          </p:cNvPr>
          <p:cNvSpPr>
            <a:spLocks noGrp="1"/>
          </p:cNvSpPr>
          <p:nvPr/>
        </p:nvSpPr>
        <p:spPr>
          <a:xfrm>
            <a:off x="609600" y="2819400"/>
            <a:ext cx="7886700" cy="552450"/>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The result depends on weighted marks and an exam minimum.</a:t>
            </a:r>
          </a:p>
        </p:txBody>
      </p:sp>
      <p:sp>
        <p:nvSpPr>
          <p:cNvPr id="16" name="Body">
            <a:extLst>
              <a:ext uri="{FF2B5EF4-FFF2-40B4-BE49-F238E27FC236}">
                <a16:creationId xmlns:a16="http://schemas.microsoft.com/office/drawing/2014/main" id="{E16D873F-C691-4240-9D35-1D058169B5FA}"/>
              </a:ext>
            </a:extLst>
          </p:cNvPr>
          <p:cNvSpPr>
            <a:spLocks noGrp="1"/>
          </p:cNvSpPr>
          <p:nvPr/>
        </p:nvSpPr>
        <p:spPr>
          <a:xfrm>
            <a:off x="609600" y="3409950"/>
            <a:ext cx="7886700" cy="552450"/>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The program must recognise marks outside the allowed range.</a:t>
            </a:r>
          </a:p>
        </p:txBody>
      </p:sp>
      <p:sp>
        <p:nvSpPr>
          <p:cNvPr id="17" name="Body">
            <a:extLst>
              <a:ext uri="{FF2B5EF4-FFF2-40B4-BE49-F238E27FC236}">
                <a16:creationId xmlns:a16="http://schemas.microsoft.com/office/drawing/2014/main" id="{7B94468E-EC85-42F8-89CE-CE7BB8EF6F7C}"/>
              </a:ext>
            </a:extLst>
          </p:cNvPr>
          <p:cNvSpPr>
            <a:spLocks noGrp="1"/>
          </p:cNvSpPr>
          <p:nvPr/>
        </p:nvSpPr>
        <p:spPr>
          <a:xfrm>
            <a:off x="609600" y="4000500"/>
            <a:ext cx="7886700" cy="552450"/>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We need to agree the exact rules before writing Python.</a:t>
            </a:r>
          </a:p>
        </p:txBody>
      </p:sp>
      <p:sp>
        <p:nvSpPr>
          <p:cNvPr id="18" name="Body">
            <a:extLst>
              <a:ext uri="{FF2B5EF4-FFF2-40B4-BE49-F238E27FC236}">
                <a16:creationId xmlns:a16="http://schemas.microsoft.com/office/drawing/2014/main" id="{E1B950C5-D6B1-4055-B8A9-DC8AE27B71DF}"/>
              </a:ext>
            </a:extLst>
          </p:cNvPr>
          <p:cNvSpPr>
            <a:spLocks noGrp="1"/>
          </p:cNvSpPr>
          <p:nvPr/>
        </p:nvSpPr>
        <p:spPr>
          <a:xfrm>
            <a:off x="552450" y="4629150"/>
            <a:ext cx="8039100" cy="41910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All grading rules in this exercise are fictional.</a:t>
            </a:r>
          </a:p>
        </p:txBody>
      </p:sp>
    </p:spTree>
    <p:extLst>
      <p:ext uri="{BB962C8B-B14F-4D97-AF65-F5344CB8AC3E}">
        <p14:creationId xmlns:p14="http://schemas.microsoft.com/office/powerpoint/2010/main" val="1282225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A workspace for the tutorial</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13</a:t>
            </a:r>
            <a:endParaRPr sz="2000"/>
          </a:p>
        </p:txBody>
      </p:sp>
      <p:sp>
        <p:nvSpPr>
          <p:cNvPr id="14" name="Body">
            <a:extLst>
              <a:ext uri="{FF2B5EF4-FFF2-40B4-BE49-F238E27FC236}">
                <a16:creationId xmlns:a16="http://schemas.microsoft.com/office/drawing/2014/main" id="{A071A1CB-5EA8-4D97-BF1D-AA5C3C2CDFD9}"/>
              </a:ext>
            </a:extLst>
          </p:cNvPr>
          <p:cNvSpPr>
            <a:spLocks noGrp="1"/>
          </p:cNvSpPr>
          <p:nvPr/>
        </p:nvSpPr>
        <p:spPr>
          <a:xfrm>
            <a:off x="552450" y="1685925"/>
            <a:ext cx="8039100" cy="447675"/>
          </a:xfrm>
          <a:prstGeom prst="rect">
            <a:avLst/>
          </a:prstGeom>
          <a:noFill/>
          <a:ln w="0">
            <a:noFill/>
          </a:ln>
        </p:spPr>
        <p:txBody>
          <a:bodyPr wrap="square" lIns="0" tIns="0" rIns="0" bIns="0" anchor="t">
            <a:noAutofit/>
          </a:bodyPr>
          <a:lstStyle/>
          <a:p>
            <a:pPr algn="l">
              <a:buNone/>
              <a:defRPr sz="1875" b="0">
                <a:solidFill>
                  <a:srgbClr val="333333"/>
                </a:solidFill>
                <a:latin typeface="Calibri"/>
                <a:ea typeface="Calibri"/>
                <a:cs typeface="Calibri"/>
              </a:defRPr>
            </a:pPr>
            <a:r>
              <a:rPr sz="1875" b="0">
                <a:solidFill>
                  <a:srgbClr val="333333"/>
                </a:solidFill>
                <a:latin typeface="Calibri"/>
                <a:ea typeface="Calibri"/>
                <a:cs typeface="Calibri"/>
              </a:rPr>
              <a:t>Create tutorial2-ai-testing, then open it using File &gt; Open Folder.</a:t>
            </a:r>
          </a:p>
        </p:txBody>
      </p:sp>
      <p:sp>
        <p:nvSpPr>
          <p:cNvPr id="16" name="Body">
            <a:extLst>
              <a:ext uri="{FF2B5EF4-FFF2-40B4-BE49-F238E27FC236}">
                <a16:creationId xmlns:a16="http://schemas.microsoft.com/office/drawing/2014/main" id="{03C7A3A8-5A7E-4AD5-BD0D-99B0BF4ACE13}"/>
              </a:ext>
            </a:extLst>
          </p:cNvPr>
          <p:cNvSpPr>
            <a:spLocks noGrp="1"/>
          </p:cNvSpPr>
          <p:nvPr/>
        </p:nvSpPr>
        <p:spPr>
          <a:xfrm>
            <a:off x="552450" y="4629150"/>
            <a:ext cx="8039100" cy="41910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Save all files for this task in the same folder.</a:t>
            </a:r>
          </a:p>
        </p:txBody>
      </p:sp>
      <p:pic>
        <p:nvPicPr>
          <p:cNvPr id="25" name="图片 6"/>
          <p:cNvPicPr>
            <a:picLocks noChangeAspect="1"/>
          </p:cNvPicPr>
          <p:nvPr/>
        </p:nvPicPr>
        <p:blipFill>
          <a:blip r:embed="rId4"/>
          <a:stretch>
            <a:fillRect/>
          </a:stretch>
        </p:blipFill>
        <p:spPr>
          <a:xfrm>
            <a:off x="578414" y="2238375"/>
            <a:ext cx="7856926" cy="2319356"/>
          </a:xfrm>
          <a:prstGeom prst="rect">
            <a:avLst/>
          </a:prstGeom>
        </p:spPr>
      </p:pic>
    </p:spTree>
    <p:extLst>
      <p:ext uri="{BB962C8B-B14F-4D97-AF65-F5344CB8AC3E}">
        <p14:creationId xmlns:p14="http://schemas.microsoft.com/office/powerpoint/2010/main" val="1282225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7"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Start requirements.md</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14</a:t>
            </a:r>
            <a:endParaRPr sz="2000"/>
          </a:p>
        </p:txBody>
      </p:sp>
      <p:sp>
        <p:nvSpPr>
          <p:cNvPr id="14" name="Body">
            <a:extLst>
              <a:ext uri="{FF2B5EF4-FFF2-40B4-BE49-F238E27FC236}">
                <a16:creationId xmlns:a16="http://schemas.microsoft.com/office/drawing/2014/main" id="{D4DA328B-3F48-406D-B3EA-D04698D761B9}"/>
              </a:ext>
            </a:extLst>
          </p:cNvPr>
          <p:cNvSpPr>
            <a:spLocks noGrp="1"/>
          </p:cNvSpPr>
          <p:nvPr/>
        </p:nvSpPr>
        <p:spPr>
          <a:xfrm>
            <a:off x="552450" y="1733550"/>
            <a:ext cx="8039100" cy="2952750"/>
          </a:xfrm>
          <a:prstGeom prst="rect">
            <a:avLst/>
          </a:prstGeom>
          <a:solidFill>
            <a:srgbClr val="F5F1F7"/>
          </a:solidFill>
          <a:ln w="0">
            <a:noFill/>
          </a:ln>
        </p:spPr>
        <p:txBody>
          <a:bodyPr wrap="square" lIns="152400" tIns="152400" rIns="152400" bIns="152400" anchor="t">
            <a:noAutofit/>
          </a:bodyPr>
          <a:lstStyle/>
          <a:p>
            <a:pPr algn="l">
              <a:buNone/>
              <a:defRPr sz="1725" b="0">
                <a:solidFill>
                  <a:srgbClr val="333333"/>
                </a:solidFill>
                <a:latin typeface="Consolas"/>
                <a:ea typeface="Consolas"/>
                <a:cs typeface="Consolas"/>
              </a:defRPr>
            </a:pPr>
            <a:r>
              <a:rPr sz="1725" b="0">
                <a:solidFill>
                  <a:srgbClr val="333333"/>
                </a:solidFill>
                <a:latin typeface="Consolas"/>
                <a:ea typeface="Consolas"/>
                <a:cs typeface="Consolas"/>
              </a:rPr>
              <a:t># Course result checker</a:t>
            </a:r>
          </a:p>
          <a:p>
            <a:endParaRPr sz="1725" b="0">
              <a:solidFill>
                <a:srgbClr val="333333"/>
              </a:solidFill>
              <a:latin typeface="Consolas"/>
              <a:ea typeface="Consolas"/>
              <a:cs typeface="Consolas"/>
            </a:endParaRPr>
          </a:p>
          <a:p>
            <a:pPr algn="l">
              <a:buNone/>
              <a:defRPr sz="1725" b="0">
                <a:solidFill>
                  <a:srgbClr val="333333"/>
                </a:solidFill>
                <a:latin typeface="Consolas"/>
                <a:ea typeface="Consolas"/>
                <a:cs typeface="Consolas"/>
              </a:defRPr>
            </a:pPr>
            <a:r>
              <a:rPr sz="1725" b="0">
                <a:solidFill>
                  <a:srgbClr val="333333"/>
                </a:solidFill>
                <a:latin typeface="Consolas"/>
                <a:ea typeface="Consolas"/>
                <a:cs typeface="Consolas"/>
              </a:rPr>
              <a:t>## Goal</a:t>
            </a:r>
          </a:p>
          <a:p>
            <a:pPr algn="l">
              <a:buNone/>
              <a:defRPr sz="1725" b="0">
                <a:solidFill>
                  <a:srgbClr val="333333"/>
                </a:solidFill>
                <a:latin typeface="Consolas"/>
                <a:ea typeface="Consolas"/>
                <a:cs typeface="Consolas"/>
              </a:defRPr>
            </a:pPr>
            <a:r>
              <a:rPr sz="1725" b="0">
                <a:solidFill>
                  <a:srgbClr val="333333"/>
                </a:solidFill>
                <a:latin typeface="Consolas"/>
                <a:ea typeface="Consolas"/>
                <a:cs typeface="Consolas"/>
              </a:rPr>
              <a:t>Decide a result from coursework and exam marks.</a:t>
            </a:r>
          </a:p>
          <a:p>
            <a:endParaRPr sz="1725" b="0">
              <a:solidFill>
                <a:srgbClr val="333333"/>
              </a:solidFill>
              <a:latin typeface="Consolas"/>
              <a:ea typeface="Consolas"/>
              <a:cs typeface="Consolas"/>
            </a:endParaRPr>
          </a:p>
          <a:p>
            <a:pPr algn="l">
              <a:buNone/>
              <a:defRPr sz="1725" b="0">
                <a:solidFill>
                  <a:srgbClr val="333333"/>
                </a:solidFill>
                <a:latin typeface="Consolas"/>
                <a:ea typeface="Consolas"/>
                <a:cs typeface="Consolas"/>
              </a:defRPr>
            </a:pPr>
            <a:r>
              <a:rPr sz="1725" b="0">
                <a:solidFill>
                  <a:srgbClr val="333333"/>
                </a:solidFill>
                <a:latin typeface="Consolas"/>
                <a:ea typeface="Consolas"/>
                <a:cs typeface="Consolas"/>
              </a:rPr>
              <a:t>## Questions to resolve</a:t>
            </a:r>
          </a:p>
          <a:p>
            <a:pPr algn="l">
              <a:buNone/>
              <a:defRPr sz="1725" b="0">
                <a:solidFill>
                  <a:srgbClr val="333333"/>
                </a:solidFill>
                <a:latin typeface="Consolas"/>
                <a:ea typeface="Consolas"/>
                <a:cs typeface="Consolas"/>
              </a:defRPr>
            </a:pPr>
            <a:r>
              <a:rPr sz="1725" b="0">
                <a:solidFill>
                  <a:srgbClr val="333333"/>
                </a:solidFill>
                <a:latin typeface="Consolas"/>
                <a:ea typeface="Consolas"/>
                <a:cs typeface="Consolas"/>
              </a:rPr>
              <a:t>- What inputs and ranges are allowed?</a:t>
            </a:r>
          </a:p>
          <a:p>
            <a:pPr algn="l">
              <a:buNone/>
              <a:defRPr sz="1725" b="0">
                <a:solidFill>
                  <a:srgbClr val="333333"/>
                </a:solidFill>
                <a:latin typeface="Consolas"/>
                <a:ea typeface="Consolas"/>
                <a:cs typeface="Consolas"/>
              </a:defRPr>
            </a:pPr>
            <a:r>
              <a:rPr sz="1725" b="0">
                <a:solidFill>
                  <a:srgbClr val="333333"/>
                </a:solidFill>
                <a:latin typeface="Consolas"/>
                <a:ea typeface="Consolas"/>
                <a:cs typeface="Consolas"/>
              </a:rPr>
              <a:t>- What weights and pass rules apply?</a:t>
            </a:r>
          </a:p>
          <a:p>
            <a:pPr algn="l">
              <a:buNone/>
              <a:defRPr sz="1725" b="0">
                <a:solidFill>
                  <a:srgbClr val="333333"/>
                </a:solidFill>
                <a:latin typeface="Consolas"/>
                <a:ea typeface="Consolas"/>
                <a:cs typeface="Consolas"/>
              </a:defRPr>
            </a:pPr>
            <a:r>
              <a:rPr sz="1725" b="0">
                <a:solidFill>
                  <a:srgbClr val="333333"/>
                </a:solidFill>
                <a:latin typeface="Consolas"/>
                <a:ea typeface="Consolas"/>
                <a:cs typeface="Consolas"/>
              </a:rPr>
              <a:t>- What should happen for an invalid mark?</a:t>
            </a:r>
          </a:p>
          <a:p>
            <a:pPr algn="l">
              <a:buNone/>
              <a:defRPr sz="1725" b="0">
                <a:solidFill>
                  <a:srgbClr val="333333"/>
                </a:solidFill>
                <a:latin typeface="Consolas"/>
                <a:ea typeface="Consolas"/>
                <a:cs typeface="Consolas"/>
              </a:defRPr>
            </a:pPr>
            <a:r>
              <a:rPr sz="1725" b="0">
                <a:solidFill>
                  <a:srgbClr val="333333"/>
                </a:solidFill>
                <a:latin typeface="Consolas"/>
                <a:ea typeface="Consolas"/>
                <a:cs typeface="Consolas"/>
              </a:rPr>
              <a:t>- What exact output is required?</a:t>
            </a:r>
          </a:p>
        </p:txBody>
      </p:sp>
      <p:sp>
        <p:nvSpPr>
          <p:cNvPr id="15" name="Body">
            <a:extLst>
              <a:ext uri="{FF2B5EF4-FFF2-40B4-BE49-F238E27FC236}">
                <a16:creationId xmlns:a16="http://schemas.microsoft.com/office/drawing/2014/main" id="{D67BFC66-3A52-46F2-8993-C0D6B2C4EF00}"/>
              </a:ext>
            </a:extLst>
          </p:cNvPr>
          <p:cNvSpPr>
            <a:spLocks noGrp="1"/>
          </p:cNvSpPr>
          <p:nvPr/>
        </p:nvSpPr>
        <p:spPr>
          <a:xfrm>
            <a:off x="552450" y="4733925"/>
            <a:ext cx="8039100" cy="36195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This file records the decisions that your code must follow.</a:t>
            </a:r>
          </a:p>
        </p:txBody>
      </p:sp>
    </p:spTree>
    <p:extLst>
      <p:ext uri="{BB962C8B-B14F-4D97-AF65-F5344CB8AC3E}">
        <p14:creationId xmlns:p14="http://schemas.microsoft.com/office/powerpoint/2010/main" val="1282225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AI as a requirements reviewer</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15</a:t>
            </a:r>
            <a:endParaRPr sz="2000"/>
          </a:p>
        </p:txBody>
      </p:sp>
      <p:sp>
        <p:nvSpPr>
          <p:cNvPr id="14" name="Body">
            <a:extLst>
              <a:ext uri="{FF2B5EF4-FFF2-40B4-BE49-F238E27FC236}">
                <a16:creationId xmlns:a16="http://schemas.microsoft.com/office/drawing/2014/main" id="{49E623FE-E4BB-4EEA-9E62-98A85A19F78A}"/>
              </a:ext>
            </a:extLst>
          </p:cNvPr>
          <p:cNvSpPr>
            <a:spLocks noGrp="1"/>
          </p:cNvSpPr>
          <p:nvPr/>
        </p:nvSpPr>
        <p:spPr>
          <a:xfrm>
            <a:off x="552450" y="1704975"/>
            <a:ext cx="8039100" cy="1000125"/>
          </a:xfrm>
          <a:prstGeom prst="rect">
            <a:avLst/>
          </a:prstGeom>
          <a:noFill/>
          <a:ln w="0">
            <a:noFill/>
          </a:ln>
        </p:spPr>
        <p:txBody>
          <a:bodyPr wrap="square" lIns="0" tIns="0" rIns="0" bIns="0" anchor="t">
            <a:noAutofit/>
          </a:bodyPr>
          <a:lstStyle/>
          <a:p>
            <a:pPr algn="l">
              <a:buNone/>
              <a:defRPr sz="1875" b="0">
                <a:solidFill>
                  <a:srgbClr val="333333"/>
                </a:solidFill>
                <a:latin typeface="Calibri"/>
                <a:ea typeface="Calibri"/>
                <a:cs typeface="Calibri"/>
              </a:defRPr>
            </a:pPr>
            <a:r>
              <a:rPr sz="1875" b="0">
                <a:solidFill>
                  <a:srgbClr val="333333"/>
                </a:solidFill>
                <a:latin typeface="Calibri"/>
                <a:ea typeface="Calibri"/>
                <a:cs typeface="Calibri"/>
              </a:rPr>
              <a:t>Attach requirements.md using Add Context or a # file mention.</a:t>
            </a:r>
          </a:p>
          <a:p>
            <a:pPr algn="l">
              <a:buNone/>
              <a:defRPr sz="1875" b="0">
                <a:solidFill>
                  <a:srgbClr val="333333"/>
                </a:solidFill>
                <a:latin typeface="Calibri"/>
                <a:ea typeface="Calibri"/>
                <a:cs typeface="Calibri"/>
              </a:defRPr>
            </a:pPr>
            <a:r>
              <a:rPr sz="1875" b="0">
                <a:solidFill>
                  <a:srgbClr val="333333"/>
                </a:solidFill>
                <a:latin typeface="Calibri"/>
                <a:ea typeface="Calibri"/>
                <a:cs typeface="Calibri"/>
              </a:rPr>
              <a:t>Ask: “Find unclear requirements. Ask one question at a time. Do not invent course rules or write code yet.”</a:t>
            </a:r>
          </a:p>
        </p:txBody>
      </p:sp>
      <p:sp>
        <p:nvSpPr>
          <p:cNvPr id="16" name="Body">
            <a:extLst>
              <a:ext uri="{FF2B5EF4-FFF2-40B4-BE49-F238E27FC236}">
                <a16:creationId xmlns:a16="http://schemas.microsoft.com/office/drawing/2014/main" id="{853C4B21-90A4-4A5D-95BD-F94609EC768C}"/>
              </a:ext>
            </a:extLst>
          </p:cNvPr>
          <p:cNvSpPr>
            <a:spLocks noGrp="1"/>
          </p:cNvSpPr>
          <p:nvPr/>
        </p:nvSpPr>
        <p:spPr>
          <a:xfrm>
            <a:off x="552450" y="4629150"/>
            <a:ext cx="8039100" cy="41910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Answer from the brief. Ask why a missing detail matters.</a:t>
            </a:r>
          </a:p>
        </p:txBody>
      </p:sp>
      <p:pic>
        <p:nvPicPr>
          <p:cNvPr id="25" name="图片 5"/>
          <p:cNvPicPr>
            <a:picLocks noChangeAspect="1"/>
          </p:cNvPicPr>
          <p:nvPr/>
        </p:nvPicPr>
        <p:blipFill>
          <a:blip r:embed="rId4"/>
          <a:stretch>
            <a:fillRect/>
          </a:stretch>
        </p:blipFill>
        <p:spPr>
          <a:xfrm>
            <a:off x="1585466" y="2667292"/>
            <a:ext cx="5973068" cy="1923758"/>
          </a:xfrm>
          <a:prstGeom prst="rect">
            <a:avLst/>
          </a:prstGeom>
        </p:spPr>
      </p:pic>
    </p:spTree>
    <p:extLst>
      <p:ext uri="{BB962C8B-B14F-4D97-AF65-F5344CB8AC3E}">
        <p14:creationId xmlns:p14="http://schemas.microsoft.com/office/powerpoint/2010/main" val="1282225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8"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The tutor’s rule card</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16</a:t>
            </a:r>
            <a:endParaRPr sz="2000"/>
          </a:p>
        </p:txBody>
      </p:sp>
      <p:graphicFrame>
        <p:nvGraphicFramePr>
          <p:cNvPr id="22" name="表格 19"/>
          <p:cNvGraphicFramePr/>
          <p:nvPr/>
        </p:nvGraphicFramePr>
        <p:xfrm>
          <a:off x="552450" y="1752600"/>
          <a:ext cx="8039100" cy="2800350"/>
        </p:xfrm>
        <a:graphic>
          <a:graphicData uri="http://schemas.openxmlformats.org/drawingml/2006/table">
            <a:tbl>
              <a:tblPr/>
              <a:tblGrid>
                <a:gridCol w="20193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400050">
                <a:tc>
                  <a:txBody>
                    <a:bodyPr/>
                    <a:lstStyle/>
                    <a:p>
                      <a:r>
                        <a:rPr sz="1725" b="1">
                          <a:solidFill>
                            <a:srgbClr val="FFFFFF"/>
                          </a:solidFill>
                          <a:latin typeface="Calibri"/>
                          <a:ea typeface="Calibri"/>
                          <a:cs typeface="Calibri"/>
                        </a:rPr>
                        <a:t>Topic</a:t>
                      </a:r>
                    </a:p>
                  </a:txBody>
                  <a:tcPr anchor="ctr">
                    <a:solidFill>
                      <a:srgbClr val="4C2859"/>
                    </a:solidFill>
                  </a:tcPr>
                </a:tc>
                <a:tc>
                  <a:txBody>
                    <a:bodyPr/>
                    <a:lstStyle/>
                    <a:p>
                      <a:r>
                        <a:rPr sz="1725" b="1">
                          <a:solidFill>
                            <a:srgbClr val="FFFFFF"/>
                          </a:solidFill>
                          <a:latin typeface="Calibri"/>
                          <a:ea typeface="Calibri"/>
                          <a:cs typeface="Calibri"/>
                        </a:rPr>
                        <a:t>Agreed rule for this exercise</a:t>
                      </a:r>
                    </a:p>
                  </a:txBody>
                  <a:tcPr anchor="ctr">
                    <a:solidFill>
                      <a:srgbClr val="4C2859"/>
                    </a:solidFill>
                  </a:tcPr>
                </a:tc>
                <a:extLst>
                  <a:ext uri="{0D108BD9-81ED-4DB2-BD59-A6C34878D82A}">
                    <a16:rowId xmlns:a16="http://schemas.microsoft.com/office/drawing/2014/main" val="10000"/>
                  </a:ext>
                </a:extLst>
              </a:tr>
              <a:tr h="400050">
                <a:tc>
                  <a:txBody>
                    <a:bodyPr/>
                    <a:lstStyle/>
                    <a:p>
                      <a:r>
                        <a:rPr sz="1725" b="0">
                          <a:solidFill>
                            <a:srgbClr val="333333"/>
                          </a:solidFill>
                          <a:latin typeface="Calibri"/>
                          <a:ea typeface="Calibri"/>
                          <a:cs typeface="Calibri"/>
                        </a:rPr>
                        <a:t>Inputs</a:t>
                      </a:r>
                    </a:p>
                  </a:txBody>
                  <a:tcPr anchor="ctr">
                    <a:solidFill>
                      <a:srgbClr val="FFFFFF"/>
                    </a:solidFill>
                  </a:tcPr>
                </a:tc>
                <a:tc>
                  <a:txBody>
                    <a:bodyPr/>
                    <a:lstStyle/>
                    <a:p>
                      <a:r>
                        <a:rPr sz="1725" b="0">
                          <a:solidFill>
                            <a:srgbClr val="333333"/>
                          </a:solidFill>
                          <a:latin typeface="Calibri"/>
                          <a:ea typeface="Calibri"/>
                          <a:cs typeface="Calibri"/>
                        </a:rPr>
                        <a:t>Coursework first, exam second. Both are integers.</a:t>
                      </a:r>
                    </a:p>
                  </a:txBody>
                  <a:tcPr anchor="ctr">
                    <a:solidFill>
                      <a:srgbClr val="FFFFFF"/>
                    </a:solidFill>
                  </a:tcPr>
                </a:tc>
                <a:extLst>
                  <a:ext uri="{0D108BD9-81ED-4DB2-BD59-A6C34878D82A}">
                    <a16:rowId xmlns:a16="http://schemas.microsoft.com/office/drawing/2014/main" val="10001"/>
                  </a:ext>
                </a:extLst>
              </a:tr>
              <a:tr h="400050">
                <a:tc>
                  <a:txBody>
                    <a:bodyPr/>
                    <a:lstStyle/>
                    <a:p>
                      <a:r>
                        <a:rPr sz="1725" b="0">
                          <a:solidFill>
                            <a:srgbClr val="333333"/>
                          </a:solidFill>
                          <a:latin typeface="Calibri"/>
                          <a:ea typeface="Calibri"/>
                          <a:cs typeface="Calibri"/>
                        </a:rPr>
                        <a:t>Valid range</a:t>
                      </a:r>
                    </a:p>
                  </a:txBody>
                  <a:tcPr anchor="ctr">
                    <a:solidFill>
                      <a:srgbClr val="F8F5FA"/>
                    </a:solidFill>
                  </a:tcPr>
                </a:tc>
                <a:tc>
                  <a:txBody>
                    <a:bodyPr/>
                    <a:lstStyle/>
                    <a:p>
                      <a:r>
                        <a:rPr sz="1725" b="0">
                          <a:solidFill>
                            <a:srgbClr val="333333"/>
                          </a:solidFill>
                          <a:latin typeface="Calibri"/>
                          <a:ea typeface="Calibri"/>
                          <a:cs typeface="Calibri"/>
                        </a:rPr>
                        <a:t>Each mark is from 0 to 100 inclusive.</a:t>
                      </a:r>
                    </a:p>
                  </a:txBody>
                  <a:tcPr anchor="ctr">
                    <a:solidFill>
                      <a:srgbClr val="F8F5FA"/>
                    </a:solidFill>
                  </a:tcPr>
                </a:tc>
                <a:extLst>
                  <a:ext uri="{0D108BD9-81ED-4DB2-BD59-A6C34878D82A}">
                    <a16:rowId xmlns:a16="http://schemas.microsoft.com/office/drawing/2014/main" val="10002"/>
                  </a:ext>
                </a:extLst>
              </a:tr>
              <a:tr h="400050">
                <a:tc>
                  <a:txBody>
                    <a:bodyPr/>
                    <a:lstStyle/>
                    <a:p>
                      <a:r>
                        <a:rPr sz="1725" b="0">
                          <a:solidFill>
                            <a:srgbClr val="333333"/>
                          </a:solidFill>
                          <a:latin typeface="Calibri"/>
                          <a:ea typeface="Calibri"/>
                          <a:cs typeface="Calibri"/>
                        </a:rPr>
                        <a:t>Weighted total</a:t>
                      </a:r>
                    </a:p>
                  </a:txBody>
                  <a:tcPr anchor="ctr">
                    <a:solidFill>
                      <a:srgbClr val="FFFFFF"/>
                    </a:solidFill>
                  </a:tcPr>
                </a:tc>
                <a:tc>
                  <a:txBody>
                    <a:bodyPr/>
                    <a:lstStyle/>
                    <a:p>
                      <a:r>
                        <a:rPr sz="1725" b="0">
                          <a:solidFill>
                            <a:srgbClr val="333333"/>
                          </a:solidFill>
                          <a:latin typeface="Calibri"/>
                          <a:ea typeface="Calibri"/>
                          <a:cs typeface="Calibri"/>
                        </a:rPr>
                        <a:t>40% coursework + 60% exam. Do not round.</a:t>
                      </a:r>
                    </a:p>
                  </a:txBody>
                  <a:tcPr anchor="ctr">
                    <a:solidFill>
                      <a:srgbClr val="FFFFFF"/>
                    </a:solidFill>
                  </a:tcPr>
                </a:tc>
                <a:extLst>
                  <a:ext uri="{0D108BD9-81ED-4DB2-BD59-A6C34878D82A}">
                    <a16:rowId xmlns:a16="http://schemas.microsoft.com/office/drawing/2014/main" val="10003"/>
                  </a:ext>
                </a:extLst>
              </a:tr>
              <a:tr h="400050">
                <a:tc>
                  <a:txBody>
                    <a:bodyPr/>
                    <a:lstStyle/>
                    <a:p>
                      <a:r>
                        <a:rPr sz="1725" b="0">
                          <a:solidFill>
                            <a:srgbClr val="333333"/>
                          </a:solidFill>
                          <a:latin typeface="Calibri"/>
                          <a:ea typeface="Calibri"/>
                          <a:cs typeface="Calibri"/>
                        </a:rPr>
                        <a:t>Pass decision</a:t>
                      </a:r>
                    </a:p>
                  </a:txBody>
                  <a:tcPr anchor="ctr">
                    <a:solidFill>
                      <a:srgbClr val="F8F5FA"/>
                    </a:solidFill>
                  </a:tcPr>
                </a:tc>
                <a:tc>
                  <a:txBody>
                    <a:bodyPr/>
                    <a:lstStyle/>
                    <a:p>
                      <a:r>
                        <a:rPr sz="1725" b="0">
                          <a:solidFill>
                            <a:srgbClr val="333333"/>
                          </a:solidFill>
                          <a:latin typeface="Calibri"/>
                          <a:ea typeface="Calibri"/>
                          <a:cs typeface="Calibri"/>
                        </a:rPr>
                        <a:t>Total is at least 50 AND exam is at least 40.</a:t>
                      </a:r>
                    </a:p>
                  </a:txBody>
                  <a:tcPr anchor="ctr">
                    <a:solidFill>
                      <a:srgbClr val="F8F5FA"/>
                    </a:solidFill>
                  </a:tcPr>
                </a:tc>
                <a:extLst>
                  <a:ext uri="{0D108BD9-81ED-4DB2-BD59-A6C34878D82A}">
                    <a16:rowId xmlns:a16="http://schemas.microsoft.com/office/drawing/2014/main" val="10004"/>
                  </a:ext>
                </a:extLst>
              </a:tr>
              <a:tr h="400050">
                <a:tc>
                  <a:txBody>
                    <a:bodyPr/>
                    <a:lstStyle/>
                    <a:p>
                      <a:r>
                        <a:rPr sz="1725" b="0">
                          <a:solidFill>
                            <a:srgbClr val="333333"/>
                          </a:solidFill>
                          <a:latin typeface="Calibri"/>
                          <a:ea typeface="Calibri"/>
                          <a:cs typeface="Calibri"/>
                        </a:rPr>
                        <a:t>Invalid marks</a:t>
                      </a:r>
                    </a:p>
                  </a:txBody>
                  <a:tcPr anchor="ctr">
                    <a:solidFill>
                      <a:srgbClr val="FFFFFF"/>
                    </a:solidFill>
                  </a:tcPr>
                </a:tc>
                <a:tc>
                  <a:txBody>
                    <a:bodyPr/>
                    <a:lstStyle/>
                    <a:p>
                      <a:r>
                        <a:rPr sz="1725" b="0">
                          <a:solidFill>
                            <a:srgbClr val="333333"/>
                          </a:solidFill>
                          <a:latin typeface="Calibri"/>
                          <a:ea typeface="Calibri"/>
                          <a:cs typeface="Calibri"/>
                        </a:rPr>
                        <a:t>If either mark is out of range, print Invalid.</a:t>
                      </a:r>
                    </a:p>
                  </a:txBody>
                  <a:tcPr anchor="ctr">
                    <a:solidFill>
                      <a:srgbClr val="FFFFFF"/>
                    </a:solidFill>
                  </a:tcPr>
                </a:tc>
                <a:extLst>
                  <a:ext uri="{0D108BD9-81ED-4DB2-BD59-A6C34878D82A}">
                    <a16:rowId xmlns:a16="http://schemas.microsoft.com/office/drawing/2014/main" val="10005"/>
                  </a:ext>
                </a:extLst>
              </a:tr>
              <a:tr h="400050">
                <a:tc>
                  <a:txBody>
                    <a:bodyPr/>
                    <a:lstStyle/>
                    <a:p>
                      <a:r>
                        <a:rPr sz="1725" b="0">
                          <a:solidFill>
                            <a:srgbClr val="333333"/>
                          </a:solidFill>
                          <a:latin typeface="Calibri"/>
                          <a:ea typeface="Calibri"/>
                          <a:cs typeface="Calibri"/>
                        </a:rPr>
                        <a:t>Output / scope</a:t>
                      </a:r>
                    </a:p>
                  </a:txBody>
                  <a:tcPr anchor="ctr">
                    <a:solidFill>
                      <a:srgbClr val="F8F5FA"/>
                    </a:solidFill>
                  </a:tcPr>
                </a:tc>
                <a:tc>
                  <a:txBody>
                    <a:bodyPr/>
                    <a:lstStyle/>
                    <a:p>
                      <a:r>
                        <a:rPr sz="1725" b="0">
                          <a:solidFill>
                            <a:srgbClr val="333333"/>
                          </a:solidFill>
                          <a:latin typeface="Calibri"/>
                          <a:ea typeface="Calibri"/>
                          <a:cs typeface="Calibri"/>
                        </a:rPr>
                        <a:t>Print only Pass, Fail or Invalid. One pair per run.</a:t>
                      </a:r>
                    </a:p>
                  </a:txBody>
                  <a:tcPr anchor="ctr">
                    <a:solidFill>
                      <a:srgbClr val="F8F5FA"/>
                    </a:solidFill>
                  </a:tcPr>
                </a:tc>
                <a:extLst>
                  <a:ext uri="{0D108BD9-81ED-4DB2-BD59-A6C34878D82A}">
                    <a16:rowId xmlns:a16="http://schemas.microsoft.com/office/drawing/2014/main" val="10006"/>
                  </a:ext>
                </a:extLst>
              </a:tr>
            </a:tbl>
          </a:graphicData>
        </a:graphic>
      </p:graphicFrame>
      <p:sp>
        <p:nvSpPr>
          <p:cNvPr id="15" name="Body">
            <a:extLst>
              <a:ext uri="{FF2B5EF4-FFF2-40B4-BE49-F238E27FC236}">
                <a16:creationId xmlns:a16="http://schemas.microsoft.com/office/drawing/2014/main" id="{AE4293CE-5D02-4C62-A7C5-F4FE79B008C7}"/>
              </a:ext>
            </a:extLst>
          </p:cNvPr>
          <p:cNvSpPr>
            <a:spLocks noGrp="1"/>
          </p:cNvSpPr>
          <p:nvPr/>
        </p:nvSpPr>
        <p:spPr>
          <a:xfrm>
            <a:off x="552450" y="4629150"/>
            <a:ext cx="8039100" cy="41910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Use these fictional rules to answer the AI’s questions.</a:t>
            </a:r>
          </a:p>
        </p:txBody>
      </p:sp>
    </p:spTree>
    <p:extLst>
      <p:ext uri="{BB962C8B-B14F-4D97-AF65-F5344CB8AC3E}">
        <p14:creationId xmlns:p14="http://schemas.microsoft.com/office/powerpoint/2010/main" val="12822251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7"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Reviewed requirements.md</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17</a:t>
            </a:r>
            <a:endParaRPr sz="2000"/>
          </a:p>
        </p:txBody>
      </p:sp>
      <p:sp>
        <p:nvSpPr>
          <p:cNvPr id="14" name="Body">
            <a:extLst>
              <a:ext uri="{FF2B5EF4-FFF2-40B4-BE49-F238E27FC236}">
                <a16:creationId xmlns:a16="http://schemas.microsoft.com/office/drawing/2014/main" id="{C1F97BFB-1260-484C-890A-69675ECAB982}"/>
              </a:ext>
            </a:extLst>
          </p:cNvPr>
          <p:cNvSpPr>
            <a:spLocks noGrp="1"/>
          </p:cNvSpPr>
          <p:nvPr/>
        </p:nvSpPr>
        <p:spPr>
          <a:xfrm>
            <a:off x="552450" y="1781175"/>
            <a:ext cx="8039100" cy="2419350"/>
          </a:xfrm>
          <a:prstGeom prst="rect">
            <a:avLst/>
          </a:prstGeom>
          <a:solidFill>
            <a:srgbClr val="F5F1F7"/>
          </a:solidFill>
          <a:ln w="0">
            <a:noFill/>
          </a:ln>
        </p:spPr>
        <p:txBody>
          <a:bodyPr wrap="square" lIns="152400" tIns="152400" rIns="152400" bIns="152400" anchor="t">
            <a:noAutofit/>
          </a:bodyPr>
          <a:lstStyle/>
          <a:p>
            <a:pPr algn="l">
              <a:buNone/>
              <a:defRPr sz="1725" b="0">
                <a:solidFill>
                  <a:srgbClr val="333333"/>
                </a:solidFill>
                <a:latin typeface="Consolas"/>
                <a:ea typeface="Consolas"/>
                <a:cs typeface="Consolas"/>
              </a:defRPr>
            </a:pPr>
            <a:r>
              <a:rPr sz="1725" b="0">
                <a:solidFill>
                  <a:srgbClr val="333333"/>
                </a:solidFill>
                <a:latin typeface="Consolas"/>
                <a:ea typeface="Consolas"/>
                <a:cs typeface="Consolas"/>
              </a:rPr>
              <a:t># Course result checker</a:t>
            </a:r>
          </a:p>
          <a:p>
            <a:pPr algn="l">
              <a:buNone/>
              <a:defRPr sz="1725" b="0">
                <a:solidFill>
                  <a:srgbClr val="333333"/>
                </a:solidFill>
                <a:latin typeface="Consolas"/>
                <a:ea typeface="Consolas"/>
                <a:cs typeface="Consolas"/>
              </a:defRPr>
            </a:pPr>
            <a:r>
              <a:rPr sz="1725" b="0">
                <a:solidFill>
                  <a:srgbClr val="333333"/>
                </a:solidFill>
                <a:latin typeface="Consolas"/>
                <a:ea typeface="Consolas"/>
                <a:cs typeface="Consolas"/>
              </a:rPr>
              <a:t>R1: Read coursework, then exam, as integers.</a:t>
            </a:r>
          </a:p>
          <a:p>
            <a:pPr algn="l">
              <a:buNone/>
              <a:defRPr sz="1725" b="0">
                <a:solidFill>
                  <a:srgbClr val="333333"/>
                </a:solidFill>
                <a:latin typeface="Consolas"/>
                <a:ea typeface="Consolas"/>
                <a:cs typeface="Consolas"/>
              </a:defRPr>
            </a:pPr>
            <a:r>
              <a:rPr sz="1725" b="0">
                <a:solidFill>
                  <a:srgbClr val="333333"/>
                </a:solidFill>
                <a:latin typeface="Consolas"/>
                <a:ea typeface="Consolas"/>
                <a:cs typeface="Consolas"/>
              </a:rPr>
              <a:t>R2: Validate both marks: 0 to 100 inclusive.</a:t>
            </a:r>
          </a:p>
          <a:p>
            <a:pPr algn="l">
              <a:buNone/>
              <a:defRPr sz="1725" b="0">
                <a:solidFill>
                  <a:srgbClr val="333333"/>
                </a:solidFill>
                <a:latin typeface="Consolas"/>
                <a:ea typeface="Consolas"/>
                <a:cs typeface="Consolas"/>
              </a:defRPr>
            </a:pPr>
            <a:r>
              <a:rPr sz="1725" b="0">
                <a:solidFill>
                  <a:srgbClr val="333333"/>
                </a:solidFill>
                <a:latin typeface="Consolas"/>
                <a:ea typeface="Consolas"/>
                <a:cs typeface="Consolas"/>
              </a:rPr>
              <a:t>R3: total = 0.4 * coursework + 0.6 * exam.</a:t>
            </a:r>
          </a:p>
          <a:p>
            <a:pPr algn="l">
              <a:buNone/>
              <a:defRPr sz="1725" b="0">
                <a:solidFill>
                  <a:srgbClr val="333333"/>
                </a:solidFill>
                <a:latin typeface="Consolas"/>
                <a:ea typeface="Consolas"/>
                <a:cs typeface="Consolas"/>
              </a:defRPr>
            </a:pPr>
            <a:r>
              <a:rPr sz="1725" b="0">
                <a:solidFill>
                  <a:srgbClr val="333333"/>
                </a:solidFill>
                <a:latin typeface="Consolas"/>
                <a:ea typeface="Consolas"/>
                <a:cs typeface="Consolas"/>
              </a:rPr>
              <a:t>R4: Pass needs total &gt;= 50 AND exam &gt;= 40.</a:t>
            </a:r>
          </a:p>
          <a:p>
            <a:pPr algn="l">
              <a:buNone/>
              <a:defRPr sz="1725" b="0">
                <a:solidFill>
                  <a:srgbClr val="333333"/>
                </a:solidFill>
                <a:latin typeface="Consolas"/>
                <a:ea typeface="Consolas"/>
                <a:cs typeface="Consolas"/>
              </a:defRPr>
            </a:pPr>
            <a:r>
              <a:rPr sz="1725" b="0">
                <a:solidFill>
                  <a:srgbClr val="333333"/>
                </a:solidFill>
                <a:latin typeface="Consolas"/>
                <a:ea typeface="Consolas"/>
                <a:cs typeface="Consolas"/>
              </a:rPr>
              <a:t>R5: Print Invalid, Pass or Fail only.</a:t>
            </a:r>
          </a:p>
          <a:p>
            <a:pPr algn="l">
              <a:buNone/>
              <a:defRPr sz="1725" b="0">
                <a:solidFill>
                  <a:srgbClr val="333333"/>
                </a:solidFill>
                <a:latin typeface="Consolas"/>
                <a:ea typeface="Consolas"/>
                <a:cs typeface="Consolas"/>
              </a:defRPr>
            </a:pPr>
            <a:r>
              <a:rPr sz="1725" b="0">
                <a:solidFill>
                  <a:srgbClr val="333333"/>
                </a:solidFill>
                <a:latin typeface="Consolas"/>
                <a:ea typeface="Consolas"/>
                <a:cs typeface="Consolas"/>
              </a:rPr>
              <a:t>R6: Handle one pair of integer inputs per run.</a:t>
            </a:r>
          </a:p>
        </p:txBody>
      </p:sp>
      <p:sp>
        <p:nvSpPr>
          <p:cNvPr id="15" name="Body">
            <a:extLst>
              <a:ext uri="{FF2B5EF4-FFF2-40B4-BE49-F238E27FC236}">
                <a16:creationId xmlns:a16="http://schemas.microsoft.com/office/drawing/2014/main" id="{19AF70DB-8093-4DED-81AE-0B0E3D234C36}"/>
              </a:ext>
            </a:extLst>
          </p:cNvPr>
          <p:cNvSpPr>
            <a:spLocks noGrp="1"/>
          </p:cNvSpPr>
          <p:nvPr/>
        </p:nvSpPr>
        <p:spPr>
          <a:xfrm>
            <a:off x="552450" y="4448175"/>
            <a:ext cx="8039100" cy="41910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Checkpoint: explain Invalid, Fail and Pass without looking at code.</a:t>
            </a:r>
          </a:p>
        </p:txBody>
      </p:sp>
    </p:spTree>
    <p:extLst>
      <p:ext uri="{BB962C8B-B14F-4D97-AF65-F5344CB8AC3E}">
        <p14:creationId xmlns:p14="http://schemas.microsoft.com/office/powerpoint/2010/main" val="12822251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8"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Predict outputs before coding</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18</a:t>
            </a:r>
            <a:endParaRPr sz="2000"/>
          </a:p>
        </p:txBody>
      </p:sp>
      <p:graphicFrame>
        <p:nvGraphicFramePr>
          <p:cNvPr id="22" name="表格 19"/>
          <p:cNvGraphicFramePr/>
          <p:nvPr/>
        </p:nvGraphicFramePr>
        <p:xfrm>
          <a:off x="552450" y="1752600"/>
          <a:ext cx="8039100" cy="2343150"/>
        </p:xfrm>
        <a:graphic>
          <a:graphicData uri="http://schemas.openxmlformats.org/drawingml/2006/table">
            <a:tbl>
              <a:tblPr/>
              <a:tblGrid>
                <a:gridCol w="17907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4914900">
                  <a:extLst>
                    <a:ext uri="{9D8B030D-6E8A-4147-A177-3AD203B41FA5}">
                      <a16:colId xmlns:a16="http://schemas.microsoft.com/office/drawing/2014/main" val="20002"/>
                    </a:ext>
                  </a:extLst>
                </a:gridCol>
              </a:tblGrid>
              <a:tr h="585788">
                <a:tc>
                  <a:txBody>
                    <a:bodyPr/>
                    <a:lstStyle/>
                    <a:p>
                      <a:r>
                        <a:rPr sz="2025" b="1">
                          <a:solidFill>
                            <a:srgbClr val="FFFFFF"/>
                          </a:solidFill>
                          <a:latin typeface="Calibri"/>
                          <a:ea typeface="Calibri"/>
                          <a:cs typeface="Calibri"/>
                        </a:rPr>
                        <a:t>Coursework</a:t>
                      </a:r>
                    </a:p>
                  </a:txBody>
                  <a:tcPr anchor="ctr">
                    <a:solidFill>
                      <a:srgbClr val="4C2859"/>
                    </a:solidFill>
                  </a:tcPr>
                </a:tc>
                <a:tc>
                  <a:txBody>
                    <a:bodyPr/>
                    <a:lstStyle/>
                    <a:p>
                      <a:r>
                        <a:rPr sz="2025" b="1">
                          <a:solidFill>
                            <a:srgbClr val="FFFFFF"/>
                          </a:solidFill>
                          <a:latin typeface="Calibri"/>
                          <a:ea typeface="Calibri"/>
                          <a:cs typeface="Calibri"/>
                        </a:rPr>
                        <a:t>Exam</a:t>
                      </a:r>
                    </a:p>
                  </a:txBody>
                  <a:tcPr anchor="ctr">
                    <a:solidFill>
                      <a:srgbClr val="4C2859"/>
                    </a:solidFill>
                  </a:tcPr>
                </a:tc>
                <a:tc>
                  <a:txBody>
                    <a:bodyPr/>
                    <a:lstStyle/>
                    <a:p>
                      <a:r>
                        <a:rPr sz="2025" b="1">
                          <a:solidFill>
                            <a:srgbClr val="FFFFFF"/>
                          </a:solidFill>
                          <a:latin typeface="Calibri"/>
                          <a:ea typeface="Calibri"/>
                          <a:cs typeface="Calibri"/>
                        </a:rPr>
                        <a:t>Your prediction</a:t>
                      </a:r>
                    </a:p>
                  </a:txBody>
                  <a:tcPr anchor="ctr">
                    <a:solidFill>
                      <a:srgbClr val="4C2859"/>
                    </a:solidFill>
                  </a:tcPr>
                </a:tc>
                <a:extLst>
                  <a:ext uri="{0D108BD9-81ED-4DB2-BD59-A6C34878D82A}">
                    <a16:rowId xmlns:a16="http://schemas.microsoft.com/office/drawing/2014/main" val="10000"/>
                  </a:ext>
                </a:extLst>
              </a:tr>
              <a:tr h="585788">
                <a:tc>
                  <a:txBody>
                    <a:bodyPr/>
                    <a:lstStyle/>
                    <a:p>
                      <a:r>
                        <a:rPr sz="2025" b="0">
                          <a:solidFill>
                            <a:srgbClr val="333333"/>
                          </a:solidFill>
                          <a:latin typeface="Calibri"/>
                          <a:ea typeface="Calibri"/>
                          <a:cs typeface="Calibri"/>
                        </a:rPr>
                        <a:t>50</a:t>
                      </a:r>
                    </a:p>
                  </a:txBody>
                  <a:tcPr anchor="ctr">
                    <a:solidFill>
                      <a:srgbClr val="FFFFFF"/>
                    </a:solidFill>
                  </a:tcPr>
                </a:tc>
                <a:tc>
                  <a:txBody>
                    <a:bodyPr/>
                    <a:lstStyle/>
                    <a:p>
                      <a:r>
                        <a:rPr sz="2025" b="0">
                          <a:solidFill>
                            <a:srgbClr val="333333"/>
                          </a:solidFill>
                          <a:latin typeface="Calibri"/>
                          <a:ea typeface="Calibri"/>
                          <a:cs typeface="Calibri"/>
                        </a:rPr>
                        <a:t>50</a:t>
                      </a:r>
                    </a:p>
                  </a:txBody>
                  <a:tcPr anchor="ctr">
                    <a:solidFill>
                      <a:srgbClr val="FFFFFF"/>
                    </a:solidFill>
                  </a:tcPr>
                </a:tc>
                <a:tc>
                  <a:txBody>
                    <a:bodyPr/>
                    <a:lstStyle/>
                    <a:p>
                      <a:r>
                        <a:rPr sz="2025" b="0">
                          <a:solidFill>
                            <a:srgbClr val="333333"/>
                          </a:solidFill>
                          <a:latin typeface="Calibri"/>
                          <a:ea typeface="Calibri"/>
                          <a:cs typeface="Calibri"/>
                        </a:rPr>
                        <a:t>Pass or Fail? Why?</a:t>
                      </a:r>
                    </a:p>
                  </a:txBody>
                  <a:tcPr anchor="ctr">
                    <a:solidFill>
                      <a:srgbClr val="FFFFFF"/>
                    </a:solidFill>
                  </a:tcPr>
                </a:tc>
                <a:extLst>
                  <a:ext uri="{0D108BD9-81ED-4DB2-BD59-A6C34878D82A}">
                    <a16:rowId xmlns:a16="http://schemas.microsoft.com/office/drawing/2014/main" val="10001"/>
                  </a:ext>
                </a:extLst>
              </a:tr>
              <a:tr h="585788">
                <a:tc>
                  <a:txBody>
                    <a:bodyPr/>
                    <a:lstStyle/>
                    <a:p>
                      <a:r>
                        <a:rPr sz="2025" b="0">
                          <a:solidFill>
                            <a:srgbClr val="333333"/>
                          </a:solidFill>
                          <a:latin typeface="Calibri"/>
                          <a:ea typeface="Calibri"/>
                          <a:cs typeface="Calibri"/>
                        </a:rPr>
                        <a:t>100</a:t>
                      </a:r>
                    </a:p>
                  </a:txBody>
                  <a:tcPr anchor="ctr">
                    <a:solidFill>
                      <a:srgbClr val="F8F5FA"/>
                    </a:solidFill>
                  </a:tcPr>
                </a:tc>
                <a:tc>
                  <a:txBody>
                    <a:bodyPr/>
                    <a:lstStyle/>
                    <a:p>
                      <a:r>
                        <a:rPr sz="2025" b="0">
                          <a:solidFill>
                            <a:srgbClr val="333333"/>
                          </a:solidFill>
                          <a:latin typeface="Calibri"/>
                          <a:ea typeface="Calibri"/>
                          <a:cs typeface="Calibri"/>
                        </a:rPr>
                        <a:t>39</a:t>
                      </a:r>
                    </a:p>
                  </a:txBody>
                  <a:tcPr anchor="ctr">
                    <a:solidFill>
                      <a:srgbClr val="F8F5FA"/>
                    </a:solidFill>
                  </a:tcPr>
                </a:tc>
                <a:tc>
                  <a:txBody>
                    <a:bodyPr/>
                    <a:lstStyle/>
                    <a:p>
                      <a:r>
                        <a:rPr sz="2025" b="0">
                          <a:solidFill>
                            <a:srgbClr val="333333"/>
                          </a:solidFill>
                          <a:latin typeface="Calibri"/>
                          <a:ea typeface="Calibri"/>
                          <a:cs typeface="Calibri"/>
                        </a:rPr>
                        <a:t>Pass or Fail? Why?</a:t>
                      </a:r>
                    </a:p>
                  </a:txBody>
                  <a:tcPr anchor="ctr">
                    <a:solidFill>
                      <a:srgbClr val="F8F5FA"/>
                    </a:solidFill>
                  </a:tcPr>
                </a:tc>
                <a:extLst>
                  <a:ext uri="{0D108BD9-81ED-4DB2-BD59-A6C34878D82A}">
                    <a16:rowId xmlns:a16="http://schemas.microsoft.com/office/drawing/2014/main" val="10002"/>
                  </a:ext>
                </a:extLst>
              </a:tr>
              <a:tr h="585788">
                <a:tc>
                  <a:txBody>
                    <a:bodyPr/>
                    <a:lstStyle/>
                    <a:p>
                      <a:r>
                        <a:rPr sz="2025" b="0">
                          <a:solidFill>
                            <a:srgbClr val="333333"/>
                          </a:solidFill>
                          <a:latin typeface="Calibri"/>
                          <a:ea typeface="Calibri"/>
                          <a:cs typeface="Calibri"/>
                        </a:rPr>
                        <a:t>80</a:t>
                      </a:r>
                    </a:p>
                  </a:txBody>
                  <a:tcPr anchor="ctr">
                    <a:solidFill>
                      <a:srgbClr val="FFFFFF"/>
                    </a:solidFill>
                  </a:tcPr>
                </a:tc>
                <a:tc>
                  <a:txBody>
                    <a:bodyPr/>
                    <a:lstStyle/>
                    <a:p>
                      <a:r>
                        <a:rPr sz="2025" b="0">
                          <a:solidFill>
                            <a:srgbClr val="333333"/>
                          </a:solidFill>
                          <a:latin typeface="Calibri"/>
                          <a:ea typeface="Calibri"/>
                          <a:cs typeface="Calibri"/>
                        </a:rPr>
                        <a:t>101</a:t>
                      </a:r>
                    </a:p>
                  </a:txBody>
                  <a:tcPr anchor="ctr">
                    <a:solidFill>
                      <a:srgbClr val="FFFFFF"/>
                    </a:solidFill>
                  </a:tcPr>
                </a:tc>
                <a:tc>
                  <a:txBody>
                    <a:bodyPr/>
                    <a:lstStyle/>
                    <a:p>
                      <a:r>
                        <a:rPr sz="2025" b="0">
                          <a:solidFill>
                            <a:srgbClr val="333333"/>
                          </a:solidFill>
                          <a:latin typeface="Calibri"/>
                          <a:ea typeface="Calibri"/>
                          <a:cs typeface="Calibri"/>
                        </a:rPr>
                        <a:t>Valid or Invalid? Why?</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5" name="Body">
            <a:extLst>
              <a:ext uri="{FF2B5EF4-FFF2-40B4-BE49-F238E27FC236}">
                <a16:creationId xmlns:a16="http://schemas.microsoft.com/office/drawing/2014/main" id="{C9805417-EAA1-4192-BF06-1CFF3038257D}"/>
              </a:ext>
            </a:extLst>
          </p:cNvPr>
          <p:cNvSpPr>
            <a:spLocks noGrp="1"/>
          </p:cNvSpPr>
          <p:nvPr/>
        </p:nvSpPr>
        <p:spPr>
          <a:xfrm>
            <a:off x="552450" y="4629150"/>
            <a:ext cx="8039100" cy="41910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Derive the answer from requirements.md before asking AI.</a:t>
            </a:r>
          </a:p>
        </p:txBody>
      </p:sp>
    </p:spTree>
    <p:extLst>
      <p:ext uri="{BB962C8B-B14F-4D97-AF65-F5344CB8AC3E}">
        <p14:creationId xmlns:p14="http://schemas.microsoft.com/office/powerpoint/2010/main" val="12822251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What is a test case?</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19</a:t>
            </a:r>
            <a:endParaRPr sz="2000"/>
          </a:p>
        </p:txBody>
      </p:sp>
      <p:sp>
        <p:nvSpPr>
          <p:cNvPr id="14" name="Body">
            <a:extLst>
              <a:ext uri="{FF2B5EF4-FFF2-40B4-BE49-F238E27FC236}">
                <a16:creationId xmlns:a16="http://schemas.microsoft.com/office/drawing/2014/main" id="{0B809D86-8945-41F2-A32D-B45C6864DB88}"/>
              </a:ext>
            </a:extLst>
          </p:cNvPr>
          <p:cNvSpPr>
            <a:spLocks noGrp="1"/>
          </p:cNvSpPr>
          <p:nvPr/>
        </p:nvSpPr>
        <p:spPr>
          <a:xfrm>
            <a:off x="552450" y="1695450"/>
            <a:ext cx="8039100" cy="685800"/>
          </a:xfrm>
          <a:prstGeom prst="rect">
            <a:avLst/>
          </a:prstGeom>
          <a:noFill/>
          <a:ln w="0">
            <a:noFill/>
          </a:ln>
        </p:spPr>
        <p:txBody>
          <a:bodyPr wrap="square" lIns="0" tIns="0" rIns="0" bIns="0" anchor="t">
            <a:noAutofit/>
          </a:bodyPr>
          <a:lstStyle/>
          <a:p>
            <a:pPr algn="l">
              <a:buNone/>
              <a:defRPr sz="2025" b="0">
                <a:solidFill>
                  <a:srgbClr val="333333"/>
                </a:solidFill>
                <a:latin typeface="Calibri"/>
                <a:ea typeface="Calibri"/>
                <a:cs typeface="Calibri"/>
              </a:defRPr>
            </a:pPr>
            <a:r>
              <a:rPr sz="2025" b="0">
                <a:solidFill>
                  <a:srgbClr val="333333"/>
                </a:solidFill>
                <a:latin typeface="Calibri"/>
                <a:ea typeface="Calibri"/>
                <a:cs typeface="Calibri"/>
              </a:rPr>
              <a:t>A test records the inputs and the result required by the specification.</a:t>
            </a:r>
          </a:p>
        </p:txBody>
      </p:sp>
      <p:graphicFrame>
        <p:nvGraphicFramePr>
          <p:cNvPr id="24" name="表格 21"/>
          <p:cNvGraphicFramePr/>
          <p:nvPr/>
        </p:nvGraphicFramePr>
        <p:xfrm>
          <a:off x="552450" y="2590800"/>
          <a:ext cx="8039100" cy="1114425"/>
        </p:xfrm>
        <a:graphic>
          <a:graphicData uri="http://schemas.openxmlformats.org/drawingml/2006/table">
            <a:tbl>
              <a:tblPr/>
              <a:tblGrid>
                <a:gridCol w="180975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3467100">
                  <a:extLst>
                    <a:ext uri="{9D8B030D-6E8A-4147-A177-3AD203B41FA5}">
                      <a16:colId xmlns:a16="http://schemas.microsoft.com/office/drawing/2014/main" val="20003"/>
                    </a:ext>
                  </a:extLst>
                </a:gridCol>
              </a:tblGrid>
              <a:tr h="557213">
                <a:tc>
                  <a:txBody>
                    <a:bodyPr/>
                    <a:lstStyle/>
                    <a:p>
                      <a:r>
                        <a:rPr sz="1875" b="1">
                          <a:solidFill>
                            <a:srgbClr val="FFFFFF"/>
                          </a:solidFill>
                          <a:latin typeface="Calibri"/>
                          <a:ea typeface="Calibri"/>
                          <a:cs typeface="Calibri"/>
                        </a:rPr>
                        <a:t>Coursework</a:t>
                      </a:r>
                    </a:p>
                  </a:txBody>
                  <a:tcPr anchor="ctr">
                    <a:solidFill>
                      <a:srgbClr val="4C2859"/>
                    </a:solidFill>
                  </a:tcPr>
                </a:tc>
                <a:tc>
                  <a:txBody>
                    <a:bodyPr/>
                    <a:lstStyle/>
                    <a:p>
                      <a:r>
                        <a:rPr sz="1875" b="1">
                          <a:solidFill>
                            <a:srgbClr val="FFFFFF"/>
                          </a:solidFill>
                          <a:latin typeface="Calibri"/>
                          <a:ea typeface="Calibri"/>
                          <a:cs typeface="Calibri"/>
                        </a:rPr>
                        <a:t>Exam</a:t>
                      </a:r>
                    </a:p>
                  </a:txBody>
                  <a:tcPr anchor="ctr">
                    <a:solidFill>
                      <a:srgbClr val="4C2859"/>
                    </a:solidFill>
                  </a:tcPr>
                </a:tc>
                <a:tc>
                  <a:txBody>
                    <a:bodyPr/>
                    <a:lstStyle/>
                    <a:p>
                      <a:r>
                        <a:rPr sz="1875" b="1">
                          <a:solidFill>
                            <a:srgbClr val="FFFFFF"/>
                          </a:solidFill>
                          <a:latin typeface="Calibri"/>
                          <a:ea typeface="Calibri"/>
                          <a:cs typeface="Calibri"/>
                        </a:rPr>
                        <a:t>Expected</a:t>
                      </a:r>
                    </a:p>
                  </a:txBody>
                  <a:tcPr anchor="ctr">
                    <a:solidFill>
                      <a:srgbClr val="4C2859"/>
                    </a:solidFill>
                  </a:tcPr>
                </a:tc>
                <a:tc>
                  <a:txBody>
                    <a:bodyPr/>
                    <a:lstStyle/>
                    <a:p>
                      <a:r>
                        <a:rPr sz="1875" b="1">
                          <a:solidFill>
                            <a:srgbClr val="FFFFFF"/>
                          </a:solidFill>
                          <a:latin typeface="Calibri"/>
                          <a:ea typeface="Calibri"/>
                          <a:cs typeface="Calibri"/>
                        </a:rPr>
                        <a:t>Actual</a:t>
                      </a:r>
                    </a:p>
                  </a:txBody>
                  <a:tcPr anchor="ctr">
                    <a:solidFill>
                      <a:srgbClr val="4C2859"/>
                    </a:solidFill>
                  </a:tcPr>
                </a:tc>
                <a:extLst>
                  <a:ext uri="{0D108BD9-81ED-4DB2-BD59-A6C34878D82A}">
                    <a16:rowId xmlns:a16="http://schemas.microsoft.com/office/drawing/2014/main" val="10000"/>
                  </a:ext>
                </a:extLst>
              </a:tr>
              <a:tr h="557213">
                <a:tc>
                  <a:txBody>
                    <a:bodyPr/>
                    <a:lstStyle/>
                    <a:p>
                      <a:r>
                        <a:rPr sz="1875" b="0">
                          <a:solidFill>
                            <a:srgbClr val="333333"/>
                          </a:solidFill>
                          <a:latin typeface="Calibri"/>
                          <a:ea typeface="Calibri"/>
                          <a:cs typeface="Calibri"/>
                        </a:rPr>
                        <a:t>100</a:t>
                      </a:r>
                    </a:p>
                  </a:txBody>
                  <a:tcPr anchor="ctr">
                    <a:solidFill>
                      <a:srgbClr val="FFFFFF"/>
                    </a:solidFill>
                  </a:tcPr>
                </a:tc>
                <a:tc>
                  <a:txBody>
                    <a:bodyPr/>
                    <a:lstStyle/>
                    <a:p>
                      <a:r>
                        <a:rPr sz="1875" b="0">
                          <a:solidFill>
                            <a:srgbClr val="333333"/>
                          </a:solidFill>
                          <a:latin typeface="Calibri"/>
                          <a:ea typeface="Calibri"/>
                          <a:cs typeface="Calibri"/>
                        </a:rPr>
                        <a:t>39</a:t>
                      </a:r>
                    </a:p>
                  </a:txBody>
                  <a:tcPr anchor="ctr">
                    <a:solidFill>
                      <a:srgbClr val="FFFFFF"/>
                    </a:solidFill>
                  </a:tcPr>
                </a:tc>
                <a:tc>
                  <a:txBody>
                    <a:bodyPr/>
                    <a:lstStyle/>
                    <a:p>
                      <a:r>
                        <a:rPr sz="1875" b="0">
                          <a:solidFill>
                            <a:srgbClr val="333333"/>
                          </a:solidFill>
                          <a:latin typeface="Calibri"/>
                          <a:ea typeface="Calibri"/>
                          <a:cs typeface="Calibri"/>
                        </a:rPr>
                        <a:t>Fail</a:t>
                      </a:r>
                    </a:p>
                  </a:txBody>
                  <a:tcPr anchor="ctr">
                    <a:solidFill>
                      <a:srgbClr val="FFFFFF"/>
                    </a:solidFill>
                  </a:tcPr>
                </a:tc>
                <a:tc>
                  <a:txBody>
                    <a:bodyPr/>
                    <a:lstStyle/>
                    <a:p>
                      <a:r>
                        <a:rPr sz="1875" b="0">
                          <a:solidFill>
                            <a:srgbClr val="333333"/>
                          </a:solidFill>
                          <a:latin typeface="Calibri"/>
                          <a:ea typeface="Calibri"/>
                          <a:cs typeface="Calibri"/>
                        </a:rPr>
                        <a:t>Fill in after running</a:t>
                      </a:r>
                    </a:p>
                  </a:txBody>
                  <a:tcPr anchor="ctr">
                    <a:solidFill>
                      <a:srgbClr val="FFFFFF"/>
                    </a:solidFill>
                  </a:tcPr>
                </a:tc>
                <a:extLst>
                  <a:ext uri="{0D108BD9-81ED-4DB2-BD59-A6C34878D82A}">
                    <a16:rowId xmlns:a16="http://schemas.microsoft.com/office/drawing/2014/main" val="10001"/>
                  </a:ext>
                </a:extLst>
              </a:tr>
            </a:tbl>
          </a:graphicData>
        </a:graphic>
      </p:graphicFrame>
      <p:sp>
        <p:nvSpPr>
          <p:cNvPr id="16" name="Body">
            <a:extLst>
              <a:ext uri="{FF2B5EF4-FFF2-40B4-BE49-F238E27FC236}">
                <a16:creationId xmlns:a16="http://schemas.microsoft.com/office/drawing/2014/main" id="{14BAABB7-005C-4CC3-B0D0-2A1A431AF4F3}"/>
              </a:ext>
            </a:extLst>
          </p:cNvPr>
          <p:cNvSpPr>
            <a:spLocks noGrp="1"/>
          </p:cNvSpPr>
          <p:nvPr/>
        </p:nvSpPr>
        <p:spPr>
          <a:xfrm>
            <a:off x="552450" y="3924300"/>
            <a:ext cx="8039100" cy="666750"/>
          </a:xfrm>
          <a:prstGeom prst="rect">
            <a:avLst/>
          </a:prstGeom>
          <a:noFill/>
          <a:ln w="0">
            <a:noFill/>
          </a:ln>
        </p:spPr>
        <p:txBody>
          <a:bodyPr wrap="square" lIns="0" tIns="0" rIns="0" bIns="0" anchor="t">
            <a:noAutofit/>
          </a:bodyPr>
          <a:lstStyle/>
          <a:p>
            <a:pPr algn="l">
              <a:buNone/>
              <a:defRPr sz="1950" b="0">
                <a:solidFill>
                  <a:srgbClr val="4C2859"/>
                </a:solidFill>
                <a:latin typeface="Calibri"/>
                <a:ea typeface="Calibri"/>
                <a:cs typeface="Calibri"/>
              </a:defRPr>
            </a:pPr>
            <a:r>
              <a:rPr sz="1950" b="0">
                <a:solidFill>
                  <a:srgbClr val="4C2859"/>
                </a:solidFill>
                <a:latin typeface="Calibri"/>
                <a:ea typeface="Calibri"/>
                <a:cs typeface="Calibri"/>
              </a:rPr>
              <a:t>Purpose: checks the exam minimum when the weighted total is high.</a:t>
            </a:r>
          </a:p>
        </p:txBody>
      </p:sp>
    </p:spTree>
    <p:extLst>
      <p:ext uri="{BB962C8B-B14F-4D97-AF65-F5344CB8AC3E}">
        <p14:creationId xmlns:p14="http://schemas.microsoft.com/office/powerpoint/2010/main" val="12822251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8"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Test groups and boundaries</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20</a:t>
            </a:r>
            <a:endParaRPr sz="2000"/>
          </a:p>
        </p:txBody>
      </p:sp>
      <p:graphicFrame>
        <p:nvGraphicFramePr>
          <p:cNvPr id="22" name="表格 19"/>
          <p:cNvGraphicFramePr/>
          <p:nvPr/>
        </p:nvGraphicFramePr>
        <p:xfrm>
          <a:off x="552450" y="1752600"/>
          <a:ext cx="8039100" cy="2714625"/>
        </p:xfrm>
        <a:graphic>
          <a:graphicData uri="http://schemas.openxmlformats.org/drawingml/2006/table">
            <a:tbl>
              <a:tblPr/>
              <a:tblGrid>
                <a:gridCol w="2381250">
                  <a:extLst>
                    <a:ext uri="{9D8B030D-6E8A-4147-A177-3AD203B41FA5}">
                      <a16:colId xmlns:a16="http://schemas.microsoft.com/office/drawing/2014/main" val="20000"/>
                    </a:ext>
                  </a:extLst>
                </a:gridCol>
                <a:gridCol w="5657850">
                  <a:extLst>
                    <a:ext uri="{9D8B030D-6E8A-4147-A177-3AD203B41FA5}">
                      <a16:colId xmlns:a16="http://schemas.microsoft.com/office/drawing/2014/main" val="20001"/>
                    </a:ext>
                  </a:extLst>
                </a:gridCol>
              </a:tblGrid>
              <a:tr h="542925">
                <a:tc>
                  <a:txBody>
                    <a:bodyPr/>
                    <a:lstStyle/>
                    <a:p>
                      <a:r>
                        <a:rPr sz="1800" b="1">
                          <a:solidFill>
                            <a:srgbClr val="FFFFFF"/>
                          </a:solidFill>
                          <a:latin typeface="Calibri"/>
                          <a:ea typeface="Calibri"/>
                          <a:cs typeface="Calibri"/>
                        </a:rPr>
                        <a:t>What could go wrong?</a:t>
                      </a:r>
                    </a:p>
                  </a:txBody>
                  <a:tcPr anchor="ctr">
                    <a:solidFill>
                      <a:srgbClr val="4C2859"/>
                    </a:solidFill>
                  </a:tcPr>
                </a:tc>
                <a:tc>
                  <a:txBody>
                    <a:bodyPr/>
                    <a:lstStyle/>
                    <a:p>
                      <a:r>
                        <a:rPr sz="1800" b="1">
                          <a:solidFill>
                            <a:srgbClr val="FFFFFF"/>
                          </a:solidFill>
                          <a:latin typeface="Calibri"/>
                          <a:ea typeface="Calibri"/>
                          <a:cs typeface="Calibri"/>
                        </a:rPr>
                        <a:t>Useful tests</a:t>
                      </a:r>
                    </a:p>
                  </a:txBody>
                  <a:tcPr anchor="ctr">
                    <a:solidFill>
                      <a:srgbClr val="4C2859"/>
                    </a:solidFill>
                  </a:tcPr>
                </a:tc>
                <a:extLst>
                  <a:ext uri="{0D108BD9-81ED-4DB2-BD59-A6C34878D82A}">
                    <a16:rowId xmlns:a16="http://schemas.microsoft.com/office/drawing/2014/main" val="10000"/>
                  </a:ext>
                </a:extLst>
              </a:tr>
              <a:tr h="542925">
                <a:tc>
                  <a:txBody>
                    <a:bodyPr/>
                    <a:lstStyle/>
                    <a:p>
                      <a:r>
                        <a:rPr sz="1800" b="0">
                          <a:solidFill>
                            <a:srgbClr val="333333"/>
                          </a:solidFill>
                          <a:latin typeface="Calibri"/>
                          <a:ea typeface="Calibri"/>
                          <a:cs typeface="Calibri"/>
                        </a:rPr>
                        <a:t>Input validation</a:t>
                      </a:r>
                    </a:p>
                  </a:txBody>
                  <a:tcPr anchor="ctr">
                    <a:solidFill>
                      <a:srgbClr val="FFFFFF"/>
                    </a:solidFill>
                  </a:tcPr>
                </a:tc>
                <a:tc>
                  <a:txBody>
                    <a:bodyPr/>
                    <a:lstStyle/>
                    <a:p>
                      <a:r>
                        <a:rPr sz="1800" b="0">
                          <a:solidFill>
                            <a:srgbClr val="333333"/>
                          </a:solidFill>
                          <a:latin typeface="Calibri"/>
                          <a:ea typeface="Calibri"/>
                          <a:cs typeface="Calibri"/>
                        </a:rPr>
                        <a:t>Check each mark at 0 and 100, and just outside.</a:t>
                      </a:r>
                    </a:p>
                  </a:txBody>
                  <a:tcPr anchor="ctr">
                    <a:solidFill>
                      <a:srgbClr val="FFFFFF"/>
                    </a:solidFill>
                  </a:tcPr>
                </a:tc>
                <a:extLst>
                  <a:ext uri="{0D108BD9-81ED-4DB2-BD59-A6C34878D82A}">
                    <a16:rowId xmlns:a16="http://schemas.microsoft.com/office/drawing/2014/main" val="10001"/>
                  </a:ext>
                </a:extLst>
              </a:tr>
              <a:tr h="542925">
                <a:tc>
                  <a:txBody>
                    <a:bodyPr/>
                    <a:lstStyle/>
                    <a:p>
                      <a:r>
                        <a:rPr sz="1800" b="0">
                          <a:solidFill>
                            <a:srgbClr val="333333"/>
                          </a:solidFill>
                          <a:latin typeface="Calibri"/>
                          <a:ea typeface="Calibri"/>
                          <a:cs typeface="Calibri"/>
                        </a:rPr>
                        <a:t>Weighted threshold</a:t>
                      </a:r>
                    </a:p>
                  </a:txBody>
                  <a:tcPr anchor="ctr">
                    <a:solidFill>
                      <a:srgbClr val="F8F5FA"/>
                    </a:solidFill>
                  </a:tcPr>
                </a:tc>
                <a:tc>
                  <a:txBody>
                    <a:bodyPr/>
                    <a:lstStyle/>
                    <a:p>
                      <a:r>
                        <a:rPr sz="1800" b="0">
                          <a:solidFill>
                            <a:srgbClr val="333333"/>
                          </a:solidFill>
                          <a:latin typeface="Calibri"/>
                          <a:ea typeface="Calibri"/>
                          <a:cs typeface="Calibri"/>
                        </a:rPr>
                        <a:t>Keep exam at 50. Try coursework 49, 50 and 51.</a:t>
                      </a:r>
                    </a:p>
                  </a:txBody>
                  <a:tcPr anchor="ctr">
                    <a:solidFill>
                      <a:srgbClr val="F8F5FA"/>
                    </a:solidFill>
                  </a:tcPr>
                </a:tc>
                <a:extLst>
                  <a:ext uri="{0D108BD9-81ED-4DB2-BD59-A6C34878D82A}">
                    <a16:rowId xmlns:a16="http://schemas.microsoft.com/office/drawing/2014/main" val="10002"/>
                  </a:ext>
                </a:extLst>
              </a:tr>
              <a:tr h="542925">
                <a:tc>
                  <a:txBody>
                    <a:bodyPr/>
                    <a:lstStyle/>
                    <a:p>
                      <a:r>
                        <a:rPr sz="1800" b="0">
                          <a:solidFill>
                            <a:srgbClr val="333333"/>
                          </a:solidFill>
                          <a:latin typeface="Calibri"/>
                          <a:ea typeface="Calibri"/>
                          <a:cs typeface="Calibri"/>
                        </a:rPr>
                        <a:t>Exam minimum</a:t>
                      </a:r>
                    </a:p>
                  </a:txBody>
                  <a:tcPr anchor="ctr">
                    <a:solidFill>
                      <a:srgbClr val="FFFFFF"/>
                    </a:solidFill>
                  </a:tcPr>
                </a:tc>
                <a:tc>
                  <a:txBody>
                    <a:bodyPr/>
                    <a:lstStyle/>
                    <a:p>
                      <a:r>
                        <a:rPr sz="1800" b="0">
                          <a:solidFill>
                            <a:srgbClr val="333333"/>
                          </a:solidFill>
                          <a:latin typeface="Calibri"/>
                          <a:ea typeface="Calibri"/>
                          <a:cs typeface="Calibri"/>
                        </a:rPr>
                        <a:t>Keep coursework at 100. Try exam 39, 40 and 41.</a:t>
                      </a:r>
                    </a:p>
                  </a:txBody>
                  <a:tcPr anchor="ctr">
                    <a:solidFill>
                      <a:srgbClr val="FFFFFF"/>
                    </a:solidFill>
                  </a:tcPr>
                </a:tc>
                <a:extLst>
                  <a:ext uri="{0D108BD9-81ED-4DB2-BD59-A6C34878D82A}">
                    <a16:rowId xmlns:a16="http://schemas.microsoft.com/office/drawing/2014/main" val="10003"/>
                  </a:ext>
                </a:extLst>
              </a:tr>
              <a:tr h="542925">
                <a:tc>
                  <a:txBody>
                    <a:bodyPr/>
                    <a:lstStyle/>
                    <a:p>
                      <a:r>
                        <a:rPr sz="1800" b="0">
                          <a:solidFill>
                            <a:srgbClr val="333333"/>
                          </a:solidFill>
                          <a:latin typeface="Calibri"/>
                          <a:ea typeface="Calibri"/>
                          <a:cs typeface="Calibri"/>
                        </a:rPr>
                        <a:t>Ordinary behaviour</a:t>
                      </a:r>
                    </a:p>
                  </a:txBody>
                  <a:tcPr anchor="ctr">
                    <a:solidFill>
                      <a:srgbClr val="F8F5FA"/>
                    </a:solidFill>
                  </a:tcPr>
                </a:tc>
                <a:tc>
                  <a:txBody>
                    <a:bodyPr/>
                    <a:lstStyle/>
                    <a:p>
                      <a:r>
                        <a:rPr sz="1800" b="0">
                          <a:solidFill>
                            <a:srgbClr val="333333"/>
                          </a:solidFill>
                          <a:latin typeface="Calibri"/>
                          <a:ea typeface="Calibri"/>
                          <a:cs typeface="Calibri"/>
                        </a:rPr>
                        <a:t>Try a clear pass and a clear fail.</a:t>
                      </a:r>
                    </a:p>
                  </a:txBody>
                  <a:tcPr anchor="ctr">
                    <a:solidFill>
                      <a:srgbClr val="F8F5FA"/>
                    </a:solidFill>
                  </a:tcPr>
                </a:tc>
                <a:extLst>
                  <a:ext uri="{0D108BD9-81ED-4DB2-BD59-A6C34878D82A}">
                    <a16:rowId xmlns:a16="http://schemas.microsoft.com/office/drawing/2014/main" val="10004"/>
                  </a:ext>
                </a:extLst>
              </a:tr>
            </a:tbl>
          </a:graphicData>
        </a:graphic>
      </p:graphicFrame>
      <p:sp>
        <p:nvSpPr>
          <p:cNvPr id="15" name="Body">
            <a:extLst>
              <a:ext uri="{FF2B5EF4-FFF2-40B4-BE49-F238E27FC236}">
                <a16:creationId xmlns:a16="http://schemas.microsoft.com/office/drawing/2014/main" id="{E70C194D-BE04-4D05-9BE9-66211D5CFEFC}"/>
              </a:ext>
            </a:extLst>
          </p:cNvPr>
          <p:cNvSpPr>
            <a:spLocks noGrp="1"/>
          </p:cNvSpPr>
          <p:nvPr/>
        </p:nvSpPr>
        <p:spPr>
          <a:xfrm>
            <a:off x="552450" y="4629150"/>
            <a:ext cx="8039100" cy="41910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Your test groups should cover every reachable if/elif/else branch.</a:t>
            </a:r>
          </a:p>
        </p:txBody>
      </p:sp>
    </p:spTree>
    <p:extLst>
      <p:ext uri="{BB962C8B-B14F-4D97-AF65-F5344CB8AC3E}">
        <p14:creationId xmlns:p14="http://schemas.microsoft.com/office/powerpoint/2010/main" val="12822251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6"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Test groups and branch coverage</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21</a:t>
            </a:r>
            <a:endParaRPr sz="2000"/>
          </a:p>
        </p:txBody>
      </p:sp>
      <p:sp>
        <p:nvSpPr>
          <p:cNvPr id="21" name="Body">
            <a:extLst>
              <a:ext uri="{FF2B5EF4-FFF2-40B4-BE49-F238E27FC236}">
                <a16:creationId xmlns:a16="http://schemas.microsoft.com/office/drawing/2014/main" id="{A49D1C3A-275E-4B92-B50D-767AC34C378C}"/>
              </a:ext>
            </a:extLst>
          </p:cNvPr>
          <p:cNvSpPr>
            <a:spLocks noGrp="1"/>
          </p:cNvSpPr>
          <p:nvPr/>
        </p:nvSpPr>
        <p:spPr>
          <a:xfrm>
            <a:off x="552450" y="1695450"/>
            <a:ext cx="8039100" cy="657225"/>
          </a:xfrm>
          <a:prstGeom prst="rect">
            <a:avLst/>
          </a:prstGeom>
          <a:noFill/>
          <a:ln w="0">
            <a:noFill/>
          </a:ln>
        </p:spPr>
        <p:txBody>
          <a:bodyPr wrap="square" lIns="0" tIns="0" rIns="0" bIns="0" anchor="t">
            <a:noAutofit/>
          </a:bodyPr>
          <a:lstStyle/>
          <a:p>
            <a:pPr algn="l">
              <a:defRPr sz="1875" b="0">
                <a:solidFill>
                  <a:srgbClr val="333333"/>
                </a:solidFill>
                <a:latin typeface="Calibri"/>
                <a:ea typeface="Calibri"/>
                <a:cs typeface="Calibri"/>
              </a:defRPr>
            </a:pPr>
            <a:r>
              <a:rPr sz="1875" b="0">
                <a:solidFill>
                  <a:srgbClr val="333333"/>
                </a:solidFill>
                <a:latin typeface="Calibri"/>
                <a:ea typeface="Calibri"/>
                <a:cs typeface="Calibri"/>
              </a:rPr>
              <a:t>After implementation, check that your tests exercise both</a:t>
            </a:r>
          </a:p>
          <a:p>
            <a:pPr algn="l">
              <a:defRPr sz="1875" b="0">
                <a:solidFill>
                  <a:srgbClr val="333333"/>
                </a:solidFill>
                <a:latin typeface="Calibri"/>
                <a:ea typeface="Calibri"/>
                <a:cs typeface="Calibri"/>
              </a:defRPr>
            </a:pPr>
            <a:r>
              <a:rPr sz="1875" b="0">
                <a:solidFill>
                  <a:srgbClr val="333333"/>
                </a:solidFill>
                <a:latin typeface="Calibri"/>
                <a:ea typeface="Calibri"/>
                <a:cs typeface="Calibri"/>
              </a:rPr>
              <a:t>True and False outcomes of each if/elif decision.</a:t>
            </a:r>
          </a:p>
        </p:txBody>
      </p:sp>
      <p:sp>
        <p:nvSpPr>
          <p:cNvPr id="22" name="Body">
            <a:extLst>
              <a:ext uri="{FF2B5EF4-FFF2-40B4-BE49-F238E27FC236}">
                <a16:creationId xmlns:a16="http://schemas.microsoft.com/office/drawing/2014/main" id="{254200E3-1250-4289-B583-8234E5BD8BA9}"/>
              </a:ext>
            </a:extLst>
          </p:cNvPr>
          <p:cNvSpPr>
            <a:spLocks noGrp="1"/>
          </p:cNvSpPr>
          <p:nvPr/>
        </p:nvSpPr>
        <p:spPr>
          <a:xfrm>
            <a:off x="552450" y="2390775"/>
            <a:ext cx="8039100" cy="285750"/>
          </a:xfrm>
          <a:prstGeom prst="rect">
            <a:avLst/>
          </a:prstGeom>
          <a:noFill/>
          <a:ln w="0">
            <a:noFill/>
          </a:ln>
        </p:spPr>
        <p:txBody>
          <a:bodyPr wrap="square" lIns="0" tIns="0" rIns="0" bIns="0" anchor="t">
            <a:noAutofit/>
          </a:bodyPr>
          <a:lstStyle/>
          <a:p>
            <a:pPr algn="l">
              <a:defRPr sz="1650" b="0">
                <a:solidFill>
                  <a:srgbClr val="4C2859"/>
                </a:solidFill>
                <a:latin typeface="Calibri"/>
                <a:ea typeface="Calibri"/>
                <a:cs typeface="Calibri"/>
              </a:defRPr>
            </a:pPr>
            <a:r>
              <a:rPr sz="1650" b="0">
                <a:solidFill>
                  <a:srgbClr val="4C2859"/>
                </a:solidFill>
                <a:latin typeface="Calibri"/>
                <a:ea typeface="Calibri"/>
                <a:cs typeface="Calibri"/>
              </a:rPr>
              <a:t>Example mapping for the reviewed implementation:</a:t>
            </a:r>
          </a:p>
        </p:txBody>
      </p:sp>
      <p:graphicFrame>
        <p:nvGraphicFramePr>
          <p:cNvPr id="32" name="表格 31"/>
          <p:cNvGraphicFramePr/>
          <p:nvPr/>
        </p:nvGraphicFramePr>
        <p:xfrm>
          <a:off x="552450" y="2733675"/>
          <a:ext cx="8039100" cy="1647825"/>
        </p:xfrm>
        <a:graphic>
          <a:graphicData uri="http://schemas.openxmlformats.org/drawingml/2006/table">
            <a:tbl>
              <a:tblPr/>
              <a:tblGrid>
                <a:gridCol w="386715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gridCol w="1790700">
                  <a:extLst>
                    <a:ext uri="{9D8B030D-6E8A-4147-A177-3AD203B41FA5}">
                      <a16:colId xmlns:a16="http://schemas.microsoft.com/office/drawing/2014/main" val="20002"/>
                    </a:ext>
                  </a:extLst>
                </a:gridCol>
              </a:tblGrid>
              <a:tr h="411956">
                <a:tc>
                  <a:txBody>
                    <a:bodyPr/>
                    <a:lstStyle/>
                    <a:p>
                      <a:r>
                        <a:rPr sz="1725" b="1">
                          <a:solidFill>
                            <a:srgbClr val="FFFFFF"/>
                          </a:solidFill>
                          <a:latin typeface="Calibri"/>
                          <a:ea typeface="Calibri"/>
                          <a:cs typeface="Calibri"/>
                        </a:rPr>
                        <a:t>Branch taken</a:t>
                      </a:r>
                    </a:p>
                  </a:txBody>
                  <a:tcPr anchor="ctr">
                    <a:solidFill>
                      <a:srgbClr val="4C2859"/>
                    </a:solidFill>
                  </a:tcPr>
                </a:tc>
                <a:tc>
                  <a:txBody>
                    <a:bodyPr/>
                    <a:lstStyle/>
                    <a:p>
                      <a:r>
                        <a:rPr sz="1725" b="1">
                          <a:solidFill>
                            <a:srgbClr val="FFFFFF"/>
                          </a:solidFill>
                          <a:latin typeface="Calibri"/>
                          <a:ea typeface="Calibri"/>
                          <a:cs typeface="Calibri"/>
                        </a:rPr>
                        <a:t>Coursework / Exam</a:t>
                      </a:r>
                    </a:p>
                  </a:txBody>
                  <a:tcPr anchor="ctr">
                    <a:solidFill>
                      <a:srgbClr val="4C2859"/>
                    </a:solidFill>
                  </a:tcPr>
                </a:tc>
                <a:tc>
                  <a:txBody>
                    <a:bodyPr/>
                    <a:lstStyle/>
                    <a:p>
                      <a:r>
                        <a:rPr sz="1725" b="1">
                          <a:solidFill>
                            <a:srgbClr val="FFFFFF"/>
                          </a:solidFill>
                          <a:latin typeface="Calibri"/>
                          <a:ea typeface="Calibri"/>
                          <a:cs typeface="Calibri"/>
                        </a:rPr>
                        <a:t>Expected</a:t>
                      </a:r>
                    </a:p>
                  </a:txBody>
                  <a:tcPr anchor="ctr">
                    <a:solidFill>
                      <a:srgbClr val="4C2859"/>
                    </a:solidFill>
                  </a:tcPr>
                </a:tc>
                <a:extLst>
                  <a:ext uri="{0D108BD9-81ED-4DB2-BD59-A6C34878D82A}">
                    <a16:rowId xmlns:a16="http://schemas.microsoft.com/office/drawing/2014/main" val="10000"/>
                  </a:ext>
                </a:extLst>
              </a:tr>
              <a:tr h="411956">
                <a:tc>
                  <a:txBody>
                    <a:bodyPr/>
                    <a:lstStyle/>
                    <a:p>
                      <a:r>
                        <a:rPr sz="1725" b="0">
                          <a:solidFill>
                            <a:srgbClr val="333333"/>
                          </a:solidFill>
                          <a:latin typeface="Calibri"/>
                          <a:ea typeface="Calibri"/>
                          <a:cs typeface="Calibri"/>
                        </a:rPr>
                        <a:t>if: a mark is outside 0–100</a:t>
                      </a:r>
                    </a:p>
                  </a:txBody>
                  <a:tcPr anchor="ctr">
                    <a:solidFill>
                      <a:srgbClr val="FFFFFF"/>
                    </a:solidFill>
                  </a:tcPr>
                </a:tc>
                <a:tc>
                  <a:txBody>
                    <a:bodyPr/>
                    <a:lstStyle/>
                    <a:p>
                      <a:r>
                        <a:rPr sz="1725" b="0">
                          <a:solidFill>
                            <a:srgbClr val="333333"/>
                          </a:solidFill>
                          <a:latin typeface="Calibri"/>
                          <a:ea typeface="Calibri"/>
                          <a:cs typeface="Calibri"/>
                        </a:rPr>
                        <a:t>80 / 101</a:t>
                      </a:r>
                    </a:p>
                  </a:txBody>
                  <a:tcPr anchor="ctr">
                    <a:solidFill>
                      <a:srgbClr val="FFFFFF"/>
                    </a:solidFill>
                  </a:tcPr>
                </a:tc>
                <a:tc>
                  <a:txBody>
                    <a:bodyPr/>
                    <a:lstStyle/>
                    <a:p>
                      <a:r>
                        <a:rPr sz="1725" b="0">
                          <a:solidFill>
                            <a:srgbClr val="333333"/>
                          </a:solidFill>
                          <a:latin typeface="Calibri"/>
                          <a:ea typeface="Calibri"/>
                          <a:cs typeface="Calibri"/>
                        </a:rPr>
                        <a:t>Invalid</a:t>
                      </a:r>
                    </a:p>
                  </a:txBody>
                  <a:tcPr anchor="ctr">
                    <a:solidFill>
                      <a:srgbClr val="FFFFFF"/>
                    </a:solidFill>
                  </a:tcPr>
                </a:tc>
                <a:extLst>
                  <a:ext uri="{0D108BD9-81ED-4DB2-BD59-A6C34878D82A}">
                    <a16:rowId xmlns:a16="http://schemas.microsoft.com/office/drawing/2014/main" val="10001"/>
                  </a:ext>
                </a:extLst>
              </a:tr>
              <a:tr h="411956">
                <a:tc>
                  <a:txBody>
                    <a:bodyPr/>
                    <a:lstStyle/>
                    <a:p>
                      <a:r>
                        <a:rPr sz="1725" b="0">
                          <a:solidFill>
                            <a:srgbClr val="333333"/>
                          </a:solidFill>
                          <a:latin typeface="Calibri"/>
                          <a:ea typeface="Calibri"/>
                          <a:cs typeface="Calibri"/>
                        </a:rPr>
                        <a:t>elif: both pass conditions hold</a:t>
                      </a:r>
                    </a:p>
                  </a:txBody>
                  <a:tcPr anchor="ctr">
                    <a:solidFill>
                      <a:srgbClr val="F8F5FA"/>
                    </a:solidFill>
                  </a:tcPr>
                </a:tc>
                <a:tc>
                  <a:txBody>
                    <a:bodyPr/>
                    <a:lstStyle/>
                    <a:p>
                      <a:r>
                        <a:rPr sz="1725" b="0">
                          <a:solidFill>
                            <a:srgbClr val="333333"/>
                          </a:solidFill>
                          <a:latin typeface="Calibri"/>
                          <a:ea typeface="Calibri"/>
                          <a:cs typeface="Calibri"/>
                        </a:rPr>
                        <a:t>80 / 80</a:t>
                      </a:r>
                    </a:p>
                  </a:txBody>
                  <a:tcPr anchor="ctr">
                    <a:solidFill>
                      <a:srgbClr val="F8F5FA"/>
                    </a:solidFill>
                  </a:tcPr>
                </a:tc>
                <a:tc>
                  <a:txBody>
                    <a:bodyPr/>
                    <a:lstStyle/>
                    <a:p>
                      <a:r>
                        <a:rPr sz="1725" b="0">
                          <a:solidFill>
                            <a:srgbClr val="333333"/>
                          </a:solidFill>
                          <a:latin typeface="Calibri"/>
                          <a:ea typeface="Calibri"/>
                          <a:cs typeface="Calibri"/>
                        </a:rPr>
                        <a:t>Pass</a:t>
                      </a:r>
                    </a:p>
                  </a:txBody>
                  <a:tcPr anchor="ctr">
                    <a:solidFill>
                      <a:srgbClr val="F8F5FA"/>
                    </a:solidFill>
                  </a:tcPr>
                </a:tc>
                <a:extLst>
                  <a:ext uri="{0D108BD9-81ED-4DB2-BD59-A6C34878D82A}">
                    <a16:rowId xmlns:a16="http://schemas.microsoft.com/office/drawing/2014/main" val="10002"/>
                  </a:ext>
                </a:extLst>
              </a:tr>
              <a:tr h="411956">
                <a:tc>
                  <a:txBody>
                    <a:bodyPr/>
                    <a:lstStyle/>
                    <a:p>
                      <a:r>
                        <a:rPr sz="1725" b="0">
                          <a:solidFill>
                            <a:srgbClr val="333333"/>
                          </a:solidFill>
                          <a:latin typeface="Calibri"/>
                          <a:ea typeface="Calibri"/>
                          <a:cs typeface="Calibri"/>
                        </a:rPr>
                        <a:t>else: valid marks fail a pass rule</a:t>
                      </a:r>
                    </a:p>
                  </a:txBody>
                  <a:tcPr anchor="ctr">
                    <a:solidFill>
                      <a:srgbClr val="FFFFFF"/>
                    </a:solidFill>
                  </a:tcPr>
                </a:tc>
                <a:tc>
                  <a:txBody>
                    <a:bodyPr/>
                    <a:lstStyle/>
                    <a:p>
                      <a:r>
                        <a:rPr sz="1725" b="0">
                          <a:solidFill>
                            <a:srgbClr val="333333"/>
                          </a:solidFill>
                          <a:latin typeface="Calibri"/>
                          <a:ea typeface="Calibri"/>
                          <a:cs typeface="Calibri"/>
                        </a:rPr>
                        <a:t>100 / 39</a:t>
                      </a:r>
                    </a:p>
                  </a:txBody>
                  <a:tcPr anchor="ctr">
                    <a:solidFill>
                      <a:srgbClr val="FFFFFF"/>
                    </a:solidFill>
                  </a:tcPr>
                </a:tc>
                <a:tc>
                  <a:txBody>
                    <a:bodyPr/>
                    <a:lstStyle/>
                    <a:p>
                      <a:r>
                        <a:rPr sz="1725" b="0">
                          <a:solidFill>
                            <a:srgbClr val="333333"/>
                          </a:solidFill>
                          <a:latin typeface="Calibri"/>
                          <a:ea typeface="Calibri"/>
                          <a:cs typeface="Calibri"/>
                        </a:rPr>
                        <a:t>Fail</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24" name="Body">
            <a:extLst>
              <a:ext uri="{FF2B5EF4-FFF2-40B4-BE49-F238E27FC236}">
                <a16:creationId xmlns:a16="http://schemas.microsoft.com/office/drawing/2014/main" id="{8795C448-E920-4119-8FC9-AD628C4F0D08}"/>
              </a:ext>
            </a:extLst>
          </p:cNvPr>
          <p:cNvSpPr>
            <a:spLocks noGrp="1"/>
          </p:cNvSpPr>
          <p:nvPr/>
        </p:nvSpPr>
        <p:spPr>
          <a:xfrm>
            <a:off x="552450" y="4495800"/>
            <a:ext cx="8039100" cy="295275"/>
          </a:xfrm>
          <a:prstGeom prst="rect">
            <a:avLst/>
          </a:prstGeom>
          <a:noFill/>
          <a:ln w="0">
            <a:noFill/>
          </a:ln>
        </p:spPr>
        <p:txBody>
          <a:bodyPr wrap="square" lIns="0" tIns="0" rIns="0" bIns="0" anchor="t">
            <a:noAutofit/>
          </a:bodyPr>
          <a:lstStyle/>
          <a:p>
            <a:pPr algn="l">
              <a:defRPr sz="1800" b="1">
                <a:solidFill>
                  <a:srgbClr val="B50C70"/>
                </a:solidFill>
                <a:latin typeface="Calibri"/>
                <a:ea typeface="Calibri"/>
                <a:cs typeface="Calibri"/>
              </a:defRPr>
            </a:pPr>
            <a:r>
              <a:rPr sz="1800" b="1">
                <a:solidFill>
                  <a:srgbClr val="B50C70"/>
                </a:solidFill>
                <a:latin typeface="Calibri"/>
                <a:ea typeface="Calibri"/>
                <a:cs typeface="Calibri"/>
              </a:rPr>
              <a:t>An uncovered branch means a missing test group or case.</a:t>
            </a:r>
          </a:p>
        </p:txBody>
      </p:sp>
      <p:sp>
        <p:nvSpPr>
          <p:cNvPr id="25" name="Body">
            <a:extLst>
              <a:ext uri="{FF2B5EF4-FFF2-40B4-BE49-F238E27FC236}">
                <a16:creationId xmlns:a16="http://schemas.microsoft.com/office/drawing/2014/main" id="{48852024-715D-41E4-9520-8CB0DB168F7B}"/>
              </a:ext>
            </a:extLst>
          </p:cNvPr>
          <p:cNvSpPr>
            <a:spLocks noGrp="1"/>
          </p:cNvSpPr>
          <p:nvPr/>
        </p:nvSpPr>
        <p:spPr>
          <a:xfrm>
            <a:off x="552450" y="4838700"/>
            <a:ext cx="8039100" cy="257175"/>
          </a:xfrm>
          <a:prstGeom prst="rect">
            <a:avLst/>
          </a:prstGeom>
          <a:noFill/>
          <a:ln w="0">
            <a:noFill/>
          </a:ln>
        </p:spPr>
        <p:txBody>
          <a:bodyPr wrap="square" lIns="0" tIns="0" rIns="0" bIns="0" anchor="t">
            <a:noAutofit/>
          </a:bodyPr>
          <a:lstStyle/>
          <a:p>
            <a:pPr algn="l">
              <a:defRPr sz="1500" b="0">
                <a:solidFill>
                  <a:srgbClr val="4C2859"/>
                </a:solidFill>
                <a:latin typeface="Calibri"/>
                <a:ea typeface="Calibri"/>
                <a:cs typeface="Calibri"/>
              </a:defRPr>
            </a:pPr>
            <a:r>
              <a:rPr sz="1500" b="0">
                <a:solidFill>
                  <a:srgbClr val="4C2859"/>
                </a:solidFill>
                <a:latin typeface="Calibri"/>
                <a:ea typeface="Calibri"/>
                <a:cs typeface="Calibri"/>
              </a:rPr>
              <a:t>Branch coverage is a minimum check. Keep boundary and separate-input tests.</a:t>
            </a:r>
          </a:p>
        </p:txBody>
      </p:sp>
    </p:spTree>
    <p:extLst>
      <p:ext uri="{BB962C8B-B14F-4D97-AF65-F5344CB8AC3E}">
        <p14:creationId xmlns:p14="http://schemas.microsoft.com/office/powerpoint/2010/main" val="1282225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8"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Reference tests and their purpose</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22</a:t>
            </a:r>
            <a:endParaRPr sz="2000"/>
          </a:p>
        </p:txBody>
      </p:sp>
      <p:graphicFrame>
        <p:nvGraphicFramePr>
          <p:cNvPr id="22" name="表格 19"/>
          <p:cNvGraphicFramePr/>
          <p:nvPr/>
        </p:nvGraphicFramePr>
        <p:xfrm>
          <a:off x="552450" y="1752600"/>
          <a:ext cx="8039100" cy="2819400"/>
        </p:xfrm>
        <a:graphic>
          <a:graphicData uri="http://schemas.openxmlformats.org/drawingml/2006/table">
            <a:tbl>
              <a:tblPr/>
              <a:tblGrid>
                <a:gridCol w="14001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1390650">
                  <a:extLst>
                    <a:ext uri="{9D8B030D-6E8A-4147-A177-3AD203B41FA5}">
                      <a16:colId xmlns:a16="http://schemas.microsoft.com/office/drawing/2014/main" val="20002"/>
                    </a:ext>
                  </a:extLst>
                </a:gridCol>
                <a:gridCol w="4343400">
                  <a:extLst>
                    <a:ext uri="{9D8B030D-6E8A-4147-A177-3AD203B41FA5}">
                      <a16:colId xmlns:a16="http://schemas.microsoft.com/office/drawing/2014/main" val="20003"/>
                    </a:ext>
                  </a:extLst>
                </a:gridCol>
              </a:tblGrid>
              <a:tr h="352425">
                <a:tc>
                  <a:txBody>
                    <a:bodyPr/>
                    <a:lstStyle/>
                    <a:p>
                      <a:r>
                        <a:rPr sz="1725" b="1">
                          <a:solidFill>
                            <a:srgbClr val="FFFFFF"/>
                          </a:solidFill>
                          <a:latin typeface="Calibri"/>
                          <a:ea typeface="Calibri"/>
                          <a:cs typeface="Calibri"/>
                        </a:rPr>
                        <a:t>Coursework</a:t>
                      </a:r>
                    </a:p>
                  </a:txBody>
                  <a:tcPr anchor="ctr">
                    <a:solidFill>
                      <a:srgbClr val="4C2859"/>
                    </a:solidFill>
                  </a:tcPr>
                </a:tc>
                <a:tc>
                  <a:txBody>
                    <a:bodyPr/>
                    <a:lstStyle/>
                    <a:p>
                      <a:r>
                        <a:rPr sz="1725" b="1">
                          <a:solidFill>
                            <a:srgbClr val="FFFFFF"/>
                          </a:solidFill>
                          <a:latin typeface="Calibri"/>
                          <a:ea typeface="Calibri"/>
                          <a:cs typeface="Calibri"/>
                        </a:rPr>
                        <a:t>Exam</a:t>
                      </a:r>
                    </a:p>
                  </a:txBody>
                  <a:tcPr anchor="ctr">
                    <a:solidFill>
                      <a:srgbClr val="4C2859"/>
                    </a:solidFill>
                  </a:tcPr>
                </a:tc>
                <a:tc>
                  <a:txBody>
                    <a:bodyPr/>
                    <a:lstStyle/>
                    <a:p>
                      <a:r>
                        <a:rPr sz="1725" b="1">
                          <a:solidFill>
                            <a:srgbClr val="FFFFFF"/>
                          </a:solidFill>
                          <a:latin typeface="Calibri"/>
                          <a:ea typeface="Calibri"/>
                          <a:cs typeface="Calibri"/>
                        </a:rPr>
                        <a:t>Expected</a:t>
                      </a:r>
                    </a:p>
                  </a:txBody>
                  <a:tcPr anchor="ctr">
                    <a:solidFill>
                      <a:srgbClr val="4C2859"/>
                    </a:solidFill>
                  </a:tcPr>
                </a:tc>
                <a:tc>
                  <a:txBody>
                    <a:bodyPr/>
                    <a:lstStyle/>
                    <a:p>
                      <a:r>
                        <a:rPr sz="1725" b="1">
                          <a:solidFill>
                            <a:srgbClr val="FFFFFF"/>
                          </a:solidFill>
                          <a:latin typeface="Calibri"/>
                          <a:ea typeface="Calibri"/>
                          <a:cs typeface="Calibri"/>
                        </a:rPr>
                        <a:t>Purpose</a:t>
                      </a:r>
                    </a:p>
                  </a:txBody>
                  <a:tcPr anchor="ctr">
                    <a:solidFill>
                      <a:srgbClr val="4C2859"/>
                    </a:solidFill>
                  </a:tcPr>
                </a:tc>
                <a:extLst>
                  <a:ext uri="{0D108BD9-81ED-4DB2-BD59-A6C34878D82A}">
                    <a16:rowId xmlns:a16="http://schemas.microsoft.com/office/drawing/2014/main" val="10000"/>
                  </a:ext>
                </a:extLst>
              </a:tr>
              <a:tr h="352425">
                <a:tc>
                  <a:txBody>
                    <a:bodyPr/>
                    <a:lstStyle/>
                    <a:p>
                      <a:r>
                        <a:rPr sz="1725" b="0">
                          <a:solidFill>
                            <a:srgbClr val="333333"/>
                          </a:solidFill>
                          <a:latin typeface="Calibri"/>
                          <a:ea typeface="Calibri"/>
                          <a:cs typeface="Calibri"/>
                        </a:rPr>
                        <a:t>80</a:t>
                      </a:r>
                    </a:p>
                  </a:txBody>
                  <a:tcPr anchor="ctr">
                    <a:solidFill>
                      <a:srgbClr val="FFFFFF"/>
                    </a:solidFill>
                  </a:tcPr>
                </a:tc>
                <a:tc>
                  <a:txBody>
                    <a:bodyPr/>
                    <a:lstStyle/>
                    <a:p>
                      <a:r>
                        <a:rPr sz="1725" b="0">
                          <a:solidFill>
                            <a:srgbClr val="333333"/>
                          </a:solidFill>
                          <a:latin typeface="Calibri"/>
                          <a:ea typeface="Calibri"/>
                          <a:cs typeface="Calibri"/>
                        </a:rPr>
                        <a:t>80</a:t>
                      </a:r>
                    </a:p>
                  </a:txBody>
                  <a:tcPr anchor="ctr">
                    <a:solidFill>
                      <a:srgbClr val="FFFFFF"/>
                    </a:solidFill>
                  </a:tcPr>
                </a:tc>
                <a:tc>
                  <a:txBody>
                    <a:bodyPr/>
                    <a:lstStyle/>
                    <a:p>
                      <a:r>
                        <a:rPr sz="1725" b="0">
                          <a:solidFill>
                            <a:srgbClr val="333333"/>
                          </a:solidFill>
                          <a:latin typeface="Calibri"/>
                          <a:ea typeface="Calibri"/>
                          <a:cs typeface="Calibri"/>
                        </a:rPr>
                        <a:t>Pass</a:t>
                      </a:r>
                    </a:p>
                  </a:txBody>
                  <a:tcPr anchor="ctr">
                    <a:solidFill>
                      <a:srgbClr val="FFFFFF"/>
                    </a:solidFill>
                  </a:tcPr>
                </a:tc>
                <a:tc>
                  <a:txBody>
                    <a:bodyPr/>
                    <a:lstStyle/>
                    <a:p>
                      <a:r>
                        <a:rPr sz="1725" b="0">
                          <a:solidFill>
                            <a:srgbClr val="333333"/>
                          </a:solidFill>
                          <a:latin typeface="Calibri"/>
                          <a:ea typeface="Calibri"/>
                          <a:cs typeface="Calibri"/>
                        </a:rPr>
                        <a:t>Ordinary passing case</a:t>
                      </a:r>
                    </a:p>
                  </a:txBody>
                  <a:tcPr anchor="ctr">
                    <a:solidFill>
                      <a:srgbClr val="FFFFFF"/>
                    </a:solidFill>
                  </a:tcPr>
                </a:tc>
                <a:extLst>
                  <a:ext uri="{0D108BD9-81ED-4DB2-BD59-A6C34878D82A}">
                    <a16:rowId xmlns:a16="http://schemas.microsoft.com/office/drawing/2014/main" val="10001"/>
                  </a:ext>
                </a:extLst>
              </a:tr>
              <a:tr h="352425">
                <a:tc>
                  <a:txBody>
                    <a:bodyPr/>
                    <a:lstStyle/>
                    <a:p>
                      <a:r>
                        <a:rPr sz="1725" b="0">
                          <a:solidFill>
                            <a:srgbClr val="333333"/>
                          </a:solidFill>
                          <a:latin typeface="Calibri"/>
                          <a:ea typeface="Calibri"/>
                          <a:cs typeface="Calibri"/>
                        </a:rPr>
                        <a:t>49</a:t>
                      </a:r>
                    </a:p>
                  </a:txBody>
                  <a:tcPr anchor="ctr">
                    <a:solidFill>
                      <a:srgbClr val="F8F5FA"/>
                    </a:solidFill>
                  </a:tcPr>
                </a:tc>
                <a:tc>
                  <a:txBody>
                    <a:bodyPr/>
                    <a:lstStyle/>
                    <a:p>
                      <a:r>
                        <a:rPr sz="1725" b="0">
                          <a:solidFill>
                            <a:srgbClr val="333333"/>
                          </a:solidFill>
                          <a:latin typeface="Calibri"/>
                          <a:ea typeface="Calibri"/>
                          <a:cs typeface="Calibri"/>
                        </a:rPr>
                        <a:t>50</a:t>
                      </a:r>
                    </a:p>
                  </a:txBody>
                  <a:tcPr anchor="ctr">
                    <a:solidFill>
                      <a:srgbClr val="F8F5FA"/>
                    </a:solidFill>
                  </a:tcPr>
                </a:tc>
                <a:tc>
                  <a:txBody>
                    <a:bodyPr/>
                    <a:lstStyle/>
                    <a:p>
                      <a:r>
                        <a:rPr sz="1725" b="0">
                          <a:solidFill>
                            <a:srgbClr val="333333"/>
                          </a:solidFill>
                          <a:latin typeface="Calibri"/>
                          <a:ea typeface="Calibri"/>
                          <a:cs typeface="Calibri"/>
                        </a:rPr>
                        <a:t>Fail</a:t>
                      </a:r>
                    </a:p>
                  </a:txBody>
                  <a:tcPr anchor="ctr">
                    <a:solidFill>
                      <a:srgbClr val="F8F5FA"/>
                    </a:solidFill>
                  </a:tcPr>
                </a:tc>
                <a:tc>
                  <a:txBody>
                    <a:bodyPr/>
                    <a:lstStyle/>
                    <a:p>
                      <a:r>
                        <a:rPr sz="1725" b="0">
                          <a:solidFill>
                            <a:srgbClr val="333333"/>
                          </a:solidFill>
                          <a:latin typeface="Calibri"/>
                          <a:ea typeface="Calibri"/>
                          <a:cs typeface="Calibri"/>
                        </a:rPr>
                        <a:t>Weighted total just below 50</a:t>
                      </a:r>
                    </a:p>
                  </a:txBody>
                  <a:tcPr anchor="ctr">
                    <a:solidFill>
                      <a:srgbClr val="F8F5FA"/>
                    </a:solidFill>
                  </a:tcPr>
                </a:tc>
                <a:extLst>
                  <a:ext uri="{0D108BD9-81ED-4DB2-BD59-A6C34878D82A}">
                    <a16:rowId xmlns:a16="http://schemas.microsoft.com/office/drawing/2014/main" val="10002"/>
                  </a:ext>
                </a:extLst>
              </a:tr>
              <a:tr h="352425">
                <a:tc>
                  <a:txBody>
                    <a:bodyPr/>
                    <a:lstStyle/>
                    <a:p>
                      <a:r>
                        <a:rPr sz="1725" b="0">
                          <a:solidFill>
                            <a:srgbClr val="333333"/>
                          </a:solidFill>
                          <a:latin typeface="Calibri"/>
                          <a:ea typeface="Calibri"/>
                          <a:cs typeface="Calibri"/>
                        </a:rPr>
                        <a:t>50</a:t>
                      </a:r>
                    </a:p>
                  </a:txBody>
                  <a:tcPr anchor="ctr">
                    <a:solidFill>
                      <a:srgbClr val="FFFFFF"/>
                    </a:solidFill>
                  </a:tcPr>
                </a:tc>
                <a:tc>
                  <a:txBody>
                    <a:bodyPr/>
                    <a:lstStyle/>
                    <a:p>
                      <a:r>
                        <a:rPr sz="1725" b="0">
                          <a:solidFill>
                            <a:srgbClr val="333333"/>
                          </a:solidFill>
                          <a:latin typeface="Calibri"/>
                          <a:ea typeface="Calibri"/>
                          <a:cs typeface="Calibri"/>
                        </a:rPr>
                        <a:t>50</a:t>
                      </a:r>
                    </a:p>
                  </a:txBody>
                  <a:tcPr anchor="ctr">
                    <a:solidFill>
                      <a:srgbClr val="FFFFFF"/>
                    </a:solidFill>
                  </a:tcPr>
                </a:tc>
                <a:tc>
                  <a:txBody>
                    <a:bodyPr/>
                    <a:lstStyle/>
                    <a:p>
                      <a:r>
                        <a:rPr sz="1725" b="0">
                          <a:solidFill>
                            <a:srgbClr val="333333"/>
                          </a:solidFill>
                          <a:latin typeface="Calibri"/>
                          <a:ea typeface="Calibri"/>
                          <a:cs typeface="Calibri"/>
                        </a:rPr>
                        <a:t>Pass</a:t>
                      </a:r>
                    </a:p>
                  </a:txBody>
                  <a:tcPr anchor="ctr">
                    <a:solidFill>
                      <a:srgbClr val="FFFFFF"/>
                    </a:solidFill>
                  </a:tcPr>
                </a:tc>
                <a:tc>
                  <a:txBody>
                    <a:bodyPr/>
                    <a:lstStyle/>
                    <a:p>
                      <a:r>
                        <a:rPr sz="1725" b="0">
                          <a:solidFill>
                            <a:srgbClr val="333333"/>
                          </a:solidFill>
                          <a:latin typeface="Calibri"/>
                          <a:ea typeface="Calibri"/>
                          <a:cs typeface="Calibri"/>
                        </a:rPr>
                        <a:t>Weighted total exactly 50</a:t>
                      </a:r>
                    </a:p>
                  </a:txBody>
                  <a:tcPr anchor="ctr">
                    <a:solidFill>
                      <a:srgbClr val="FFFFFF"/>
                    </a:solidFill>
                  </a:tcPr>
                </a:tc>
                <a:extLst>
                  <a:ext uri="{0D108BD9-81ED-4DB2-BD59-A6C34878D82A}">
                    <a16:rowId xmlns:a16="http://schemas.microsoft.com/office/drawing/2014/main" val="10003"/>
                  </a:ext>
                </a:extLst>
              </a:tr>
              <a:tr h="352425">
                <a:tc>
                  <a:txBody>
                    <a:bodyPr/>
                    <a:lstStyle/>
                    <a:p>
                      <a:r>
                        <a:rPr sz="1725" b="0">
                          <a:solidFill>
                            <a:srgbClr val="333333"/>
                          </a:solidFill>
                          <a:latin typeface="Calibri"/>
                          <a:ea typeface="Calibri"/>
                          <a:cs typeface="Calibri"/>
                        </a:rPr>
                        <a:t>100</a:t>
                      </a:r>
                    </a:p>
                  </a:txBody>
                  <a:tcPr anchor="ctr">
                    <a:solidFill>
                      <a:srgbClr val="F8F5FA"/>
                    </a:solidFill>
                  </a:tcPr>
                </a:tc>
                <a:tc>
                  <a:txBody>
                    <a:bodyPr/>
                    <a:lstStyle/>
                    <a:p>
                      <a:r>
                        <a:rPr sz="1725" b="0">
                          <a:solidFill>
                            <a:srgbClr val="333333"/>
                          </a:solidFill>
                          <a:latin typeface="Calibri"/>
                          <a:ea typeface="Calibri"/>
                          <a:cs typeface="Calibri"/>
                        </a:rPr>
                        <a:t>39</a:t>
                      </a:r>
                    </a:p>
                  </a:txBody>
                  <a:tcPr anchor="ctr">
                    <a:solidFill>
                      <a:srgbClr val="F8F5FA"/>
                    </a:solidFill>
                  </a:tcPr>
                </a:tc>
                <a:tc>
                  <a:txBody>
                    <a:bodyPr/>
                    <a:lstStyle/>
                    <a:p>
                      <a:r>
                        <a:rPr sz="1725" b="0">
                          <a:solidFill>
                            <a:srgbClr val="333333"/>
                          </a:solidFill>
                          <a:latin typeface="Calibri"/>
                          <a:ea typeface="Calibri"/>
                          <a:cs typeface="Calibri"/>
                        </a:rPr>
                        <a:t>Fail</a:t>
                      </a:r>
                    </a:p>
                  </a:txBody>
                  <a:tcPr anchor="ctr">
                    <a:solidFill>
                      <a:srgbClr val="F8F5FA"/>
                    </a:solidFill>
                  </a:tcPr>
                </a:tc>
                <a:tc>
                  <a:txBody>
                    <a:bodyPr/>
                    <a:lstStyle/>
                    <a:p>
                      <a:r>
                        <a:rPr sz="1725" b="0">
                          <a:solidFill>
                            <a:srgbClr val="333333"/>
                          </a:solidFill>
                          <a:latin typeface="Calibri"/>
                          <a:ea typeface="Calibri"/>
                          <a:cs typeface="Calibri"/>
                        </a:rPr>
                        <a:t>Exam just below its minimum</a:t>
                      </a:r>
                    </a:p>
                  </a:txBody>
                  <a:tcPr anchor="ctr">
                    <a:solidFill>
                      <a:srgbClr val="F8F5FA"/>
                    </a:solidFill>
                  </a:tcPr>
                </a:tc>
                <a:extLst>
                  <a:ext uri="{0D108BD9-81ED-4DB2-BD59-A6C34878D82A}">
                    <a16:rowId xmlns:a16="http://schemas.microsoft.com/office/drawing/2014/main" val="10004"/>
                  </a:ext>
                </a:extLst>
              </a:tr>
              <a:tr h="352425">
                <a:tc>
                  <a:txBody>
                    <a:bodyPr/>
                    <a:lstStyle/>
                    <a:p>
                      <a:r>
                        <a:rPr sz="1725" b="0">
                          <a:solidFill>
                            <a:srgbClr val="333333"/>
                          </a:solidFill>
                          <a:latin typeface="Calibri"/>
                          <a:ea typeface="Calibri"/>
                          <a:cs typeface="Calibri"/>
                        </a:rPr>
                        <a:t>100</a:t>
                      </a:r>
                    </a:p>
                  </a:txBody>
                  <a:tcPr anchor="ctr">
                    <a:solidFill>
                      <a:srgbClr val="FFFFFF"/>
                    </a:solidFill>
                  </a:tcPr>
                </a:tc>
                <a:tc>
                  <a:txBody>
                    <a:bodyPr/>
                    <a:lstStyle/>
                    <a:p>
                      <a:r>
                        <a:rPr sz="1725" b="0">
                          <a:solidFill>
                            <a:srgbClr val="333333"/>
                          </a:solidFill>
                          <a:latin typeface="Calibri"/>
                          <a:ea typeface="Calibri"/>
                          <a:cs typeface="Calibri"/>
                        </a:rPr>
                        <a:t>40</a:t>
                      </a:r>
                    </a:p>
                  </a:txBody>
                  <a:tcPr anchor="ctr">
                    <a:solidFill>
                      <a:srgbClr val="FFFFFF"/>
                    </a:solidFill>
                  </a:tcPr>
                </a:tc>
                <a:tc>
                  <a:txBody>
                    <a:bodyPr/>
                    <a:lstStyle/>
                    <a:p>
                      <a:r>
                        <a:rPr sz="1725" b="0">
                          <a:solidFill>
                            <a:srgbClr val="333333"/>
                          </a:solidFill>
                          <a:latin typeface="Calibri"/>
                          <a:ea typeface="Calibri"/>
                          <a:cs typeface="Calibri"/>
                        </a:rPr>
                        <a:t>Pass</a:t>
                      </a:r>
                    </a:p>
                  </a:txBody>
                  <a:tcPr anchor="ctr">
                    <a:solidFill>
                      <a:srgbClr val="FFFFFF"/>
                    </a:solidFill>
                  </a:tcPr>
                </a:tc>
                <a:tc>
                  <a:txBody>
                    <a:bodyPr/>
                    <a:lstStyle/>
                    <a:p>
                      <a:r>
                        <a:rPr sz="1725" b="0">
                          <a:solidFill>
                            <a:srgbClr val="333333"/>
                          </a:solidFill>
                          <a:latin typeface="Calibri"/>
                          <a:ea typeface="Calibri"/>
                          <a:cs typeface="Calibri"/>
                        </a:rPr>
                        <a:t>Exam exactly at its minimum</a:t>
                      </a:r>
                    </a:p>
                  </a:txBody>
                  <a:tcPr anchor="ctr">
                    <a:solidFill>
                      <a:srgbClr val="FFFFFF"/>
                    </a:solidFill>
                  </a:tcPr>
                </a:tc>
                <a:extLst>
                  <a:ext uri="{0D108BD9-81ED-4DB2-BD59-A6C34878D82A}">
                    <a16:rowId xmlns:a16="http://schemas.microsoft.com/office/drawing/2014/main" val="10005"/>
                  </a:ext>
                </a:extLst>
              </a:tr>
              <a:tr h="352425">
                <a:tc>
                  <a:txBody>
                    <a:bodyPr/>
                    <a:lstStyle/>
                    <a:p>
                      <a:r>
                        <a:rPr sz="1725" b="0">
                          <a:solidFill>
                            <a:srgbClr val="333333"/>
                          </a:solidFill>
                          <a:latin typeface="Calibri"/>
                          <a:ea typeface="Calibri"/>
                          <a:cs typeface="Calibri"/>
                        </a:rPr>
                        <a:t>−1</a:t>
                      </a:r>
                    </a:p>
                  </a:txBody>
                  <a:tcPr anchor="ctr">
                    <a:solidFill>
                      <a:srgbClr val="F8F5FA"/>
                    </a:solidFill>
                  </a:tcPr>
                </a:tc>
                <a:tc>
                  <a:txBody>
                    <a:bodyPr/>
                    <a:lstStyle/>
                    <a:p>
                      <a:r>
                        <a:rPr sz="1725" b="0">
                          <a:solidFill>
                            <a:srgbClr val="333333"/>
                          </a:solidFill>
                          <a:latin typeface="Calibri"/>
                          <a:ea typeface="Calibri"/>
                          <a:cs typeface="Calibri"/>
                        </a:rPr>
                        <a:t>80</a:t>
                      </a:r>
                    </a:p>
                  </a:txBody>
                  <a:tcPr anchor="ctr">
                    <a:solidFill>
                      <a:srgbClr val="F8F5FA"/>
                    </a:solidFill>
                  </a:tcPr>
                </a:tc>
                <a:tc>
                  <a:txBody>
                    <a:bodyPr/>
                    <a:lstStyle/>
                    <a:p>
                      <a:r>
                        <a:rPr sz="1725" b="0">
                          <a:solidFill>
                            <a:srgbClr val="333333"/>
                          </a:solidFill>
                          <a:latin typeface="Calibri"/>
                          <a:ea typeface="Calibri"/>
                          <a:cs typeface="Calibri"/>
                        </a:rPr>
                        <a:t>Invalid</a:t>
                      </a:r>
                    </a:p>
                  </a:txBody>
                  <a:tcPr anchor="ctr">
                    <a:solidFill>
                      <a:srgbClr val="F8F5FA"/>
                    </a:solidFill>
                  </a:tcPr>
                </a:tc>
                <a:tc>
                  <a:txBody>
                    <a:bodyPr/>
                    <a:lstStyle/>
                    <a:p>
                      <a:r>
                        <a:rPr sz="1725" b="0">
                          <a:solidFill>
                            <a:srgbClr val="333333"/>
                          </a:solidFill>
                          <a:latin typeface="Calibri"/>
                          <a:ea typeface="Calibri"/>
                          <a:cs typeface="Calibri"/>
                        </a:rPr>
                        <a:t>Coursework below its range</a:t>
                      </a:r>
                    </a:p>
                  </a:txBody>
                  <a:tcPr anchor="ctr">
                    <a:solidFill>
                      <a:srgbClr val="F8F5FA"/>
                    </a:solidFill>
                  </a:tcPr>
                </a:tc>
                <a:extLst>
                  <a:ext uri="{0D108BD9-81ED-4DB2-BD59-A6C34878D82A}">
                    <a16:rowId xmlns:a16="http://schemas.microsoft.com/office/drawing/2014/main" val="10006"/>
                  </a:ext>
                </a:extLst>
              </a:tr>
              <a:tr h="352425">
                <a:tc>
                  <a:txBody>
                    <a:bodyPr/>
                    <a:lstStyle/>
                    <a:p>
                      <a:r>
                        <a:rPr sz="1725" b="0">
                          <a:solidFill>
                            <a:srgbClr val="333333"/>
                          </a:solidFill>
                          <a:latin typeface="Calibri"/>
                          <a:ea typeface="Calibri"/>
                          <a:cs typeface="Calibri"/>
                        </a:rPr>
                        <a:t>80</a:t>
                      </a:r>
                    </a:p>
                  </a:txBody>
                  <a:tcPr anchor="ctr">
                    <a:solidFill>
                      <a:srgbClr val="FFFFFF"/>
                    </a:solidFill>
                  </a:tcPr>
                </a:tc>
                <a:tc>
                  <a:txBody>
                    <a:bodyPr/>
                    <a:lstStyle/>
                    <a:p>
                      <a:r>
                        <a:rPr sz="1725" b="0">
                          <a:solidFill>
                            <a:srgbClr val="333333"/>
                          </a:solidFill>
                          <a:latin typeface="Calibri"/>
                          <a:ea typeface="Calibri"/>
                          <a:cs typeface="Calibri"/>
                        </a:rPr>
                        <a:t>101</a:t>
                      </a:r>
                    </a:p>
                  </a:txBody>
                  <a:tcPr anchor="ctr">
                    <a:solidFill>
                      <a:srgbClr val="FFFFFF"/>
                    </a:solidFill>
                  </a:tcPr>
                </a:tc>
                <a:tc>
                  <a:txBody>
                    <a:bodyPr/>
                    <a:lstStyle/>
                    <a:p>
                      <a:r>
                        <a:rPr sz="1725" b="0">
                          <a:solidFill>
                            <a:srgbClr val="333333"/>
                          </a:solidFill>
                          <a:latin typeface="Calibri"/>
                          <a:ea typeface="Calibri"/>
                          <a:cs typeface="Calibri"/>
                        </a:rPr>
                        <a:t>Invalid</a:t>
                      </a:r>
                    </a:p>
                  </a:txBody>
                  <a:tcPr anchor="ctr">
                    <a:solidFill>
                      <a:srgbClr val="FFFFFF"/>
                    </a:solidFill>
                  </a:tcPr>
                </a:tc>
                <a:tc>
                  <a:txBody>
                    <a:bodyPr/>
                    <a:lstStyle/>
                    <a:p>
                      <a:r>
                        <a:rPr sz="1725" b="0">
                          <a:solidFill>
                            <a:srgbClr val="333333"/>
                          </a:solidFill>
                          <a:latin typeface="Calibri"/>
                          <a:ea typeface="Calibri"/>
                          <a:cs typeface="Calibri"/>
                        </a:rPr>
                        <a:t>Exam above its range</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15" name="Body">
            <a:extLst>
              <a:ext uri="{FF2B5EF4-FFF2-40B4-BE49-F238E27FC236}">
                <a16:creationId xmlns:a16="http://schemas.microsoft.com/office/drawing/2014/main" id="{8E9D3B00-B437-4409-B9CA-67CAE5F07DDD}"/>
              </a:ext>
            </a:extLst>
          </p:cNvPr>
          <p:cNvSpPr>
            <a:spLocks noGrp="1"/>
          </p:cNvSpPr>
          <p:nvPr/>
        </p:nvSpPr>
        <p:spPr>
          <a:xfrm>
            <a:off x="552450" y="4629150"/>
            <a:ext cx="8039100" cy="41910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This is a starting set. Add the remaining input-range edges.</a:t>
            </a:r>
          </a:p>
        </p:txBody>
      </p:sp>
    </p:spTree>
    <p:extLst>
      <p:ext uri="{BB962C8B-B14F-4D97-AF65-F5344CB8AC3E}">
        <p14:creationId xmlns:p14="http://schemas.microsoft.com/office/powerpoint/2010/main" val="12822251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8"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Implementation after the review</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23</a:t>
            </a:r>
            <a:endParaRPr sz="2000"/>
          </a:p>
        </p:txBody>
      </p:sp>
      <p:sp>
        <p:nvSpPr>
          <p:cNvPr id="14" name="Body">
            <a:extLst>
              <a:ext uri="{FF2B5EF4-FFF2-40B4-BE49-F238E27FC236}">
                <a16:creationId xmlns:a16="http://schemas.microsoft.com/office/drawing/2014/main" id="{F873475D-09D6-429D-939D-44F60A6D6DA1}"/>
              </a:ext>
            </a:extLst>
          </p:cNvPr>
          <p:cNvSpPr>
            <a:spLocks noGrp="1"/>
          </p:cNvSpPr>
          <p:nvPr/>
        </p:nvSpPr>
        <p:spPr>
          <a:xfrm>
            <a:off x="552450" y="1724025"/>
            <a:ext cx="8039100" cy="390525"/>
          </a:xfrm>
          <a:prstGeom prst="rect">
            <a:avLst/>
          </a:prstGeom>
          <a:noFill/>
          <a:ln w="0">
            <a:noFill/>
          </a:ln>
        </p:spPr>
        <p:txBody>
          <a:bodyPr wrap="square" lIns="0" tIns="0" rIns="0" bIns="0" anchor="t">
            <a:noAutofit/>
          </a:bodyPr>
          <a:lstStyle/>
          <a:p>
            <a:pPr algn="l">
              <a:buNone/>
              <a:defRPr sz="2025" b="1">
                <a:solidFill>
                  <a:srgbClr val="4C2859"/>
                </a:solidFill>
                <a:latin typeface="Calibri"/>
                <a:ea typeface="Calibri"/>
                <a:cs typeface="Calibri"/>
              </a:defRPr>
            </a:pPr>
            <a:r>
              <a:rPr sz="2025" b="1">
                <a:solidFill>
                  <a:srgbClr val="4C2859"/>
                </a:solidFill>
                <a:latin typeface="Calibri"/>
                <a:ea typeface="Calibri"/>
                <a:cs typeface="Calibri"/>
              </a:rPr>
              <a:t>Attach requirements.md and test_plan.csv.</a:t>
            </a:r>
          </a:p>
        </p:txBody>
      </p:sp>
      <p:sp>
        <p:nvSpPr>
          <p:cNvPr id="15" name="Body">
            <a:extLst>
              <a:ext uri="{FF2B5EF4-FFF2-40B4-BE49-F238E27FC236}">
                <a16:creationId xmlns:a16="http://schemas.microsoft.com/office/drawing/2014/main" id="{CBE2D02C-D86B-42DA-9FC1-0CE45BE94A97}"/>
              </a:ext>
            </a:extLst>
          </p:cNvPr>
          <p:cNvSpPr>
            <a:spLocks noGrp="1"/>
          </p:cNvSpPr>
          <p:nvPr/>
        </p:nvSpPr>
        <p:spPr>
          <a:xfrm>
            <a:off x="552450" y="2295525"/>
            <a:ext cx="8039100" cy="2286000"/>
          </a:xfrm>
          <a:prstGeom prst="rect">
            <a:avLst/>
          </a:prstGeom>
          <a:noFill/>
          <a:ln w="0">
            <a:noFill/>
          </a:ln>
        </p:spPr>
        <p:txBody>
          <a:bodyPr wrap="square" lIns="0" tIns="0" rIns="0" bIns="0" anchor="t">
            <a:noAutofit/>
          </a:bodyPr>
          <a:lstStyle/>
          <a:p>
            <a:pPr algn="l">
              <a:buNone/>
              <a:defRPr sz="1875" b="0">
                <a:solidFill>
                  <a:srgbClr val="333333"/>
                </a:solidFill>
                <a:latin typeface="Calibri"/>
                <a:ea typeface="Calibri"/>
                <a:cs typeface="Calibri"/>
              </a:defRPr>
            </a:pPr>
            <a:r>
              <a:rPr sz="1875" b="0">
                <a:solidFill>
                  <a:srgbClr val="333333"/>
                </a:solidFill>
                <a:latin typeface="Calibri"/>
                <a:ea typeface="Calibri"/>
                <a:cs typeface="Calibri"/>
              </a:rPr>
              <a:t>“We have reviewed these requirements and expected results.</a:t>
            </a:r>
          </a:p>
          <a:p>
            <a:endParaRPr sz="1875" b="0">
              <a:solidFill>
                <a:srgbClr val="333333"/>
              </a:solidFill>
              <a:latin typeface="Calibri"/>
              <a:ea typeface="Calibri"/>
              <a:cs typeface="Calibri"/>
            </a:endParaRPr>
          </a:p>
          <a:p>
            <a:pPr algn="l">
              <a:buNone/>
              <a:defRPr sz="1875" b="0">
                <a:solidFill>
                  <a:srgbClr val="333333"/>
                </a:solidFill>
                <a:latin typeface="Calibri"/>
                <a:ea typeface="Calibri"/>
                <a:cs typeface="Calibri"/>
              </a:defRPr>
            </a:pPr>
            <a:r>
              <a:rPr sz="1875" b="0">
                <a:solidFill>
                  <a:srgbClr val="333333"/>
                </a:solidFill>
                <a:latin typeface="Calibri"/>
                <a:ea typeface="Calibri"/>
                <a:cs typeface="Calibri"/>
              </a:rPr>
              <a:t>Explain your plan and wait for my review. After approval, create result_checker.py using beginner-level Python. Keep the agreed requirements and test expectations.</a:t>
            </a:r>
          </a:p>
          <a:p>
            <a:endParaRPr sz="1875" b="0">
              <a:solidFill>
                <a:srgbClr val="333333"/>
              </a:solidFill>
              <a:latin typeface="Calibri"/>
              <a:ea typeface="Calibri"/>
              <a:cs typeface="Calibri"/>
            </a:endParaRPr>
          </a:p>
          <a:p>
            <a:pPr algn="l">
              <a:buNone/>
              <a:defRPr sz="1875" b="0">
                <a:solidFill>
                  <a:srgbClr val="333333"/>
                </a:solidFill>
                <a:latin typeface="Calibri"/>
                <a:ea typeface="Calibri"/>
                <a:cs typeface="Calibri"/>
              </a:defRPr>
            </a:pPr>
            <a:r>
              <a:rPr sz="1875" b="0">
                <a:solidFill>
                  <a:srgbClr val="333333"/>
                </a:solidFill>
                <a:latin typeface="Calibri"/>
                <a:ea typeface="Calibri"/>
                <a:cs typeface="Calibri"/>
              </a:rPr>
              <a:t>Run the cases and report the command, actual output and any mismatch. Explain every change you make.”</a:t>
            </a:r>
          </a:p>
        </p:txBody>
      </p:sp>
      <p:sp>
        <p:nvSpPr>
          <p:cNvPr id="16" name="Body">
            <a:extLst>
              <a:ext uri="{FF2B5EF4-FFF2-40B4-BE49-F238E27FC236}">
                <a16:creationId xmlns:a16="http://schemas.microsoft.com/office/drawing/2014/main" id="{DB368D39-86FD-4C47-BDEC-7A0E3CE0A9FA}"/>
              </a:ext>
            </a:extLst>
          </p:cNvPr>
          <p:cNvSpPr>
            <a:spLocks noGrp="1"/>
          </p:cNvSpPr>
          <p:nvPr/>
        </p:nvSpPr>
        <p:spPr>
          <a:xfrm>
            <a:off x="552450" y="4629150"/>
            <a:ext cx="8039100" cy="41910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Review the plan and code. Keep the required evidence.</a:t>
            </a:r>
          </a:p>
        </p:txBody>
      </p:sp>
    </p:spTree>
    <p:extLst>
      <p:ext uri="{BB962C8B-B14F-4D97-AF65-F5344CB8AC3E}">
        <p14:creationId xmlns:p14="http://schemas.microsoft.com/office/powerpoint/2010/main" val="12822251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7"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A teaching draft with bugs</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24</a:t>
            </a:r>
            <a:endParaRPr sz="2000"/>
          </a:p>
        </p:txBody>
      </p:sp>
      <p:sp>
        <p:nvSpPr>
          <p:cNvPr id="14" name="Body">
            <a:extLst>
              <a:ext uri="{FF2B5EF4-FFF2-40B4-BE49-F238E27FC236}">
                <a16:creationId xmlns:a16="http://schemas.microsoft.com/office/drawing/2014/main" id="{8D2A15B0-7C34-47EB-8FAE-B9F7678A4032}"/>
              </a:ext>
            </a:extLst>
          </p:cNvPr>
          <p:cNvSpPr>
            <a:spLocks noGrp="1"/>
          </p:cNvSpPr>
          <p:nvPr/>
        </p:nvSpPr>
        <p:spPr>
          <a:xfrm>
            <a:off x="552450" y="1676400"/>
            <a:ext cx="8039100" cy="381000"/>
          </a:xfrm>
          <a:prstGeom prst="rect">
            <a:avLst/>
          </a:prstGeom>
          <a:noFill/>
          <a:ln w="0">
            <a:noFill/>
          </a:ln>
        </p:spPr>
        <p:txBody>
          <a:bodyPr wrap="square" lIns="0" tIns="0" rIns="0" bIns="0" anchor="t">
            <a:noAutofit/>
          </a:bodyPr>
          <a:lstStyle/>
          <a:p>
            <a:pPr algn="l">
              <a:buNone/>
              <a:defRPr sz="1800" b="1">
                <a:solidFill>
                  <a:srgbClr val="B50C70"/>
                </a:solidFill>
                <a:latin typeface="Calibri"/>
                <a:ea typeface="Calibri"/>
                <a:cs typeface="Calibri"/>
              </a:defRPr>
            </a:pPr>
            <a:r>
              <a:rPr sz="1800" b="1">
                <a:solidFill>
                  <a:srgbClr val="B50C70"/>
                </a:solidFill>
                <a:latin typeface="Calibri"/>
                <a:ea typeface="Calibri"/>
                <a:cs typeface="Calibri"/>
              </a:rPr>
              <a:t>Use this deliberately faulty draft to practise verification.</a:t>
            </a:r>
          </a:p>
        </p:txBody>
      </p:sp>
      <p:sp>
        <p:nvSpPr>
          <p:cNvPr id="15" name="Body">
            <a:extLst>
              <a:ext uri="{FF2B5EF4-FFF2-40B4-BE49-F238E27FC236}">
                <a16:creationId xmlns:a16="http://schemas.microsoft.com/office/drawing/2014/main" id="{A13E31F0-A4D1-4923-8F67-BBA0ED7C698F}"/>
              </a:ext>
            </a:extLst>
          </p:cNvPr>
          <p:cNvSpPr>
            <a:spLocks noGrp="1"/>
          </p:cNvSpPr>
          <p:nvPr/>
        </p:nvSpPr>
        <p:spPr>
          <a:xfrm>
            <a:off x="552450" y="2171700"/>
            <a:ext cx="8039100" cy="2676525"/>
          </a:xfrm>
          <a:prstGeom prst="rect">
            <a:avLst/>
          </a:prstGeom>
          <a:solidFill>
            <a:srgbClr val="202020"/>
          </a:solidFill>
          <a:ln w="0">
            <a:noFill/>
          </a:ln>
        </p:spPr>
        <p:txBody>
          <a:bodyPr wrap="square" lIns="152400" tIns="152400" rIns="152400" bIns="152400" anchor="t">
            <a:noAutofit/>
          </a:bodyPr>
          <a:lstStyle/>
          <a:p>
            <a:pPr algn="l">
              <a:buNone/>
              <a:defRPr sz="1800" b="0">
                <a:solidFill>
                  <a:srgbClr val="F4F4F4"/>
                </a:solidFill>
                <a:latin typeface="Consolas"/>
                <a:ea typeface="Consolas"/>
                <a:cs typeface="Consolas"/>
              </a:defRPr>
            </a:pPr>
            <a:r>
              <a:rPr sz="1800" b="0">
                <a:solidFill>
                  <a:srgbClr val="F4F4F4"/>
                </a:solidFill>
                <a:latin typeface="Consolas"/>
                <a:ea typeface="Consolas"/>
                <a:cs typeface="Consolas"/>
              </a:rPr>
              <a:t>cw = int(input())</a:t>
            </a:r>
          </a:p>
          <a:p>
            <a:pPr algn="l">
              <a:buNone/>
              <a:defRPr sz="1800" b="0">
                <a:solidFill>
                  <a:srgbClr val="F4F4F4"/>
                </a:solidFill>
                <a:latin typeface="Consolas"/>
                <a:ea typeface="Consolas"/>
                <a:cs typeface="Consolas"/>
              </a:defRPr>
            </a:pPr>
            <a:r>
              <a:rPr sz="1800" b="0">
                <a:solidFill>
                  <a:srgbClr val="F4F4F4"/>
                </a:solidFill>
                <a:latin typeface="Consolas"/>
                <a:ea typeface="Consolas"/>
                <a:cs typeface="Consolas"/>
              </a:rPr>
              <a:t>exam = int(input())</a:t>
            </a:r>
          </a:p>
          <a:p>
            <a:pPr algn="l">
              <a:buNone/>
              <a:defRPr sz="1800" b="0">
                <a:solidFill>
                  <a:srgbClr val="F4F4F4"/>
                </a:solidFill>
                <a:latin typeface="Consolas"/>
                <a:ea typeface="Consolas"/>
                <a:cs typeface="Consolas"/>
              </a:defRPr>
            </a:pPr>
            <a:r>
              <a:rPr sz="1800" b="0">
                <a:solidFill>
                  <a:srgbClr val="F4F4F4"/>
                </a:solidFill>
                <a:latin typeface="Consolas"/>
                <a:ea typeface="Consolas"/>
                <a:cs typeface="Consolas"/>
              </a:rPr>
              <a:t>total = (4 * cw + 6 * exam) / 10</a:t>
            </a:r>
          </a:p>
          <a:p>
            <a:pPr algn="l">
              <a:buNone/>
              <a:defRPr sz="1800" b="0">
                <a:solidFill>
                  <a:srgbClr val="F4F4F4"/>
                </a:solidFill>
                <a:latin typeface="Consolas"/>
                <a:ea typeface="Consolas"/>
                <a:cs typeface="Consolas"/>
              </a:defRPr>
            </a:pPr>
            <a:r>
              <a:rPr sz="1800" b="0">
                <a:solidFill>
                  <a:srgbClr val="F4F4F4"/>
                </a:solidFill>
                <a:latin typeface="Consolas"/>
                <a:ea typeface="Consolas"/>
                <a:cs typeface="Consolas"/>
              </a:rPr>
              <a:t>if cw &lt; 0 or cw &gt; 100:</a:t>
            </a:r>
          </a:p>
          <a:p>
            <a:pPr algn="l">
              <a:buNone/>
              <a:defRPr sz="1800" b="0">
                <a:solidFill>
                  <a:srgbClr val="F4F4F4"/>
                </a:solidFill>
                <a:latin typeface="Consolas"/>
                <a:ea typeface="Consolas"/>
                <a:cs typeface="Consolas"/>
              </a:defRPr>
            </a:pPr>
            <a:r>
              <a:rPr sz="1800" b="0">
                <a:solidFill>
                  <a:srgbClr val="F4F4F4"/>
                </a:solidFill>
                <a:latin typeface="Consolas"/>
                <a:ea typeface="Consolas"/>
                <a:cs typeface="Consolas"/>
              </a:rPr>
              <a:t>    print("Invalid")</a:t>
            </a:r>
          </a:p>
          <a:p>
            <a:pPr algn="l">
              <a:buNone/>
              <a:defRPr sz="1800" b="0">
                <a:solidFill>
                  <a:srgbClr val="F4F4F4"/>
                </a:solidFill>
                <a:latin typeface="Consolas"/>
                <a:ea typeface="Consolas"/>
                <a:cs typeface="Consolas"/>
              </a:defRPr>
            </a:pPr>
            <a:r>
              <a:rPr sz="1800" b="0">
                <a:solidFill>
                  <a:srgbClr val="F4F4F4"/>
                </a:solidFill>
                <a:latin typeface="Consolas"/>
                <a:ea typeface="Consolas"/>
                <a:cs typeface="Consolas"/>
              </a:rPr>
              <a:t>elif total &gt; 50:</a:t>
            </a:r>
          </a:p>
          <a:p>
            <a:pPr algn="l">
              <a:buNone/>
              <a:defRPr sz="1800" b="0">
                <a:solidFill>
                  <a:srgbClr val="F4F4F4"/>
                </a:solidFill>
                <a:latin typeface="Consolas"/>
                <a:ea typeface="Consolas"/>
                <a:cs typeface="Consolas"/>
              </a:defRPr>
            </a:pPr>
            <a:r>
              <a:rPr sz="1800" b="0">
                <a:solidFill>
                  <a:srgbClr val="F4F4F4"/>
                </a:solidFill>
                <a:latin typeface="Consolas"/>
                <a:ea typeface="Consolas"/>
                <a:cs typeface="Consolas"/>
              </a:rPr>
              <a:t>    print("Pass")</a:t>
            </a:r>
          </a:p>
          <a:p>
            <a:pPr algn="l">
              <a:buNone/>
              <a:defRPr sz="1800" b="0">
                <a:solidFill>
                  <a:srgbClr val="F4F4F4"/>
                </a:solidFill>
                <a:latin typeface="Consolas"/>
                <a:ea typeface="Consolas"/>
                <a:cs typeface="Consolas"/>
              </a:defRPr>
            </a:pPr>
            <a:r>
              <a:rPr sz="1800" b="0">
                <a:solidFill>
                  <a:srgbClr val="F4F4F4"/>
                </a:solidFill>
                <a:latin typeface="Consolas"/>
                <a:ea typeface="Consolas"/>
                <a:cs typeface="Consolas"/>
              </a:rPr>
              <a:t>else:</a:t>
            </a:r>
          </a:p>
          <a:p>
            <a:pPr algn="l">
              <a:buNone/>
              <a:defRPr sz="1800" b="0">
                <a:solidFill>
                  <a:srgbClr val="F4F4F4"/>
                </a:solidFill>
                <a:latin typeface="Consolas"/>
                <a:ea typeface="Consolas"/>
                <a:cs typeface="Consolas"/>
              </a:defRPr>
            </a:pPr>
            <a:r>
              <a:rPr sz="1800" b="0">
                <a:solidFill>
                  <a:srgbClr val="F4F4F4"/>
                </a:solidFill>
                <a:latin typeface="Consolas"/>
                <a:ea typeface="Consolas"/>
                <a:cs typeface="Consolas"/>
              </a:rPr>
              <a:t>    print("Fail")</a:t>
            </a:r>
          </a:p>
        </p:txBody>
      </p:sp>
    </p:spTree>
    <p:extLst>
      <p:ext uri="{BB962C8B-B14F-4D97-AF65-F5344CB8AC3E}">
        <p14:creationId xmlns:p14="http://schemas.microsoft.com/office/powerpoint/2010/main" val="12822251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8"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Run tests and record evidence</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25</a:t>
            </a:r>
            <a:endParaRPr sz="2000"/>
          </a:p>
        </p:txBody>
      </p:sp>
      <p:sp>
        <p:nvSpPr>
          <p:cNvPr id="14" name="Body">
            <a:extLst>
              <a:ext uri="{FF2B5EF4-FFF2-40B4-BE49-F238E27FC236}">
                <a16:creationId xmlns:a16="http://schemas.microsoft.com/office/drawing/2014/main" id="{BDC909F9-9D5A-41D4-9739-185EEF74962D}"/>
              </a:ext>
            </a:extLst>
          </p:cNvPr>
          <p:cNvSpPr>
            <a:spLocks noGrp="1"/>
          </p:cNvSpPr>
          <p:nvPr/>
        </p:nvSpPr>
        <p:spPr>
          <a:xfrm>
            <a:off x="552450" y="1685925"/>
            <a:ext cx="8039100" cy="438150"/>
          </a:xfrm>
          <a:prstGeom prst="rect">
            <a:avLst/>
          </a:prstGeom>
          <a:noFill/>
          <a:ln w="0">
            <a:noFill/>
          </a:ln>
        </p:spPr>
        <p:txBody>
          <a:bodyPr wrap="square" lIns="0" tIns="0" rIns="0" bIns="0" anchor="t">
            <a:noAutofit/>
          </a:bodyPr>
          <a:lstStyle/>
          <a:p>
            <a:pPr algn="l">
              <a:buNone/>
              <a:defRPr sz="1875" b="0">
                <a:solidFill>
                  <a:srgbClr val="333333"/>
                </a:solidFill>
                <a:latin typeface="Calibri"/>
                <a:ea typeface="Calibri"/>
                <a:cs typeface="Calibri"/>
              </a:defRPr>
            </a:pPr>
            <a:r>
              <a:rPr sz="1875" b="0">
                <a:solidFill>
                  <a:srgbClr val="333333"/>
                </a:solidFill>
                <a:latin typeface="Calibri"/>
                <a:ea typeface="Calibri"/>
                <a:cs typeface="Calibri"/>
              </a:rPr>
              <a:t>Run the program again for each input pair. Record what it prints.</a:t>
            </a:r>
          </a:p>
        </p:txBody>
      </p:sp>
      <p:sp>
        <p:nvSpPr>
          <p:cNvPr id="15" name="Screenshot E">
            <a:extLst>
              <a:ext uri="{FF2B5EF4-FFF2-40B4-BE49-F238E27FC236}">
                <a16:creationId xmlns:a16="http://schemas.microsoft.com/office/drawing/2014/main" id="{A2DAFE4C-3DC5-40F0-97B7-5D020135FCEF}"/>
              </a:ext>
            </a:extLst>
          </p:cNvPr>
          <p:cNvSpPr>
            <a:spLocks noGrp="1"/>
          </p:cNvSpPr>
          <p:nvPr/>
        </p:nvSpPr>
        <p:spPr>
          <a:xfrm>
            <a:off x="552450" y="2238375"/>
            <a:ext cx="8039100" cy="2333625"/>
          </a:xfrm>
          <a:prstGeom prst="rect">
            <a:avLst/>
          </a:prstGeom>
          <a:solidFill>
            <a:srgbClr val="F7F5F8"/>
          </a:solidFill>
          <a:ln w="13335">
            <a:solidFill>
              <a:srgbClr val="A790AF"/>
            </a:solidFill>
          </a:ln>
        </p:spPr>
        <p:txBody>
          <a:bodyPr wrap="square" lIns="190500" tIns="190500" rIns="190500" bIns="190500" anchor="ctr">
            <a:noAutofit/>
          </a:bodyPr>
          <a:lstStyle/>
          <a:p>
            <a:pPr algn="ctr">
              <a:buNone/>
              <a:defRPr sz="1650" b="0">
                <a:solidFill>
                  <a:srgbClr val="666666"/>
                </a:solidFill>
                <a:latin typeface="Calibri"/>
                <a:ea typeface="Calibri"/>
                <a:cs typeface="Calibri"/>
              </a:defRPr>
            </a:pPr>
            <a:r>
              <a:rPr sz="1650" b="0">
                <a:solidFill>
                  <a:srgbClr val="666666"/>
                </a:solidFill>
                <a:latin typeface="Calibri"/>
                <a:ea typeface="Calibri"/>
                <a:cs typeface="Calibri"/>
              </a:rPr>
              <a:t>SCREENSHOT E: Terminal input and actual output</a:t>
            </a:r>
          </a:p>
          <a:p>
            <a:endParaRPr sz="1650" b="0">
              <a:solidFill>
                <a:srgbClr val="666666"/>
              </a:solidFill>
              <a:latin typeface="Calibri"/>
              <a:ea typeface="Calibri"/>
              <a:cs typeface="Calibri"/>
            </a:endParaRPr>
          </a:p>
          <a:p>
            <a:pPr algn="ctr">
              <a:buNone/>
              <a:defRPr sz="1650" b="0">
                <a:solidFill>
                  <a:srgbClr val="666666"/>
                </a:solidFill>
                <a:latin typeface="Calibri"/>
                <a:ea typeface="Calibri"/>
                <a:cs typeface="Calibri"/>
              </a:defRPr>
            </a:pPr>
            <a:r>
              <a:rPr sz="1650" b="0">
                <a:solidFill>
                  <a:srgbClr val="666666"/>
                </a:solidFill>
                <a:latin typeface="Calibri"/>
                <a:ea typeface="Calibri"/>
                <a:cs typeface="Calibri"/>
              </a:rPr>
              <a:t>Run teaching_draft.py. Enter 50, then 50. Show the command, both inputs and the actual output Fail.</a:t>
            </a:r>
          </a:p>
        </p:txBody>
      </p:sp>
      <p:sp>
        <p:nvSpPr>
          <p:cNvPr id="16" name="Body">
            <a:extLst>
              <a:ext uri="{FF2B5EF4-FFF2-40B4-BE49-F238E27FC236}">
                <a16:creationId xmlns:a16="http://schemas.microsoft.com/office/drawing/2014/main" id="{E6B9A7D6-6A96-4BDE-BCA5-9F88EBE90DBA}"/>
              </a:ext>
            </a:extLst>
          </p:cNvPr>
          <p:cNvSpPr>
            <a:spLocks noGrp="1"/>
          </p:cNvSpPr>
          <p:nvPr/>
        </p:nvSpPr>
        <p:spPr>
          <a:xfrm>
            <a:off x="552450" y="4629150"/>
            <a:ext cx="8039100" cy="41910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Expected: Pass. Actual from this draft: Fail.</a:t>
            </a:r>
          </a:p>
        </p:txBody>
      </p:sp>
      <p:pic>
        <p:nvPicPr>
          <p:cNvPr id="2" name="图片 1">
            <a:extLst>
              <a:ext uri="{FF2B5EF4-FFF2-40B4-BE49-F238E27FC236}">
                <a16:creationId xmlns:a16="http://schemas.microsoft.com/office/drawing/2014/main" id="{52628E65-3211-9565-ED35-4549E97F1809}"/>
              </a:ext>
            </a:extLst>
          </p:cNvPr>
          <p:cNvPicPr>
            <a:picLocks noChangeAspect="1"/>
          </p:cNvPicPr>
          <p:nvPr/>
        </p:nvPicPr>
        <p:blipFill>
          <a:blip r:embed="rId4"/>
          <a:stretch>
            <a:fillRect/>
          </a:stretch>
        </p:blipFill>
        <p:spPr>
          <a:xfrm>
            <a:off x="548640" y="2240884"/>
            <a:ext cx="8042910" cy="2374345"/>
          </a:xfrm>
          <a:prstGeom prst="rect">
            <a:avLst/>
          </a:prstGeom>
        </p:spPr>
      </p:pic>
    </p:spTree>
    <p:extLst>
      <p:ext uri="{BB962C8B-B14F-4D97-AF65-F5344CB8AC3E}">
        <p14:creationId xmlns:p14="http://schemas.microsoft.com/office/powerpoint/2010/main" val="12822251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8"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What the tests reveal</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26</a:t>
            </a:r>
            <a:endParaRPr sz="2000"/>
          </a:p>
        </p:txBody>
      </p:sp>
      <p:graphicFrame>
        <p:nvGraphicFramePr>
          <p:cNvPr id="22" name="表格 19"/>
          <p:cNvGraphicFramePr/>
          <p:nvPr/>
        </p:nvGraphicFramePr>
        <p:xfrm>
          <a:off x="552450" y="1752600"/>
          <a:ext cx="8039100" cy="2514600"/>
        </p:xfrm>
        <a:graphic>
          <a:graphicData uri="http://schemas.openxmlformats.org/drawingml/2006/table">
            <a:tbl>
              <a:tblPr/>
              <a:tblGrid>
                <a:gridCol w="238125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2038350">
                  <a:extLst>
                    <a:ext uri="{9D8B030D-6E8A-4147-A177-3AD203B41FA5}">
                      <a16:colId xmlns:a16="http://schemas.microsoft.com/office/drawing/2014/main" val="20003"/>
                    </a:ext>
                  </a:extLst>
                </a:gridCol>
              </a:tblGrid>
              <a:tr h="502920">
                <a:tc>
                  <a:txBody>
                    <a:bodyPr/>
                    <a:lstStyle/>
                    <a:p>
                      <a:r>
                        <a:rPr sz="1875" b="1">
                          <a:solidFill>
                            <a:srgbClr val="FFFFFF"/>
                          </a:solidFill>
                          <a:latin typeface="Calibri"/>
                          <a:ea typeface="Calibri"/>
                          <a:cs typeface="Calibri"/>
                        </a:rPr>
                        <a:t>Coursework / Exam</a:t>
                      </a:r>
                    </a:p>
                  </a:txBody>
                  <a:tcPr anchor="ctr">
                    <a:solidFill>
                      <a:srgbClr val="4C2859"/>
                    </a:solidFill>
                  </a:tcPr>
                </a:tc>
                <a:tc>
                  <a:txBody>
                    <a:bodyPr/>
                    <a:lstStyle/>
                    <a:p>
                      <a:r>
                        <a:rPr sz="1875" b="1">
                          <a:solidFill>
                            <a:srgbClr val="FFFFFF"/>
                          </a:solidFill>
                          <a:latin typeface="Calibri"/>
                          <a:ea typeface="Calibri"/>
                          <a:cs typeface="Calibri"/>
                        </a:rPr>
                        <a:t>Expected</a:t>
                      </a:r>
                    </a:p>
                  </a:txBody>
                  <a:tcPr anchor="ctr">
                    <a:solidFill>
                      <a:srgbClr val="4C2859"/>
                    </a:solidFill>
                  </a:tcPr>
                </a:tc>
                <a:tc>
                  <a:txBody>
                    <a:bodyPr/>
                    <a:lstStyle/>
                    <a:p>
                      <a:r>
                        <a:rPr sz="1875" b="1">
                          <a:solidFill>
                            <a:srgbClr val="FFFFFF"/>
                          </a:solidFill>
                          <a:latin typeface="Calibri"/>
                          <a:ea typeface="Calibri"/>
                          <a:cs typeface="Calibri"/>
                        </a:rPr>
                        <a:t>Draft output</a:t>
                      </a:r>
                    </a:p>
                  </a:txBody>
                  <a:tcPr anchor="ctr">
                    <a:solidFill>
                      <a:srgbClr val="4C2859"/>
                    </a:solidFill>
                  </a:tcPr>
                </a:tc>
                <a:tc>
                  <a:txBody>
                    <a:bodyPr/>
                    <a:lstStyle/>
                    <a:p>
                      <a:r>
                        <a:rPr sz="1875" b="1">
                          <a:solidFill>
                            <a:srgbClr val="FFFFFF"/>
                          </a:solidFill>
                          <a:latin typeface="Calibri"/>
                          <a:ea typeface="Calibri"/>
                          <a:cs typeface="Calibri"/>
                        </a:rPr>
                        <a:t>Verdict</a:t>
                      </a:r>
                    </a:p>
                  </a:txBody>
                  <a:tcPr anchor="ctr">
                    <a:solidFill>
                      <a:srgbClr val="4C2859"/>
                    </a:solidFill>
                  </a:tcPr>
                </a:tc>
                <a:extLst>
                  <a:ext uri="{0D108BD9-81ED-4DB2-BD59-A6C34878D82A}">
                    <a16:rowId xmlns:a16="http://schemas.microsoft.com/office/drawing/2014/main" val="10000"/>
                  </a:ext>
                </a:extLst>
              </a:tr>
              <a:tr h="502920">
                <a:tc>
                  <a:txBody>
                    <a:bodyPr/>
                    <a:lstStyle/>
                    <a:p>
                      <a:r>
                        <a:rPr sz="1875" b="0">
                          <a:solidFill>
                            <a:srgbClr val="333333"/>
                          </a:solidFill>
                          <a:latin typeface="Calibri"/>
                          <a:ea typeface="Calibri"/>
                          <a:cs typeface="Calibri"/>
                        </a:rPr>
                        <a:t>80 / 80</a:t>
                      </a:r>
                    </a:p>
                  </a:txBody>
                  <a:tcPr anchor="ctr">
                    <a:solidFill>
                      <a:srgbClr val="FFFFFF"/>
                    </a:solidFill>
                  </a:tcPr>
                </a:tc>
                <a:tc>
                  <a:txBody>
                    <a:bodyPr/>
                    <a:lstStyle/>
                    <a:p>
                      <a:r>
                        <a:rPr sz="1875" b="0">
                          <a:solidFill>
                            <a:srgbClr val="333333"/>
                          </a:solidFill>
                          <a:latin typeface="Calibri"/>
                          <a:ea typeface="Calibri"/>
                          <a:cs typeface="Calibri"/>
                        </a:rPr>
                        <a:t>Pass</a:t>
                      </a:r>
                    </a:p>
                  </a:txBody>
                  <a:tcPr anchor="ctr">
                    <a:solidFill>
                      <a:srgbClr val="FFFFFF"/>
                    </a:solidFill>
                  </a:tcPr>
                </a:tc>
                <a:tc>
                  <a:txBody>
                    <a:bodyPr/>
                    <a:lstStyle/>
                    <a:p>
                      <a:r>
                        <a:rPr sz="1875" b="0">
                          <a:solidFill>
                            <a:srgbClr val="333333"/>
                          </a:solidFill>
                          <a:latin typeface="Calibri"/>
                          <a:ea typeface="Calibri"/>
                          <a:cs typeface="Calibri"/>
                        </a:rPr>
                        <a:t>Pass</a:t>
                      </a:r>
                    </a:p>
                  </a:txBody>
                  <a:tcPr anchor="ctr">
                    <a:solidFill>
                      <a:srgbClr val="FFFFFF"/>
                    </a:solidFill>
                  </a:tcPr>
                </a:tc>
                <a:tc>
                  <a:txBody>
                    <a:bodyPr/>
                    <a:lstStyle/>
                    <a:p>
                      <a:r>
                        <a:rPr sz="1875" b="0">
                          <a:solidFill>
                            <a:srgbClr val="333333"/>
                          </a:solidFill>
                          <a:latin typeface="Calibri"/>
                          <a:ea typeface="Calibri"/>
                          <a:cs typeface="Calibri"/>
                        </a:rPr>
                        <a:t>Passed</a:t>
                      </a:r>
                    </a:p>
                  </a:txBody>
                  <a:tcPr anchor="ctr">
                    <a:solidFill>
                      <a:srgbClr val="FFFFFF"/>
                    </a:solidFill>
                  </a:tcPr>
                </a:tc>
                <a:extLst>
                  <a:ext uri="{0D108BD9-81ED-4DB2-BD59-A6C34878D82A}">
                    <a16:rowId xmlns:a16="http://schemas.microsoft.com/office/drawing/2014/main" val="10001"/>
                  </a:ext>
                </a:extLst>
              </a:tr>
              <a:tr h="502920">
                <a:tc>
                  <a:txBody>
                    <a:bodyPr/>
                    <a:lstStyle/>
                    <a:p>
                      <a:r>
                        <a:rPr sz="1875" b="0">
                          <a:solidFill>
                            <a:srgbClr val="333333"/>
                          </a:solidFill>
                          <a:latin typeface="Calibri"/>
                          <a:ea typeface="Calibri"/>
                          <a:cs typeface="Calibri"/>
                        </a:rPr>
                        <a:t>50 / 50</a:t>
                      </a:r>
                    </a:p>
                  </a:txBody>
                  <a:tcPr anchor="ctr">
                    <a:solidFill>
                      <a:srgbClr val="F8F5FA"/>
                    </a:solidFill>
                  </a:tcPr>
                </a:tc>
                <a:tc>
                  <a:txBody>
                    <a:bodyPr/>
                    <a:lstStyle/>
                    <a:p>
                      <a:r>
                        <a:rPr sz="1875" b="0">
                          <a:solidFill>
                            <a:srgbClr val="333333"/>
                          </a:solidFill>
                          <a:latin typeface="Calibri"/>
                          <a:ea typeface="Calibri"/>
                          <a:cs typeface="Calibri"/>
                        </a:rPr>
                        <a:t>Pass</a:t>
                      </a:r>
                    </a:p>
                  </a:txBody>
                  <a:tcPr anchor="ctr">
                    <a:solidFill>
                      <a:srgbClr val="F8F5FA"/>
                    </a:solidFill>
                  </a:tcPr>
                </a:tc>
                <a:tc>
                  <a:txBody>
                    <a:bodyPr/>
                    <a:lstStyle/>
                    <a:p>
                      <a:r>
                        <a:rPr sz="1875" b="0">
                          <a:solidFill>
                            <a:srgbClr val="333333"/>
                          </a:solidFill>
                          <a:latin typeface="Calibri"/>
                          <a:ea typeface="Calibri"/>
                          <a:cs typeface="Calibri"/>
                        </a:rPr>
                        <a:t>Fail</a:t>
                      </a:r>
                    </a:p>
                  </a:txBody>
                  <a:tcPr anchor="ctr">
                    <a:solidFill>
                      <a:srgbClr val="F8F5FA"/>
                    </a:solidFill>
                  </a:tcPr>
                </a:tc>
                <a:tc>
                  <a:txBody>
                    <a:bodyPr/>
                    <a:lstStyle/>
                    <a:p>
                      <a:r>
                        <a:rPr sz="1875" b="0">
                          <a:solidFill>
                            <a:srgbClr val="333333"/>
                          </a:solidFill>
                          <a:latin typeface="Calibri"/>
                          <a:ea typeface="Calibri"/>
                          <a:cs typeface="Calibri"/>
                        </a:rPr>
                        <a:t>FAILED</a:t>
                      </a:r>
                    </a:p>
                  </a:txBody>
                  <a:tcPr anchor="ctr">
                    <a:solidFill>
                      <a:srgbClr val="F8F5FA"/>
                    </a:solidFill>
                  </a:tcPr>
                </a:tc>
                <a:extLst>
                  <a:ext uri="{0D108BD9-81ED-4DB2-BD59-A6C34878D82A}">
                    <a16:rowId xmlns:a16="http://schemas.microsoft.com/office/drawing/2014/main" val="10002"/>
                  </a:ext>
                </a:extLst>
              </a:tr>
              <a:tr h="502920">
                <a:tc>
                  <a:txBody>
                    <a:bodyPr/>
                    <a:lstStyle/>
                    <a:p>
                      <a:r>
                        <a:rPr sz="1875" b="0">
                          <a:solidFill>
                            <a:srgbClr val="333333"/>
                          </a:solidFill>
                          <a:latin typeface="Calibri"/>
                          <a:ea typeface="Calibri"/>
                          <a:cs typeface="Calibri"/>
                        </a:rPr>
                        <a:t>100 / 39</a:t>
                      </a:r>
                    </a:p>
                  </a:txBody>
                  <a:tcPr anchor="ctr">
                    <a:solidFill>
                      <a:srgbClr val="FFFFFF"/>
                    </a:solidFill>
                  </a:tcPr>
                </a:tc>
                <a:tc>
                  <a:txBody>
                    <a:bodyPr/>
                    <a:lstStyle/>
                    <a:p>
                      <a:r>
                        <a:rPr sz="1875" b="0">
                          <a:solidFill>
                            <a:srgbClr val="333333"/>
                          </a:solidFill>
                          <a:latin typeface="Calibri"/>
                          <a:ea typeface="Calibri"/>
                          <a:cs typeface="Calibri"/>
                        </a:rPr>
                        <a:t>Fail</a:t>
                      </a:r>
                    </a:p>
                  </a:txBody>
                  <a:tcPr anchor="ctr">
                    <a:solidFill>
                      <a:srgbClr val="FFFFFF"/>
                    </a:solidFill>
                  </a:tcPr>
                </a:tc>
                <a:tc>
                  <a:txBody>
                    <a:bodyPr/>
                    <a:lstStyle/>
                    <a:p>
                      <a:r>
                        <a:rPr sz="1875" b="0">
                          <a:solidFill>
                            <a:srgbClr val="333333"/>
                          </a:solidFill>
                          <a:latin typeface="Calibri"/>
                          <a:ea typeface="Calibri"/>
                          <a:cs typeface="Calibri"/>
                        </a:rPr>
                        <a:t>Pass</a:t>
                      </a:r>
                    </a:p>
                  </a:txBody>
                  <a:tcPr anchor="ctr">
                    <a:solidFill>
                      <a:srgbClr val="FFFFFF"/>
                    </a:solidFill>
                  </a:tcPr>
                </a:tc>
                <a:tc>
                  <a:txBody>
                    <a:bodyPr/>
                    <a:lstStyle/>
                    <a:p>
                      <a:r>
                        <a:rPr sz="1875" b="0">
                          <a:solidFill>
                            <a:srgbClr val="333333"/>
                          </a:solidFill>
                          <a:latin typeface="Calibri"/>
                          <a:ea typeface="Calibri"/>
                          <a:cs typeface="Calibri"/>
                        </a:rPr>
                        <a:t>FAILED</a:t>
                      </a:r>
                    </a:p>
                  </a:txBody>
                  <a:tcPr anchor="ctr">
                    <a:solidFill>
                      <a:srgbClr val="FFFFFF"/>
                    </a:solidFill>
                  </a:tcPr>
                </a:tc>
                <a:extLst>
                  <a:ext uri="{0D108BD9-81ED-4DB2-BD59-A6C34878D82A}">
                    <a16:rowId xmlns:a16="http://schemas.microsoft.com/office/drawing/2014/main" val="10003"/>
                  </a:ext>
                </a:extLst>
              </a:tr>
              <a:tr h="502920">
                <a:tc>
                  <a:txBody>
                    <a:bodyPr/>
                    <a:lstStyle/>
                    <a:p>
                      <a:r>
                        <a:rPr sz="1875" b="0">
                          <a:solidFill>
                            <a:srgbClr val="333333"/>
                          </a:solidFill>
                          <a:latin typeface="Calibri"/>
                          <a:ea typeface="Calibri"/>
                          <a:cs typeface="Calibri"/>
                        </a:rPr>
                        <a:t>80 / 101</a:t>
                      </a:r>
                    </a:p>
                  </a:txBody>
                  <a:tcPr anchor="ctr">
                    <a:solidFill>
                      <a:srgbClr val="F8F5FA"/>
                    </a:solidFill>
                  </a:tcPr>
                </a:tc>
                <a:tc>
                  <a:txBody>
                    <a:bodyPr/>
                    <a:lstStyle/>
                    <a:p>
                      <a:r>
                        <a:rPr sz="1875" b="0">
                          <a:solidFill>
                            <a:srgbClr val="333333"/>
                          </a:solidFill>
                          <a:latin typeface="Calibri"/>
                          <a:ea typeface="Calibri"/>
                          <a:cs typeface="Calibri"/>
                        </a:rPr>
                        <a:t>Invalid</a:t>
                      </a:r>
                    </a:p>
                  </a:txBody>
                  <a:tcPr anchor="ctr">
                    <a:solidFill>
                      <a:srgbClr val="F8F5FA"/>
                    </a:solidFill>
                  </a:tcPr>
                </a:tc>
                <a:tc>
                  <a:txBody>
                    <a:bodyPr/>
                    <a:lstStyle/>
                    <a:p>
                      <a:r>
                        <a:rPr sz="1875" b="0">
                          <a:solidFill>
                            <a:srgbClr val="333333"/>
                          </a:solidFill>
                          <a:latin typeface="Calibri"/>
                          <a:ea typeface="Calibri"/>
                          <a:cs typeface="Calibri"/>
                        </a:rPr>
                        <a:t>Pass</a:t>
                      </a:r>
                    </a:p>
                  </a:txBody>
                  <a:tcPr anchor="ctr">
                    <a:solidFill>
                      <a:srgbClr val="F8F5FA"/>
                    </a:solidFill>
                  </a:tcPr>
                </a:tc>
                <a:tc>
                  <a:txBody>
                    <a:bodyPr/>
                    <a:lstStyle/>
                    <a:p>
                      <a:r>
                        <a:rPr sz="1875" b="0">
                          <a:solidFill>
                            <a:srgbClr val="333333"/>
                          </a:solidFill>
                          <a:latin typeface="Calibri"/>
                          <a:ea typeface="Calibri"/>
                          <a:cs typeface="Calibri"/>
                        </a:rPr>
                        <a:t>FAILED</a:t>
                      </a:r>
                    </a:p>
                  </a:txBody>
                  <a:tcPr anchor="ctr">
                    <a:solidFill>
                      <a:srgbClr val="F8F5FA"/>
                    </a:solidFill>
                  </a:tcPr>
                </a:tc>
                <a:extLst>
                  <a:ext uri="{0D108BD9-81ED-4DB2-BD59-A6C34878D82A}">
                    <a16:rowId xmlns:a16="http://schemas.microsoft.com/office/drawing/2014/main" val="10004"/>
                  </a:ext>
                </a:extLst>
              </a:tr>
            </a:tbl>
          </a:graphicData>
        </a:graphic>
      </p:graphicFrame>
      <p:sp>
        <p:nvSpPr>
          <p:cNvPr id="15" name="Body">
            <a:extLst>
              <a:ext uri="{FF2B5EF4-FFF2-40B4-BE49-F238E27FC236}">
                <a16:creationId xmlns:a16="http://schemas.microsoft.com/office/drawing/2014/main" id="{B9FE70DC-495B-495F-9901-DEFA3C928B71}"/>
              </a:ext>
            </a:extLst>
          </p:cNvPr>
          <p:cNvSpPr>
            <a:spLocks noGrp="1"/>
          </p:cNvSpPr>
          <p:nvPr/>
        </p:nvSpPr>
        <p:spPr>
          <a:xfrm>
            <a:off x="552450" y="4629150"/>
            <a:ext cx="8039100" cy="41910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A passed ordinary test can coexist with several broken rules.</a:t>
            </a:r>
          </a:p>
        </p:txBody>
      </p:sp>
    </p:spTree>
    <p:extLst>
      <p:ext uri="{BB962C8B-B14F-4D97-AF65-F5344CB8AC3E}">
        <p14:creationId xmlns:p14="http://schemas.microsoft.com/office/powerpoint/2010/main" val="12822251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8"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A bug report tied to a requirement</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27</a:t>
            </a:r>
            <a:endParaRPr sz="2000"/>
          </a:p>
        </p:txBody>
      </p:sp>
      <p:graphicFrame>
        <p:nvGraphicFramePr>
          <p:cNvPr id="22" name="表格 19"/>
          <p:cNvGraphicFramePr/>
          <p:nvPr/>
        </p:nvGraphicFramePr>
        <p:xfrm>
          <a:off x="552450" y="1752600"/>
          <a:ext cx="8039100" cy="2638425"/>
        </p:xfrm>
        <a:graphic>
          <a:graphicData uri="http://schemas.openxmlformats.org/drawingml/2006/table">
            <a:tbl>
              <a:tblPr/>
              <a:tblGrid>
                <a:gridCol w="2295525">
                  <a:extLst>
                    <a:ext uri="{9D8B030D-6E8A-4147-A177-3AD203B41FA5}">
                      <a16:colId xmlns:a16="http://schemas.microsoft.com/office/drawing/2014/main" val="20000"/>
                    </a:ext>
                  </a:extLst>
                </a:gridCol>
                <a:gridCol w="5743575">
                  <a:extLst>
                    <a:ext uri="{9D8B030D-6E8A-4147-A177-3AD203B41FA5}">
                      <a16:colId xmlns:a16="http://schemas.microsoft.com/office/drawing/2014/main" val="20001"/>
                    </a:ext>
                  </a:extLst>
                </a:gridCol>
              </a:tblGrid>
              <a:tr h="527685">
                <a:tc>
                  <a:txBody>
                    <a:bodyPr/>
                    <a:lstStyle/>
                    <a:p>
                      <a:r>
                        <a:rPr sz="1800" b="1">
                          <a:solidFill>
                            <a:srgbClr val="FFFFFF"/>
                          </a:solidFill>
                          <a:latin typeface="Calibri"/>
                          <a:ea typeface="Calibri"/>
                          <a:cs typeface="Calibri"/>
                        </a:rPr>
                        <a:t>Field</a:t>
                      </a:r>
                    </a:p>
                  </a:txBody>
                  <a:tcPr anchor="ctr">
                    <a:solidFill>
                      <a:srgbClr val="4C2859"/>
                    </a:solidFill>
                  </a:tcPr>
                </a:tc>
                <a:tc>
                  <a:txBody>
                    <a:bodyPr/>
                    <a:lstStyle/>
                    <a:p>
                      <a:r>
                        <a:rPr sz="1800" b="1">
                          <a:solidFill>
                            <a:srgbClr val="FFFFFF"/>
                          </a:solidFill>
                          <a:latin typeface="Calibri"/>
                          <a:ea typeface="Calibri"/>
                          <a:cs typeface="Calibri"/>
                        </a:rPr>
                        <a:t>Example</a:t>
                      </a:r>
                    </a:p>
                  </a:txBody>
                  <a:tcPr anchor="ctr">
                    <a:solidFill>
                      <a:srgbClr val="4C2859"/>
                    </a:solidFill>
                  </a:tcPr>
                </a:tc>
                <a:extLst>
                  <a:ext uri="{0D108BD9-81ED-4DB2-BD59-A6C34878D82A}">
                    <a16:rowId xmlns:a16="http://schemas.microsoft.com/office/drawing/2014/main" val="10000"/>
                  </a:ext>
                </a:extLst>
              </a:tr>
              <a:tr h="527685">
                <a:tc>
                  <a:txBody>
                    <a:bodyPr/>
                    <a:lstStyle/>
                    <a:p>
                      <a:r>
                        <a:rPr sz="1800" b="0">
                          <a:solidFill>
                            <a:srgbClr val="333333"/>
                          </a:solidFill>
                          <a:latin typeface="Calibri"/>
                          <a:ea typeface="Calibri"/>
                          <a:cs typeface="Calibri"/>
                        </a:rPr>
                        <a:t>File and inputs</a:t>
                      </a:r>
                    </a:p>
                  </a:txBody>
                  <a:tcPr anchor="ctr">
                    <a:solidFill>
                      <a:srgbClr val="FFFFFF"/>
                    </a:solidFill>
                  </a:tcPr>
                </a:tc>
                <a:tc>
                  <a:txBody>
                    <a:bodyPr/>
                    <a:lstStyle/>
                    <a:p>
                      <a:r>
                        <a:rPr sz="1800" b="0">
                          <a:solidFill>
                            <a:srgbClr val="333333"/>
                          </a:solidFill>
                          <a:latin typeface="Calibri"/>
                          <a:ea typeface="Calibri"/>
                          <a:cs typeface="Calibri"/>
                        </a:rPr>
                        <a:t>teaching_draft.py: coursework 100, exam 39</a:t>
                      </a:r>
                    </a:p>
                  </a:txBody>
                  <a:tcPr anchor="ctr">
                    <a:solidFill>
                      <a:srgbClr val="FFFFFF"/>
                    </a:solidFill>
                  </a:tcPr>
                </a:tc>
                <a:extLst>
                  <a:ext uri="{0D108BD9-81ED-4DB2-BD59-A6C34878D82A}">
                    <a16:rowId xmlns:a16="http://schemas.microsoft.com/office/drawing/2014/main" val="10001"/>
                  </a:ext>
                </a:extLst>
              </a:tr>
              <a:tr h="527685">
                <a:tc>
                  <a:txBody>
                    <a:bodyPr/>
                    <a:lstStyle/>
                    <a:p>
                      <a:r>
                        <a:rPr sz="1800" b="0">
                          <a:solidFill>
                            <a:srgbClr val="333333"/>
                          </a:solidFill>
                          <a:latin typeface="Calibri"/>
                          <a:ea typeface="Calibri"/>
                          <a:cs typeface="Calibri"/>
                        </a:rPr>
                        <a:t>Expected / actual</a:t>
                      </a:r>
                    </a:p>
                  </a:txBody>
                  <a:tcPr anchor="ctr">
                    <a:solidFill>
                      <a:srgbClr val="F8F5FA"/>
                    </a:solidFill>
                  </a:tcPr>
                </a:tc>
                <a:tc>
                  <a:txBody>
                    <a:bodyPr/>
                    <a:lstStyle/>
                    <a:p>
                      <a:r>
                        <a:rPr sz="1800" b="0">
                          <a:solidFill>
                            <a:srgbClr val="333333"/>
                          </a:solidFill>
                          <a:latin typeface="Calibri"/>
                          <a:ea typeface="Calibri"/>
                          <a:cs typeface="Calibri"/>
                        </a:rPr>
                        <a:t>Expected Fail, but the program printed Pass.</a:t>
                      </a:r>
                    </a:p>
                  </a:txBody>
                  <a:tcPr anchor="ctr">
                    <a:solidFill>
                      <a:srgbClr val="F8F5FA"/>
                    </a:solidFill>
                  </a:tcPr>
                </a:tc>
                <a:extLst>
                  <a:ext uri="{0D108BD9-81ED-4DB2-BD59-A6C34878D82A}">
                    <a16:rowId xmlns:a16="http://schemas.microsoft.com/office/drawing/2014/main" val="10002"/>
                  </a:ext>
                </a:extLst>
              </a:tr>
              <a:tr h="527685">
                <a:tc>
                  <a:txBody>
                    <a:bodyPr/>
                    <a:lstStyle/>
                    <a:p>
                      <a:r>
                        <a:rPr sz="1800" b="0">
                          <a:solidFill>
                            <a:srgbClr val="333333"/>
                          </a:solidFill>
                          <a:latin typeface="Calibri"/>
                          <a:ea typeface="Calibri"/>
                          <a:cs typeface="Calibri"/>
                        </a:rPr>
                        <a:t>Requirement</a:t>
                      </a:r>
                    </a:p>
                  </a:txBody>
                  <a:tcPr anchor="ctr">
                    <a:solidFill>
                      <a:srgbClr val="FFFFFF"/>
                    </a:solidFill>
                  </a:tcPr>
                </a:tc>
                <a:tc>
                  <a:txBody>
                    <a:bodyPr/>
                    <a:lstStyle/>
                    <a:p>
                      <a:r>
                        <a:rPr sz="1800" b="0">
                          <a:solidFill>
                            <a:srgbClr val="333333"/>
                          </a:solidFill>
                          <a:latin typeface="Calibri"/>
                          <a:ea typeface="Calibri"/>
                          <a:cs typeface="Calibri"/>
                        </a:rPr>
                        <a:t>R4 requires the exam mark to be at least 40.</a:t>
                      </a:r>
                    </a:p>
                  </a:txBody>
                  <a:tcPr anchor="ctr">
                    <a:solidFill>
                      <a:srgbClr val="FFFFFF"/>
                    </a:solidFill>
                  </a:tcPr>
                </a:tc>
                <a:extLst>
                  <a:ext uri="{0D108BD9-81ED-4DB2-BD59-A6C34878D82A}">
                    <a16:rowId xmlns:a16="http://schemas.microsoft.com/office/drawing/2014/main" val="10003"/>
                  </a:ext>
                </a:extLst>
              </a:tr>
              <a:tr h="527685">
                <a:tc>
                  <a:txBody>
                    <a:bodyPr/>
                    <a:lstStyle/>
                    <a:p>
                      <a:r>
                        <a:rPr sz="1800" b="0">
                          <a:solidFill>
                            <a:srgbClr val="333333"/>
                          </a:solidFill>
                          <a:latin typeface="Calibri"/>
                          <a:ea typeface="Calibri"/>
                          <a:cs typeface="Calibri"/>
                        </a:rPr>
                        <a:t>Why this case helps</a:t>
                      </a:r>
                    </a:p>
                  </a:txBody>
                  <a:tcPr anchor="ctr">
                    <a:solidFill>
                      <a:srgbClr val="F8F5FA"/>
                    </a:solidFill>
                  </a:tcPr>
                </a:tc>
                <a:tc>
                  <a:txBody>
                    <a:bodyPr/>
                    <a:lstStyle/>
                    <a:p>
                      <a:r>
                        <a:rPr sz="1800" b="0">
                          <a:solidFill>
                            <a:srgbClr val="333333"/>
                          </a:solidFill>
                          <a:latin typeface="Calibri"/>
                          <a:ea typeface="Calibri"/>
                          <a:cs typeface="Calibri"/>
                        </a:rPr>
                        <a:t>Total is 63.4, so it isolates the exam-minimum rule.</a:t>
                      </a:r>
                    </a:p>
                  </a:txBody>
                  <a:tcPr anchor="ctr">
                    <a:solidFill>
                      <a:srgbClr val="F8F5FA"/>
                    </a:solidFill>
                  </a:tcPr>
                </a:tc>
                <a:extLst>
                  <a:ext uri="{0D108BD9-81ED-4DB2-BD59-A6C34878D82A}">
                    <a16:rowId xmlns:a16="http://schemas.microsoft.com/office/drawing/2014/main" val="10004"/>
                  </a:ext>
                </a:extLst>
              </a:tr>
            </a:tbl>
          </a:graphicData>
        </a:graphic>
      </p:graphicFrame>
      <p:sp>
        <p:nvSpPr>
          <p:cNvPr id="15" name="Body">
            <a:extLst>
              <a:ext uri="{FF2B5EF4-FFF2-40B4-BE49-F238E27FC236}">
                <a16:creationId xmlns:a16="http://schemas.microsoft.com/office/drawing/2014/main" id="{E1097553-FF50-487E-9256-309808241F21}"/>
              </a:ext>
            </a:extLst>
          </p:cNvPr>
          <p:cNvSpPr>
            <a:spLocks noGrp="1"/>
          </p:cNvSpPr>
          <p:nvPr/>
        </p:nvSpPr>
        <p:spPr>
          <a:xfrm>
            <a:off x="552450" y="4629150"/>
            <a:ext cx="8039100" cy="41910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Describe the failing rule before suggesting a code change.</a:t>
            </a:r>
          </a:p>
        </p:txBody>
      </p:sp>
    </p:spTree>
    <p:extLst>
      <p:ext uri="{BB962C8B-B14F-4D97-AF65-F5344CB8AC3E}">
        <p14:creationId xmlns:p14="http://schemas.microsoft.com/office/powerpoint/2010/main" val="1282225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7"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Repair with AI, then retest</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28</a:t>
            </a:r>
            <a:endParaRPr sz="2000"/>
          </a:p>
        </p:txBody>
      </p:sp>
      <p:sp>
        <p:nvSpPr>
          <p:cNvPr id="14" name="Body">
            <a:extLst>
              <a:ext uri="{FF2B5EF4-FFF2-40B4-BE49-F238E27FC236}">
                <a16:creationId xmlns:a16="http://schemas.microsoft.com/office/drawing/2014/main" id="{4FD2AC7B-2B69-44DF-A0A0-A8F71AADBE3D}"/>
              </a:ext>
            </a:extLst>
          </p:cNvPr>
          <p:cNvSpPr>
            <a:spLocks noGrp="1"/>
          </p:cNvSpPr>
          <p:nvPr/>
        </p:nvSpPr>
        <p:spPr>
          <a:xfrm>
            <a:off x="552450" y="1800225"/>
            <a:ext cx="8039100" cy="2162175"/>
          </a:xfrm>
          <a:prstGeom prst="rect">
            <a:avLst/>
          </a:prstGeom>
          <a:noFill/>
          <a:ln w="0">
            <a:noFill/>
          </a:ln>
        </p:spPr>
        <p:txBody>
          <a:bodyPr wrap="square" lIns="0" tIns="0" rIns="0" bIns="0" anchor="t">
            <a:noAutofit/>
          </a:bodyPr>
          <a:lstStyle/>
          <a:p>
            <a:pPr algn="l">
              <a:buNone/>
              <a:defRPr sz="2100" b="0">
                <a:solidFill>
                  <a:srgbClr val="333333"/>
                </a:solidFill>
                <a:latin typeface="Calibri"/>
                <a:ea typeface="Calibri"/>
                <a:cs typeface="Calibri"/>
              </a:defRPr>
            </a:pPr>
            <a:r>
              <a:rPr sz="2100" b="0">
                <a:solidFill>
                  <a:srgbClr val="333333"/>
                </a:solidFill>
                <a:latin typeface="Calibri"/>
                <a:ea typeface="Calibri"/>
                <a:cs typeface="Calibri"/>
              </a:rPr>
              <a:t>“For coursework 100 and exam 39, the program printed Pass. R4 requires Fail because the exam minimum is 40.</a:t>
            </a:r>
          </a:p>
          <a:p>
            <a:endParaRPr sz="2100" b="0">
              <a:solidFill>
                <a:srgbClr val="333333"/>
              </a:solidFill>
              <a:latin typeface="Calibri"/>
              <a:ea typeface="Calibri"/>
              <a:cs typeface="Calibri"/>
            </a:endParaRPr>
          </a:p>
          <a:p>
            <a:pPr algn="l">
              <a:buNone/>
              <a:defRPr sz="2100" b="0">
                <a:solidFill>
                  <a:srgbClr val="333333"/>
                </a:solidFill>
                <a:latin typeface="Calibri"/>
                <a:ea typeface="Calibri"/>
                <a:cs typeface="Calibri"/>
              </a:defRPr>
            </a:pPr>
            <a:r>
              <a:rPr sz="2100" b="0">
                <a:solidFill>
                  <a:srgbClr val="333333"/>
                </a:solidFill>
                <a:latin typeface="Calibri"/>
                <a:ea typeface="Calibri"/>
                <a:cs typeface="Calibri"/>
              </a:rPr>
              <a:t>Explain the cause and propose a small fix. Keep the expected results unchanged. After the fix, rerun the full test plan and show the actual outputs.”</a:t>
            </a:r>
          </a:p>
        </p:txBody>
      </p:sp>
      <p:sp>
        <p:nvSpPr>
          <p:cNvPr id="15" name="Body">
            <a:extLst>
              <a:ext uri="{FF2B5EF4-FFF2-40B4-BE49-F238E27FC236}">
                <a16:creationId xmlns:a16="http://schemas.microsoft.com/office/drawing/2014/main" id="{EF124869-D273-4996-B1F5-3B9390777467}"/>
              </a:ext>
            </a:extLst>
          </p:cNvPr>
          <p:cNvSpPr>
            <a:spLocks noGrp="1"/>
          </p:cNvSpPr>
          <p:nvPr/>
        </p:nvSpPr>
        <p:spPr>
          <a:xfrm>
            <a:off x="552450" y="4410075"/>
            <a:ext cx="8039100" cy="41910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Inspect the change and the run results before accepting the repair.</a:t>
            </a:r>
          </a:p>
        </p:txBody>
      </p:sp>
    </p:spTree>
    <p:extLst>
      <p:ext uri="{BB962C8B-B14F-4D97-AF65-F5344CB8AC3E}">
        <p14:creationId xmlns:p14="http://schemas.microsoft.com/office/powerpoint/2010/main" val="12822251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7"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A reviewed implementation</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29</a:t>
            </a:r>
            <a:endParaRPr sz="2000"/>
          </a:p>
        </p:txBody>
      </p:sp>
      <p:sp>
        <p:nvSpPr>
          <p:cNvPr id="14" name="Body">
            <a:extLst>
              <a:ext uri="{FF2B5EF4-FFF2-40B4-BE49-F238E27FC236}">
                <a16:creationId xmlns:a16="http://schemas.microsoft.com/office/drawing/2014/main" id="{2C1FE2A3-5033-4FB9-BDAA-EA081E09F1E8}"/>
              </a:ext>
            </a:extLst>
          </p:cNvPr>
          <p:cNvSpPr>
            <a:spLocks noGrp="1"/>
          </p:cNvSpPr>
          <p:nvPr/>
        </p:nvSpPr>
        <p:spPr>
          <a:xfrm>
            <a:off x="552450" y="1743075"/>
            <a:ext cx="8039100" cy="2686050"/>
          </a:xfrm>
          <a:prstGeom prst="rect">
            <a:avLst/>
          </a:prstGeom>
          <a:solidFill>
            <a:srgbClr val="202020"/>
          </a:solidFill>
          <a:ln w="0">
            <a:noFill/>
          </a:ln>
        </p:spPr>
        <p:txBody>
          <a:bodyPr wrap="square" lIns="152400" tIns="152400" rIns="152400" bIns="152400" anchor="t">
            <a:noAutofit/>
          </a:bodyPr>
          <a:lstStyle/>
          <a:p>
            <a:pPr algn="l">
              <a:buNone/>
              <a:defRPr sz="1800" b="0">
                <a:solidFill>
                  <a:srgbClr val="F4F4F4"/>
                </a:solidFill>
                <a:latin typeface="Consolas"/>
                <a:ea typeface="Consolas"/>
                <a:cs typeface="Consolas"/>
              </a:defRPr>
            </a:pPr>
            <a:r>
              <a:rPr sz="1800" b="0">
                <a:solidFill>
                  <a:srgbClr val="F4F4F4"/>
                </a:solidFill>
                <a:latin typeface="Consolas"/>
                <a:ea typeface="Consolas"/>
                <a:cs typeface="Consolas"/>
              </a:rPr>
              <a:t>cw = int(input())</a:t>
            </a:r>
          </a:p>
          <a:p>
            <a:pPr algn="l">
              <a:buNone/>
              <a:defRPr sz="1800" b="0">
                <a:solidFill>
                  <a:srgbClr val="F4F4F4"/>
                </a:solidFill>
                <a:latin typeface="Consolas"/>
                <a:ea typeface="Consolas"/>
                <a:cs typeface="Consolas"/>
              </a:defRPr>
            </a:pPr>
            <a:r>
              <a:rPr sz="1800" b="0">
                <a:solidFill>
                  <a:srgbClr val="F4F4F4"/>
                </a:solidFill>
                <a:latin typeface="Consolas"/>
                <a:ea typeface="Consolas"/>
                <a:cs typeface="Consolas"/>
              </a:rPr>
              <a:t>exam = int(input())</a:t>
            </a:r>
          </a:p>
          <a:p>
            <a:pPr algn="l">
              <a:buNone/>
              <a:defRPr sz="1800" b="0">
                <a:solidFill>
                  <a:srgbClr val="F4F4F4"/>
                </a:solidFill>
                <a:latin typeface="Consolas"/>
                <a:ea typeface="Consolas"/>
                <a:cs typeface="Consolas"/>
              </a:defRPr>
            </a:pPr>
            <a:r>
              <a:rPr sz="1800" b="0">
                <a:solidFill>
                  <a:srgbClr val="F4F4F4"/>
                </a:solidFill>
                <a:latin typeface="Consolas"/>
                <a:ea typeface="Consolas"/>
                <a:cs typeface="Consolas"/>
              </a:rPr>
              <a:t>if cw &lt; 0 or cw &gt; 100 or exam &lt; 0 or exam &gt; 100:</a:t>
            </a:r>
          </a:p>
          <a:p>
            <a:pPr algn="l">
              <a:buNone/>
              <a:defRPr sz="1800" b="0">
                <a:solidFill>
                  <a:srgbClr val="F4F4F4"/>
                </a:solidFill>
                <a:latin typeface="Consolas"/>
                <a:ea typeface="Consolas"/>
                <a:cs typeface="Consolas"/>
              </a:defRPr>
            </a:pPr>
            <a:r>
              <a:rPr sz="1800" b="0">
                <a:solidFill>
                  <a:srgbClr val="F4F4F4"/>
                </a:solidFill>
                <a:latin typeface="Consolas"/>
                <a:ea typeface="Consolas"/>
                <a:cs typeface="Consolas"/>
              </a:rPr>
              <a:t>    print("Invalid")</a:t>
            </a:r>
          </a:p>
          <a:p>
            <a:pPr algn="l">
              <a:buNone/>
              <a:defRPr sz="1800" b="0">
                <a:solidFill>
                  <a:srgbClr val="F4F4F4"/>
                </a:solidFill>
                <a:latin typeface="Consolas"/>
                <a:ea typeface="Consolas"/>
                <a:cs typeface="Consolas"/>
              </a:defRPr>
            </a:pPr>
            <a:r>
              <a:rPr sz="1800" b="0">
                <a:solidFill>
                  <a:srgbClr val="F4F4F4"/>
                </a:solidFill>
                <a:latin typeface="Consolas"/>
                <a:ea typeface="Consolas"/>
                <a:cs typeface="Consolas"/>
              </a:rPr>
              <a:t>elif exam &gt;= 40 and 4 * cw + 6 * exam &gt;= 500:</a:t>
            </a:r>
          </a:p>
          <a:p>
            <a:pPr algn="l">
              <a:buNone/>
              <a:defRPr sz="1800" b="0">
                <a:solidFill>
                  <a:srgbClr val="F4F4F4"/>
                </a:solidFill>
                <a:latin typeface="Consolas"/>
                <a:ea typeface="Consolas"/>
                <a:cs typeface="Consolas"/>
              </a:defRPr>
            </a:pPr>
            <a:r>
              <a:rPr sz="1800" b="0">
                <a:solidFill>
                  <a:srgbClr val="F4F4F4"/>
                </a:solidFill>
                <a:latin typeface="Consolas"/>
                <a:ea typeface="Consolas"/>
                <a:cs typeface="Consolas"/>
              </a:rPr>
              <a:t>    print("Pass")</a:t>
            </a:r>
          </a:p>
          <a:p>
            <a:pPr algn="l">
              <a:buNone/>
              <a:defRPr sz="1800" b="0">
                <a:solidFill>
                  <a:srgbClr val="F4F4F4"/>
                </a:solidFill>
                <a:latin typeface="Consolas"/>
                <a:ea typeface="Consolas"/>
                <a:cs typeface="Consolas"/>
              </a:defRPr>
            </a:pPr>
            <a:r>
              <a:rPr sz="1800" b="0">
                <a:solidFill>
                  <a:srgbClr val="F4F4F4"/>
                </a:solidFill>
                <a:latin typeface="Consolas"/>
                <a:ea typeface="Consolas"/>
                <a:cs typeface="Consolas"/>
              </a:rPr>
              <a:t>else:</a:t>
            </a:r>
          </a:p>
          <a:p>
            <a:pPr algn="l">
              <a:buNone/>
              <a:defRPr sz="1800" b="0">
                <a:solidFill>
                  <a:srgbClr val="F4F4F4"/>
                </a:solidFill>
                <a:latin typeface="Consolas"/>
                <a:ea typeface="Consolas"/>
                <a:cs typeface="Consolas"/>
              </a:defRPr>
            </a:pPr>
            <a:r>
              <a:rPr sz="1800" b="0">
                <a:solidFill>
                  <a:srgbClr val="F4F4F4"/>
                </a:solidFill>
                <a:latin typeface="Consolas"/>
                <a:ea typeface="Consolas"/>
                <a:cs typeface="Consolas"/>
              </a:rPr>
              <a:t>    print("Fail")</a:t>
            </a:r>
          </a:p>
        </p:txBody>
      </p:sp>
      <p:sp>
        <p:nvSpPr>
          <p:cNvPr id="15" name="Body">
            <a:extLst>
              <a:ext uri="{FF2B5EF4-FFF2-40B4-BE49-F238E27FC236}">
                <a16:creationId xmlns:a16="http://schemas.microsoft.com/office/drawing/2014/main" id="{EA1BCF6C-9C3F-4AC1-9381-766368085D5E}"/>
              </a:ext>
            </a:extLst>
          </p:cNvPr>
          <p:cNvSpPr>
            <a:spLocks noGrp="1"/>
          </p:cNvSpPr>
          <p:nvPr/>
        </p:nvSpPr>
        <p:spPr>
          <a:xfrm>
            <a:off x="552450" y="4610100"/>
            <a:ext cx="8039100" cy="41910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4 × coursework + 6 × exam ≥ 500 means a weighted total ≥ 50.</a:t>
            </a:r>
          </a:p>
        </p:txBody>
      </p:sp>
    </p:spTree>
    <p:extLst>
      <p:ext uri="{BB962C8B-B14F-4D97-AF65-F5344CB8AC3E}">
        <p14:creationId xmlns:p14="http://schemas.microsoft.com/office/powerpoint/2010/main" val="12822251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8"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Regression and missing cases</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30</a:t>
            </a:r>
            <a:endParaRPr sz="2000"/>
          </a:p>
        </p:txBody>
      </p:sp>
      <p:graphicFrame>
        <p:nvGraphicFramePr>
          <p:cNvPr id="22" name="表格 19"/>
          <p:cNvGraphicFramePr/>
          <p:nvPr/>
        </p:nvGraphicFramePr>
        <p:xfrm>
          <a:off x="552450" y="1752600"/>
          <a:ext cx="8039100" cy="2647950"/>
        </p:xfrm>
        <a:graphic>
          <a:graphicData uri="http://schemas.openxmlformats.org/drawingml/2006/table">
            <a:tbl>
              <a:tblPr/>
              <a:tblGrid>
                <a:gridCol w="31623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529590">
                <a:tc>
                  <a:txBody>
                    <a:bodyPr/>
                    <a:lstStyle/>
                    <a:p>
                      <a:r>
                        <a:rPr sz="1800" b="1">
                          <a:solidFill>
                            <a:srgbClr val="FFFFFF"/>
                          </a:solidFill>
                          <a:latin typeface="Calibri"/>
                          <a:ea typeface="Calibri"/>
                          <a:cs typeface="Calibri"/>
                        </a:rPr>
                        <a:t>Retest</a:t>
                      </a:r>
                    </a:p>
                  </a:txBody>
                  <a:tcPr anchor="ctr">
                    <a:solidFill>
                      <a:srgbClr val="4C2859"/>
                    </a:solidFill>
                  </a:tcPr>
                </a:tc>
                <a:tc>
                  <a:txBody>
                    <a:bodyPr/>
                    <a:lstStyle/>
                    <a:p>
                      <a:r>
                        <a:rPr sz="1800" b="1">
                          <a:solidFill>
                            <a:srgbClr val="FFFFFF"/>
                          </a:solidFill>
                          <a:latin typeface="Calibri"/>
                          <a:ea typeface="Calibri"/>
                          <a:cs typeface="Calibri"/>
                        </a:rPr>
                        <a:t>Reason</a:t>
                      </a:r>
                    </a:p>
                  </a:txBody>
                  <a:tcPr anchor="ctr">
                    <a:solidFill>
                      <a:srgbClr val="4C2859"/>
                    </a:solidFill>
                  </a:tcPr>
                </a:tc>
                <a:extLst>
                  <a:ext uri="{0D108BD9-81ED-4DB2-BD59-A6C34878D82A}">
                    <a16:rowId xmlns:a16="http://schemas.microsoft.com/office/drawing/2014/main" val="10000"/>
                  </a:ext>
                </a:extLst>
              </a:tr>
              <a:tr h="529590">
                <a:tc>
                  <a:txBody>
                    <a:bodyPr/>
                    <a:lstStyle/>
                    <a:p>
                      <a:r>
                        <a:rPr sz="1800" b="0">
                          <a:solidFill>
                            <a:srgbClr val="333333"/>
                          </a:solidFill>
                          <a:latin typeface="Calibri"/>
                          <a:ea typeface="Calibri"/>
                          <a:cs typeface="Calibri"/>
                        </a:rPr>
                        <a:t>Original test plan</a:t>
                      </a:r>
                    </a:p>
                  </a:txBody>
                  <a:tcPr anchor="ctr">
                    <a:solidFill>
                      <a:srgbClr val="FFFFFF"/>
                    </a:solidFill>
                  </a:tcPr>
                </a:tc>
                <a:tc>
                  <a:txBody>
                    <a:bodyPr/>
                    <a:lstStyle/>
                    <a:p>
                      <a:r>
                        <a:rPr sz="1800" b="0">
                          <a:solidFill>
                            <a:srgbClr val="333333"/>
                          </a:solidFill>
                          <a:latin typeface="Calibri"/>
                          <a:ea typeface="Calibri"/>
                          <a:cs typeface="Calibri"/>
                        </a:rPr>
                        <a:t>Check behaviour that worked before the repair.</a:t>
                      </a:r>
                    </a:p>
                  </a:txBody>
                  <a:tcPr anchor="ctr">
                    <a:solidFill>
                      <a:srgbClr val="FFFFFF"/>
                    </a:solidFill>
                  </a:tcPr>
                </a:tc>
                <a:extLst>
                  <a:ext uri="{0D108BD9-81ED-4DB2-BD59-A6C34878D82A}">
                    <a16:rowId xmlns:a16="http://schemas.microsoft.com/office/drawing/2014/main" val="10001"/>
                  </a:ext>
                </a:extLst>
              </a:tr>
              <a:tr h="529590">
                <a:tc>
                  <a:txBody>
                    <a:bodyPr/>
                    <a:lstStyle/>
                    <a:p>
                      <a:r>
                        <a:rPr sz="1800" b="0">
                          <a:solidFill>
                            <a:srgbClr val="333333"/>
                          </a:solidFill>
                          <a:latin typeface="Calibri"/>
                          <a:ea typeface="Calibri"/>
                          <a:cs typeface="Calibri"/>
                        </a:rPr>
                        <a:t>Other input-range edges</a:t>
                      </a:r>
                    </a:p>
                  </a:txBody>
                  <a:tcPr anchor="ctr">
                    <a:solidFill>
                      <a:srgbClr val="F8F5FA"/>
                    </a:solidFill>
                  </a:tcPr>
                </a:tc>
                <a:tc>
                  <a:txBody>
                    <a:bodyPr/>
                    <a:lstStyle/>
                    <a:p>
                      <a:r>
                        <a:rPr sz="1800" b="0">
                          <a:solidFill>
                            <a:srgbClr val="333333"/>
                          </a:solidFill>
                          <a:latin typeface="Calibri"/>
                          <a:ea typeface="Calibri"/>
                          <a:cs typeface="Calibri"/>
                        </a:rPr>
                        <a:t>Try 0, 100 and the missing out-of-range side.</a:t>
                      </a:r>
                    </a:p>
                  </a:txBody>
                  <a:tcPr anchor="ctr">
                    <a:solidFill>
                      <a:srgbClr val="F8F5FA"/>
                    </a:solidFill>
                  </a:tcPr>
                </a:tc>
                <a:extLst>
                  <a:ext uri="{0D108BD9-81ED-4DB2-BD59-A6C34878D82A}">
                    <a16:rowId xmlns:a16="http://schemas.microsoft.com/office/drawing/2014/main" val="10002"/>
                  </a:ext>
                </a:extLst>
              </a:tr>
              <a:tr h="529590">
                <a:tc>
                  <a:txBody>
                    <a:bodyPr/>
                    <a:lstStyle/>
                    <a:p>
                      <a:r>
                        <a:rPr sz="1800" b="0">
                          <a:solidFill>
                            <a:srgbClr val="333333"/>
                          </a:solidFill>
                          <a:latin typeface="Calibri"/>
                          <a:ea typeface="Calibri"/>
                          <a:cs typeface="Calibri"/>
                        </a:rPr>
                        <a:t>Ordinary fail: 20 / 20</a:t>
                      </a:r>
                    </a:p>
                  </a:txBody>
                  <a:tcPr anchor="ctr">
                    <a:solidFill>
                      <a:srgbClr val="FFFFFF"/>
                    </a:solidFill>
                  </a:tcPr>
                </a:tc>
                <a:tc>
                  <a:txBody>
                    <a:bodyPr/>
                    <a:lstStyle/>
                    <a:p>
                      <a:r>
                        <a:rPr sz="1800" b="0">
                          <a:solidFill>
                            <a:srgbClr val="333333"/>
                          </a:solidFill>
                          <a:latin typeface="Calibri"/>
                          <a:ea typeface="Calibri"/>
                          <a:cs typeface="Calibri"/>
                        </a:rPr>
                        <a:t>Check ordinary behaviour as well as failures.</a:t>
                      </a:r>
                    </a:p>
                  </a:txBody>
                  <a:tcPr anchor="ctr">
                    <a:solidFill>
                      <a:srgbClr val="FFFFFF"/>
                    </a:solidFill>
                  </a:tcPr>
                </a:tc>
                <a:extLst>
                  <a:ext uri="{0D108BD9-81ED-4DB2-BD59-A6C34878D82A}">
                    <a16:rowId xmlns:a16="http://schemas.microsoft.com/office/drawing/2014/main" val="10003"/>
                  </a:ext>
                </a:extLst>
              </a:tr>
              <a:tr h="529590">
                <a:tc>
                  <a:txBody>
                    <a:bodyPr/>
                    <a:lstStyle/>
                    <a:p>
                      <a:r>
                        <a:rPr sz="1800" b="0">
                          <a:solidFill>
                            <a:srgbClr val="333333"/>
                          </a:solidFill>
                          <a:latin typeface="Calibri"/>
                          <a:ea typeface="Calibri"/>
                          <a:cs typeface="Calibri"/>
                        </a:rPr>
                        <a:t>Every test that exposed a bug</a:t>
                      </a:r>
                    </a:p>
                  </a:txBody>
                  <a:tcPr anchor="ctr">
                    <a:solidFill>
                      <a:srgbClr val="F8F5FA"/>
                    </a:solidFill>
                  </a:tcPr>
                </a:tc>
                <a:tc>
                  <a:txBody>
                    <a:bodyPr/>
                    <a:lstStyle/>
                    <a:p>
                      <a:r>
                        <a:rPr sz="1800" b="0">
                          <a:solidFill>
                            <a:srgbClr val="333333"/>
                          </a:solidFill>
                          <a:latin typeface="Calibri"/>
                          <a:ea typeface="Calibri"/>
                          <a:cs typeface="Calibri"/>
                        </a:rPr>
                        <a:t>Detect the same fault if it returns.</a:t>
                      </a:r>
                    </a:p>
                  </a:txBody>
                  <a:tcPr anchor="ctr">
                    <a:solidFill>
                      <a:srgbClr val="F8F5FA"/>
                    </a:solidFill>
                  </a:tcPr>
                </a:tc>
                <a:extLst>
                  <a:ext uri="{0D108BD9-81ED-4DB2-BD59-A6C34878D82A}">
                    <a16:rowId xmlns:a16="http://schemas.microsoft.com/office/drawing/2014/main" val="10004"/>
                  </a:ext>
                </a:extLst>
              </a:tr>
            </a:tbl>
          </a:graphicData>
        </a:graphic>
      </p:graphicFrame>
      <p:sp>
        <p:nvSpPr>
          <p:cNvPr id="15" name="Body">
            <a:extLst>
              <a:ext uri="{FF2B5EF4-FFF2-40B4-BE49-F238E27FC236}">
                <a16:creationId xmlns:a16="http://schemas.microsoft.com/office/drawing/2014/main" id="{BEBA48F4-492D-4DDB-BEB2-30F06AAF453E}"/>
              </a:ext>
            </a:extLst>
          </p:cNvPr>
          <p:cNvSpPr>
            <a:spLocks noGrp="1"/>
          </p:cNvSpPr>
          <p:nvPr/>
        </p:nvSpPr>
        <p:spPr>
          <a:xfrm>
            <a:off x="552450" y="4629150"/>
            <a:ext cx="8039100" cy="41910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A code fix keeps the agreed requirements and expected answers.</a:t>
            </a:r>
          </a:p>
        </p:txBody>
      </p:sp>
    </p:spTree>
    <p:extLst>
      <p:ext uri="{BB962C8B-B14F-4D97-AF65-F5344CB8AC3E}">
        <p14:creationId xmlns:p14="http://schemas.microsoft.com/office/powerpoint/2010/main" val="12822251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Independent check: a changed rule</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31</a:t>
            </a:r>
            <a:endParaRPr sz="2000"/>
          </a:p>
        </p:txBody>
      </p:sp>
      <p:sp>
        <p:nvSpPr>
          <p:cNvPr id="14" name="Body">
            <a:extLst>
              <a:ext uri="{FF2B5EF4-FFF2-40B4-BE49-F238E27FC236}">
                <a16:creationId xmlns:a16="http://schemas.microsoft.com/office/drawing/2014/main" id="{3410F23D-D27D-468E-9649-B42982A54297}"/>
              </a:ext>
            </a:extLst>
          </p:cNvPr>
          <p:cNvSpPr>
            <a:spLocks noGrp="1"/>
          </p:cNvSpPr>
          <p:nvPr/>
        </p:nvSpPr>
        <p:spPr>
          <a:xfrm>
            <a:off x="552450" y="1724025"/>
            <a:ext cx="8039100" cy="390525"/>
          </a:xfrm>
          <a:prstGeom prst="rect">
            <a:avLst/>
          </a:prstGeom>
          <a:noFill/>
          <a:ln w="0">
            <a:noFill/>
          </a:ln>
        </p:spPr>
        <p:txBody>
          <a:bodyPr wrap="square" lIns="0" tIns="0" rIns="0" bIns="0" anchor="t">
            <a:noAutofit/>
          </a:bodyPr>
          <a:lstStyle/>
          <a:p>
            <a:pPr algn="l">
              <a:buNone/>
              <a:defRPr sz="2025" b="1">
                <a:solidFill>
                  <a:srgbClr val="4C2859"/>
                </a:solidFill>
                <a:latin typeface="Calibri"/>
                <a:ea typeface="Calibri"/>
                <a:cs typeface="Calibri"/>
              </a:defRPr>
            </a:pPr>
            <a:r>
              <a:rPr sz="2025" b="1">
                <a:solidFill>
                  <a:srgbClr val="4C2859"/>
                </a:solidFill>
                <a:latin typeface="Calibri"/>
                <a:ea typeface="Calibri"/>
                <a:cs typeface="Calibri"/>
              </a:rPr>
              <a:t>4 minutes: predict first, then discuss with AI.</a:t>
            </a:r>
          </a:p>
        </p:txBody>
      </p:sp>
      <p:sp>
        <p:nvSpPr>
          <p:cNvPr id="15" name="Body">
            <a:extLst>
              <a:ext uri="{FF2B5EF4-FFF2-40B4-BE49-F238E27FC236}">
                <a16:creationId xmlns:a16="http://schemas.microsoft.com/office/drawing/2014/main" id="{12A18BCE-14AF-4D83-BF5C-49D01B906D09}"/>
              </a:ext>
            </a:extLst>
          </p:cNvPr>
          <p:cNvSpPr>
            <a:spLocks noGrp="1"/>
          </p:cNvSpPr>
          <p:nvPr/>
        </p:nvSpPr>
        <p:spPr>
          <a:xfrm>
            <a:off x="552450" y="2305050"/>
            <a:ext cx="8039100" cy="857250"/>
          </a:xfrm>
          <a:prstGeom prst="rect">
            <a:avLst/>
          </a:prstGeom>
          <a:noFill/>
          <a:ln w="0">
            <a:noFill/>
          </a:ln>
        </p:spPr>
        <p:txBody>
          <a:bodyPr wrap="square" lIns="0" tIns="0" rIns="0" bIns="0" anchor="t">
            <a:noAutofit/>
          </a:bodyPr>
          <a:lstStyle/>
          <a:p>
            <a:pPr algn="l">
              <a:buNone/>
              <a:defRPr sz="2175" b="1">
                <a:solidFill>
                  <a:srgbClr val="4C2859"/>
                </a:solidFill>
                <a:latin typeface="Calibri"/>
                <a:ea typeface="Calibri"/>
                <a:cs typeface="Calibri"/>
              </a:defRPr>
            </a:pPr>
            <a:r>
              <a:rPr sz="2175" b="1">
                <a:solidFill>
                  <a:srgbClr val="4C2859"/>
                </a:solidFill>
                <a:latin typeface="Calibri"/>
                <a:ea typeface="Calibri"/>
                <a:cs typeface="Calibri"/>
              </a:rPr>
              <a:t>Change only the minimum exam mark from 40 to 45.</a:t>
            </a:r>
          </a:p>
          <a:p>
            <a:pPr algn="l">
              <a:buNone/>
              <a:defRPr sz="2175" b="1">
                <a:solidFill>
                  <a:srgbClr val="4C2859"/>
                </a:solidFill>
                <a:latin typeface="Calibri"/>
                <a:ea typeface="Calibri"/>
                <a:cs typeface="Calibri"/>
              </a:defRPr>
            </a:pPr>
            <a:r>
              <a:rPr sz="2175" b="1">
                <a:solidFill>
                  <a:srgbClr val="4C2859"/>
                </a:solidFill>
                <a:latin typeface="Calibri"/>
                <a:ea typeface="Calibri"/>
                <a:cs typeface="Calibri"/>
              </a:rPr>
              <a:t>Keep the weighting and the weighted pass threshold unchanged.</a:t>
            </a:r>
          </a:p>
        </p:txBody>
      </p:sp>
      <p:sp>
        <p:nvSpPr>
          <p:cNvPr id="16" name="Body">
            <a:extLst>
              <a:ext uri="{FF2B5EF4-FFF2-40B4-BE49-F238E27FC236}">
                <a16:creationId xmlns:a16="http://schemas.microsoft.com/office/drawing/2014/main" id="{FDF6FBBF-6621-4242-8323-6B0859F687D2}"/>
              </a:ext>
            </a:extLst>
          </p:cNvPr>
          <p:cNvSpPr>
            <a:spLocks noGrp="1"/>
          </p:cNvSpPr>
          <p:nvPr/>
        </p:nvSpPr>
        <p:spPr>
          <a:xfrm>
            <a:off x="609600" y="3476625"/>
            <a:ext cx="7886700" cy="409575"/>
          </a:xfrm>
          <a:prstGeom prst="rect">
            <a:avLst/>
          </a:prstGeom>
          <a:noFill/>
          <a:ln w="0">
            <a:noFill/>
          </a:ln>
        </p:spPr>
        <p:txBody>
          <a:bodyPr wrap="square" lIns="0" tIns="0" rIns="0" bIns="0" anchor="t">
            <a:noAutofit/>
          </a:bodyPr>
          <a:lstStyle/>
          <a:p>
            <a:pPr marL="228600" indent="-190500" algn="l">
              <a:buChar char="►"/>
              <a:defRPr sz="1800" b="0">
                <a:solidFill>
                  <a:srgbClr val="333333"/>
                </a:solidFill>
                <a:latin typeface="Calibri"/>
                <a:ea typeface="Calibri"/>
                <a:cs typeface="Calibri"/>
              </a:defRPr>
            </a:pPr>
            <a:r>
              <a:t>Update R4 in requirements.md.</a:t>
            </a:r>
          </a:p>
        </p:txBody>
      </p:sp>
      <p:sp>
        <p:nvSpPr>
          <p:cNvPr id="17" name="Body">
            <a:extLst>
              <a:ext uri="{FF2B5EF4-FFF2-40B4-BE49-F238E27FC236}">
                <a16:creationId xmlns:a16="http://schemas.microsoft.com/office/drawing/2014/main" id="{AA2FAA64-B394-4427-B9F9-E4F12D92C7F2}"/>
              </a:ext>
            </a:extLst>
          </p:cNvPr>
          <p:cNvSpPr>
            <a:spLocks noGrp="1"/>
          </p:cNvSpPr>
          <p:nvPr/>
        </p:nvSpPr>
        <p:spPr>
          <a:xfrm>
            <a:off x="609600" y="3924300"/>
            <a:ext cx="7886700" cy="409575"/>
          </a:xfrm>
          <a:prstGeom prst="rect">
            <a:avLst/>
          </a:prstGeom>
          <a:noFill/>
          <a:ln w="0">
            <a:noFill/>
          </a:ln>
        </p:spPr>
        <p:txBody>
          <a:bodyPr wrap="square" lIns="0" tIns="0" rIns="0" bIns="0" anchor="t">
            <a:noAutofit/>
          </a:bodyPr>
          <a:lstStyle/>
          <a:p>
            <a:pPr marL="228600" indent="-190500" algn="l">
              <a:buChar char="►"/>
              <a:defRPr sz="1800" b="0">
                <a:solidFill>
                  <a:srgbClr val="333333"/>
                </a:solidFill>
                <a:latin typeface="Calibri"/>
                <a:ea typeface="Calibri"/>
                <a:cs typeface="Calibri"/>
              </a:defRPr>
            </a:pPr>
            <a:r>
              <a:t>Design a pair of tests at the new exam boundary.</a:t>
            </a:r>
          </a:p>
        </p:txBody>
      </p:sp>
      <p:sp>
        <p:nvSpPr>
          <p:cNvPr id="18" name="Body">
            <a:extLst>
              <a:ext uri="{FF2B5EF4-FFF2-40B4-BE49-F238E27FC236}">
                <a16:creationId xmlns:a16="http://schemas.microsoft.com/office/drawing/2014/main" id="{38DF517D-E7CD-4FFE-BA0F-DCB50D0F50AE}"/>
              </a:ext>
            </a:extLst>
          </p:cNvPr>
          <p:cNvSpPr>
            <a:spLocks noGrp="1"/>
          </p:cNvSpPr>
          <p:nvPr/>
        </p:nvSpPr>
        <p:spPr>
          <a:xfrm>
            <a:off x="609600" y="4371975"/>
            <a:ext cx="7886700" cy="409575"/>
          </a:xfrm>
          <a:prstGeom prst="rect">
            <a:avLst/>
          </a:prstGeom>
          <a:noFill/>
          <a:ln w="0">
            <a:noFill/>
          </a:ln>
        </p:spPr>
        <p:txBody>
          <a:bodyPr wrap="square" lIns="0" tIns="0" rIns="0" bIns="0" anchor="t">
            <a:noAutofit/>
          </a:bodyPr>
          <a:lstStyle/>
          <a:p>
            <a:pPr marL="228600" indent="-190500" algn="l">
              <a:buChar char="►"/>
              <a:defRPr sz="1800" b="0">
                <a:solidFill>
                  <a:srgbClr val="333333"/>
                </a:solidFill>
                <a:latin typeface="Calibri"/>
                <a:ea typeface="Calibri"/>
                <a:cs typeface="Calibri"/>
              </a:defRPr>
            </a:pPr>
            <a:r>
              <a:t>Identify an old expected answer that must now change.</a:t>
            </a:r>
          </a:p>
        </p:txBody>
      </p:sp>
    </p:spTree>
    <p:extLst>
      <p:ext uri="{BB962C8B-B14F-4D97-AF65-F5344CB8AC3E}">
        <p14:creationId xmlns:p14="http://schemas.microsoft.com/office/powerpoint/2010/main" val="12822251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8"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Compare your new tests</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32</a:t>
            </a:r>
            <a:endParaRPr sz="2000"/>
          </a:p>
        </p:txBody>
      </p:sp>
      <p:graphicFrame>
        <p:nvGraphicFramePr>
          <p:cNvPr id="22" name="表格 19"/>
          <p:cNvGraphicFramePr/>
          <p:nvPr/>
        </p:nvGraphicFramePr>
        <p:xfrm>
          <a:off x="552450" y="1752600"/>
          <a:ext cx="8039100" cy="2628900"/>
        </p:xfrm>
        <a:graphic>
          <a:graphicData uri="http://schemas.openxmlformats.org/drawingml/2006/table">
            <a:tbl>
              <a:tblPr/>
              <a:tblGrid>
                <a:gridCol w="135255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1657350">
                  <a:extLst>
                    <a:ext uri="{9D8B030D-6E8A-4147-A177-3AD203B41FA5}">
                      <a16:colId xmlns:a16="http://schemas.microsoft.com/office/drawing/2014/main" val="20002"/>
                    </a:ext>
                  </a:extLst>
                </a:gridCol>
                <a:gridCol w="4076700">
                  <a:extLst>
                    <a:ext uri="{9D8B030D-6E8A-4147-A177-3AD203B41FA5}">
                      <a16:colId xmlns:a16="http://schemas.microsoft.com/office/drawing/2014/main" val="20003"/>
                    </a:ext>
                  </a:extLst>
                </a:gridCol>
              </a:tblGrid>
              <a:tr h="525780">
                <a:tc>
                  <a:txBody>
                    <a:bodyPr/>
                    <a:lstStyle/>
                    <a:p>
                      <a:r>
                        <a:rPr sz="1800" b="1">
                          <a:solidFill>
                            <a:srgbClr val="FFFFFF"/>
                          </a:solidFill>
                          <a:latin typeface="Calibri"/>
                          <a:ea typeface="Calibri"/>
                          <a:cs typeface="Calibri"/>
                        </a:rPr>
                        <a:t>Coursework</a:t>
                      </a:r>
                    </a:p>
                  </a:txBody>
                  <a:tcPr anchor="ctr">
                    <a:solidFill>
                      <a:srgbClr val="4C2859"/>
                    </a:solidFill>
                  </a:tcPr>
                </a:tc>
                <a:tc>
                  <a:txBody>
                    <a:bodyPr/>
                    <a:lstStyle/>
                    <a:p>
                      <a:r>
                        <a:rPr sz="1800" b="1">
                          <a:solidFill>
                            <a:srgbClr val="FFFFFF"/>
                          </a:solidFill>
                          <a:latin typeface="Calibri"/>
                          <a:ea typeface="Calibri"/>
                          <a:cs typeface="Calibri"/>
                        </a:rPr>
                        <a:t>Exam</a:t>
                      </a:r>
                    </a:p>
                  </a:txBody>
                  <a:tcPr anchor="ctr">
                    <a:solidFill>
                      <a:srgbClr val="4C2859"/>
                    </a:solidFill>
                  </a:tcPr>
                </a:tc>
                <a:tc>
                  <a:txBody>
                    <a:bodyPr/>
                    <a:lstStyle/>
                    <a:p>
                      <a:r>
                        <a:rPr sz="1800" b="1">
                          <a:solidFill>
                            <a:srgbClr val="FFFFFF"/>
                          </a:solidFill>
                          <a:latin typeface="Calibri"/>
                          <a:ea typeface="Calibri"/>
                          <a:cs typeface="Calibri"/>
                        </a:rPr>
                        <a:t>New expected</a:t>
                      </a:r>
                    </a:p>
                  </a:txBody>
                  <a:tcPr anchor="ctr">
                    <a:solidFill>
                      <a:srgbClr val="4C2859"/>
                    </a:solidFill>
                  </a:tcPr>
                </a:tc>
                <a:tc>
                  <a:txBody>
                    <a:bodyPr/>
                    <a:lstStyle/>
                    <a:p>
                      <a:r>
                        <a:rPr sz="1800" b="1">
                          <a:solidFill>
                            <a:srgbClr val="FFFFFF"/>
                          </a:solidFill>
                          <a:latin typeface="Calibri"/>
                          <a:ea typeface="Calibri"/>
                          <a:cs typeface="Calibri"/>
                        </a:rPr>
                        <a:t>Reason</a:t>
                      </a:r>
                    </a:p>
                  </a:txBody>
                  <a:tcPr anchor="ctr">
                    <a:solidFill>
                      <a:srgbClr val="4C2859"/>
                    </a:solidFill>
                  </a:tcPr>
                </a:tc>
                <a:extLst>
                  <a:ext uri="{0D108BD9-81ED-4DB2-BD59-A6C34878D82A}">
                    <a16:rowId xmlns:a16="http://schemas.microsoft.com/office/drawing/2014/main" val="10000"/>
                  </a:ext>
                </a:extLst>
              </a:tr>
              <a:tr h="525780">
                <a:tc>
                  <a:txBody>
                    <a:bodyPr/>
                    <a:lstStyle/>
                    <a:p>
                      <a:r>
                        <a:rPr sz="1800" b="0">
                          <a:solidFill>
                            <a:srgbClr val="333333"/>
                          </a:solidFill>
                          <a:latin typeface="Calibri"/>
                          <a:ea typeface="Calibri"/>
                          <a:cs typeface="Calibri"/>
                        </a:rPr>
                        <a:t>100</a:t>
                      </a:r>
                    </a:p>
                  </a:txBody>
                  <a:tcPr anchor="ctr">
                    <a:solidFill>
                      <a:srgbClr val="FFFFFF"/>
                    </a:solidFill>
                  </a:tcPr>
                </a:tc>
                <a:tc>
                  <a:txBody>
                    <a:bodyPr/>
                    <a:lstStyle/>
                    <a:p>
                      <a:r>
                        <a:rPr sz="1800" b="0">
                          <a:solidFill>
                            <a:srgbClr val="333333"/>
                          </a:solidFill>
                          <a:latin typeface="Calibri"/>
                          <a:ea typeface="Calibri"/>
                          <a:cs typeface="Calibri"/>
                        </a:rPr>
                        <a:t>44</a:t>
                      </a:r>
                    </a:p>
                  </a:txBody>
                  <a:tcPr anchor="ctr">
                    <a:solidFill>
                      <a:srgbClr val="FFFFFF"/>
                    </a:solidFill>
                  </a:tcPr>
                </a:tc>
                <a:tc>
                  <a:txBody>
                    <a:bodyPr/>
                    <a:lstStyle/>
                    <a:p>
                      <a:r>
                        <a:rPr sz="1800" b="0">
                          <a:solidFill>
                            <a:srgbClr val="333333"/>
                          </a:solidFill>
                          <a:latin typeface="Calibri"/>
                          <a:ea typeface="Calibri"/>
                          <a:cs typeface="Calibri"/>
                        </a:rPr>
                        <a:t>Fail</a:t>
                      </a:r>
                    </a:p>
                  </a:txBody>
                  <a:tcPr anchor="ctr">
                    <a:solidFill>
                      <a:srgbClr val="FFFFFF"/>
                    </a:solidFill>
                  </a:tcPr>
                </a:tc>
                <a:tc>
                  <a:txBody>
                    <a:bodyPr/>
                    <a:lstStyle/>
                    <a:p>
                      <a:r>
                        <a:rPr sz="1800" b="0">
                          <a:solidFill>
                            <a:srgbClr val="333333"/>
                          </a:solidFill>
                          <a:latin typeface="Calibri"/>
                          <a:ea typeface="Calibri"/>
                          <a:cs typeface="Calibri"/>
                        </a:rPr>
                        <a:t>Just below the new exam minimum</a:t>
                      </a:r>
                    </a:p>
                  </a:txBody>
                  <a:tcPr anchor="ctr">
                    <a:solidFill>
                      <a:srgbClr val="FFFFFF"/>
                    </a:solidFill>
                  </a:tcPr>
                </a:tc>
                <a:extLst>
                  <a:ext uri="{0D108BD9-81ED-4DB2-BD59-A6C34878D82A}">
                    <a16:rowId xmlns:a16="http://schemas.microsoft.com/office/drawing/2014/main" val="10001"/>
                  </a:ext>
                </a:extLst>
              </a:tr>
              <a:tr h="525780">
                <a:tc>
                  <a:txBody>
                    <a:bodyPr/>
                    <a:lstStyle/>
                    <a:p>
                      <a:r>
                        <a:rPr sz="1800" b="0">
                          <a:solidFill>
                            <a:srgbClr val="333333"/>
                          </a:solidFill>
                          <a:latin typeface="Calibri"/>
                          <a:ea typeface="Calibri"/>
                          <a:cs typeface="Calibri"/>
                        </a:rPr>
                        <a:t>100</a:t>
                      </a:r>
                    </a:p>
                  </a:txBody>
                  <a:tcPr anchor="ctr">
                    <a:solidFill>
                      <a:srgbClr val="F8F5FA"/>
                    </a:solidFill>
                  </a:tcPr>
                </a:tc>
                <a:tc>
                  <a:txBody>
                    <a:bodyPr/>
                    <a:lstStyle/>
                    <a:p>
                      <a:r>
                        <a:rPr sz="1800" b="0">
                          <a:solidFill>
                            <a:srgbClr val="333333"/>
                          </a:solidFill>
                          <a:latin typeface="Calibri"/>
                          <a:ea typeface="Calibri"/>
                          <a:cs typeface="Calibri"/>
                        </a:rPr>
                        <a:t>45</a:t>
                      </a:r>
                    </a:p>
                  </a:txBody>
                  <a:tcPr anchor="ctr">
                    <a:solidFill>
                      <a:srgbClr val="F8F5FA"/>
                    </a:solidFill>
                  </a:tcPr>
                </a:tc>
                <a:tc>
                  <a:txBody>
                    <a:bodyPr/>
                    <a:lstStyle/>
                    <a:p>
                      <a:r>
                        <a:rPr sz="1800" b="0">
                          <a:solidFill>
                            <a:srgbClr val="333333"/>
                          </a:solidFill>
                          <a:latin typeface="Calibri"/>
                          <a:ea typeface="Calibri"/>
                          <a:cs typeface="Calibri"/>
                        </a:rPr>
                        <a:t>Pass</a:t>
                      </a:r>
                    </a:p>
                  </a:txBody>
                  <a:tcPr anchor="ctr">
                    <a:solidFill>
                      <a:srgbClr val="F8F5FA"/>
                    </a:solidFill>
                  </a:tcPr>
                </a:tc>
                <a:tc>
                  <a:txBody>
                    <a:bodyPr/>
                    <a:lstStyle/>
                    <a:p>
                      <a:r>
                        <a:rPr sz="1800" b="0">
                          <a:solidFill>
                            <a:srgbClr val="333333"/>
                          </a:solidFill>
                          <a:latin typeface="Calibri"/>
                          <a:ea typeface="Calibri"/>
                          <a:cs typeface="Calibri"/>
                        </a:rPr>
                        <a:t>Exactly at the new minimum</a:t>
                      </a:r>
                    </a:p>
                  </a:txBody>
                  <a:tcPr anchor="ctr">
                    <a:solidFill>
                      <a:srgbClr val="F8F5FA"/>
                    </a:solidFill>
                  </a:tcPr>
                </a:tc>
                <a:extLst>
                  <a:ext uri="{0D108BD9-81ED-4DB2-BD59-A6C34878D82A}">
                    <a16:rowId xmlns:a16="http://schemas.microsoft.com/office/drawing/2014/main" val="10002"/>
                  </a:ext>
                </a:extLst>
              </a:tr>
              <a:tr h="525780">
                <a:tc>
                  <a:txBody>
                    <a:bodyPr/>
                    <a:lstStyle/>
                    <a:p>
                      <a:r>
                        <a:rPr sz="1800" b="0">
                          <a:solidFill>
                            <a:srgbClr val="333333"/>
                          </a:solidFill>
                          <a:latin typeface="Calibri"/>
                          <a:ea typeface="Calibri"/>
                          <a:cs typeface="Calibri"/>
                        </a:rPr>
                        <a:t>100</a:t>
                      </a:r>
                    </a:p>
                  </a:txBody>
                  <a:tcPr anchor="ctr">
                    <a:solidFill>
                      <a:srgbClr val="FFFFFF"/>
                    </a:solidFill>
                  </a:tcPr>
                </a:tc>
                <a:tc>
                  <a:txBody>
                    <a:bodyPr/>
                    <a:lstStyle/>
                    <a:p>
                      <a:r>
                        <a:rPr sz="1800" b="0">
                          <a:solidFill>
                            <a:srgbClr val="333333"/>
                          </a:solidFill>
                          <a:latin typeface="Calibri"/>
                          <a:ea typeface="Calibri"/>
                          <a:cs typeface="Calibri"/>
                        </a:rPr>
                        <a:t>40</a:t>
                      </a:r>
                    </a:p>
                  </a:txBody>
                  <a:tcPr anchor="ctr">
                    <a:solidFill>
                      <a:srgbClr val="FFFFFF"/>
                    </a:solidFill>
                  </a:tcPr>
                </a:tc>
                <a:tc>
                  <a:txBody>
                    <a:bodyPr/>
                    <a:lstStyle/>
                    <a:p>
                      <a:r>
                        <a:rPr sz="1800" b="0">
                          <a:solidFill>
                            <a:srgbClr val="333333"/>
                          </a:solidFill>
                          <a:latin typeface="Calibri"/>
                          <a:ea typeface="Calibri"/>
                          <a:cs typeface="Calibri"/>
                        </a:rPr>
                        <a:t>Fail</a:t>
                      </a:r>
                    </a:p>
                  </a:txBody>
                  <a:tcPr anchor="ctr">
                    <a:solidFill>
                      <a:srgbClr val="FFFFFF"/>
                    </a:solidFill>
                  </a:tcPr>
                </a:tc>
                <a:tc>
                  <a:txBody>
                    <a:bodyPr/>
                    <a:lstStyle/>
                    <a:p>
                      <a:r>
                        <a:rPr sz="1800" b="0">
                          <a:solidFill>
                            <a:srgbClr val="333333"/>
                          </a:solidFill>
                          <a:latin typeface="Calibri"/>
                          <a:ea typeface="Calibri"/>
                          <a:cs typeface="Calibri"/>
                        </a:rPr>
                        <a:t>An old Pass now changes to Fail</a:t>
                      </a:r>
                    </a:p>
                  </a:txBody>
                  <a:tcPr anchor="ctr">
                    <a:solidFill>
                      <a:srgbClr val="FFFFFF"/>
                    </a:solidFill>
                  </a:tcPr>
                </a:tc>
                <a:extLst>
                  <a:ext uri="{0D108BD9-81ED-4DB2-BD59-A6C34878D82A}">
                    <a16:rowId xmlns:a16="http://schemas.microsoft.com/office/drawing/2014/main" val="10003"/>
                  </a:ext>
                </a:extLst>
              </a:tr>
              <a:tr h="525780">
                <a:tc>
                  <a:txBody>
                    <a:bodyPr/>
                    <a:lstStyle/>
                    <a:p>
                      <a:r>
                        <a:rPr sz="1800" b="0">
                          <a:solidFill>
                            <a:srgbClr val="333333"/>
                          </a:solidFill>
                          <a:latin typeface="Calibri"/>
                          <a:ea typeface="Calibri"/>
                          <a:cs typeface="Calibri"/>
                        </a:rPr>
                        <a:t>50</a:t>
                      </a:r>
                    </a:p>
                  </a:txBody>
                  <a:tcPr anchor="ctr">
                    <a:solidFill>
                      <a:srgbClr val="F8F5FA"/>
                    </a:solidFill>
                  </a:tcPr>
                </a:tc>
                <a:tc>
                  <a:txBody>
                    <a:bodyPr/>
                    <a:lstStyle/>
                    <a:p>
                      <a:r>
                        <a:rPr sz="1800" b="0">
                          <a:solidFill>
                            <a:srgbClr val="333333"/>
                          </a:solidFill>
                          <a:latin typeface="Calibri"/>
                          <a:ea typeface="Calibri"/>
                          <a:cs typeface="Calibri"/>
                        </a:rPr>
                        <a:t>50</a:t>
                      </a:r>
                    </a:p>
                  </a:txBody>
                  <a:tcPr anchor="ctr">
                    <a:solidFill>
                      <a:srgbClr val="F8F5FA"/>
                    </a:solidFill>
                  </a:tcPr>
                </a:tc>
                <a:tc>
                  <a:txBody>
                    <a:bodyPr/>
                    <a:lstStyle/>
                    <a:p>
                      <a:r>
                        <a:rPr sz="1800" b="0">
                          <a:solidFill>
                            <a:srgbClr val="333333"/>
                          </a:solidFill>
                          <a:latin typeface="Calibri"/>
                          <a:ea typeface="Calibri"/>
                          <a:cs typeface="Calibri"/>
                        </a:rPr>
                        <a:t>Pass</a:t>
                      </a:r>
                    </a:p>
                  </a:txBody>
                  <a:tcPr anchor="ctr">
                    <a:solidFill>
                      <a:srgbClr val="F8F5FA"/>
                    </a:solidFill>
                  </a:tcPr>
                </a:tc>
                <a:tc>
                  <a:txBody>
                    <a:bodyPr/>
                    <a:lstStyle/>
                    <a:p>
                      <a:r>
                        <a:rPr sz="1800" b="0">
                          <a:solidFill>
                            <a:srgbClr val="333333"/>
                          </a:solidFill>
                          <a:latin typeface="Calibri"/>
                          <a:ea typeface="Calibri"/>
                          <a:cs typeface="Calibri"/>
                        </a:rPr>
                        <a:t>Weighted threshold is unchanged</a:t>
                      </a:r>
                    </a:p>
                  </a:txBody>
                  <a:tcPr anchor="ctr">
                    <a:solidFill>
                      <a:srgbClr val="F8F5FA"/>
                    </a:solidFill>
                  </a:tcPr>
                </a:tc>
                <a:extLst>
                  <a:ext uri="{0D108BD9-81ED-4DB2-BD59-A6C34878D82A}">
                    <a16:rowId xmlns:a16="http://schemas.microsoft.com/office/drawing/2014/main" val="10004"/>
                  </a:ext>
                </a:extLst>
              </a:tr>
            </a:tbl>
          </a:graphicData>
        </a:graphic>
      </p:graphicFrame>
      <p:sp>
        <p:nvSpPr>
          <p:cNvPr id="15" name="Body">
            <a:extLst>
              <a:ext uri="{FF2B5EF4-FFF2-40B4-BE49-F238E27FC236}">
                <a16:creationId xmlns:a16="http://schemas.microsoft.com/office/drawing/2014/main" id="{F5D2D2AB-6324-4F42-B9F8-5126C8432919}"/>
              </a:ext>
            </a:extLst>
          </p:cNvPr>
          <p:cNvSpPr>
            <a:spLocks noGrp="1"/>
          </p:cNvSpPr>
          <p:nvPr/>
        </p:nvSpPr>
        <p:spPr>
          <a:xfrm>
            <a:off x="552450" y="4629150"/>
            <a:ext cx="8039100" cy="41910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Change expected answers when the requirement changes, and explain why.</a:t>
            </a:r>
          </a:p>
        </p:txBody>
      </p:sp>
    </p:spTree>
    <p:extLst>
      <p:ext uri="{BB962C8B-B14F-4D97-AF65-F5344CB8AC3E}">
        <p14:creationId xmlns:p14="http://schemas.microsoft.com/office/powerpoint/2010/main" val="12822251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Exit check and evidence</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33</a:t>
            </a:r>
            <a:endParaRPr sz="2000"/>
          </a:p>
        </p:txBody>
      </p:sp>
      <p:sp>
        <p:nvSpPr>
          <p:cNvPr id="14" name="Body">
            <a:extLst>
              <a:ext uri="{FF2B5EF4-FFF2-40B4-BE49-F238E27FC236}">
                <a16:creationId xmlns:a16="http://schemas.microsoft.com/office/drawing/2014/main" id="{28BCA96C-50A1-42A6-B959-B4ECD2BF6E05}"/>
              </a:ext>
            </a:extLst>
          </p:cNvPr>
          <p:cNvSpPr>
            <a:spLocks noGrp="1"/>
          </p:cNvSpPr>
          <p:nvPr/>
        </p:nvSpPr>
        <p:spPr>
          <a:xfrm>
            <a:off x="609600" y="1733550"/>
            <a:ext cx="7886700" cy="638175"/>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Which requirement did AI help you clarify?</a:t>
            </a:r>
          </a:p>
        </p:txBody>
      </p:sp>
      <p:sp>
        <p:nvSpPr>
          <p:cNvPr id="15" name="Body">
            <a:extLst>
              <a:ext uri="{FF2B5EF4-FFF2-40B4-BE49-F238E27FC236}">
                <a16:creationId xmlns:a16="http://schemas.microsoft.com/office/drawing/2014/main" id="{627ED6D4-7B8F-4F13-A583-754F94B49849}"/>
              </a:ext>
            </a:extLst>
          </p:cNvPr>
          <p:cNvSpPr>
            <a:spLocks noGrp="1"/>
          </p:cNvSpPr>
          <p:nvPr/>
        </p:nvSpPr>
        <p:spPr>
          <a:xfrm>
            <a:off x="609600" y="2400300"/>
            <a:ext cx="7886700" cy="638175"/>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Why can 100 / 39 expose a bug that 80 / 80 misses?</a:t>
            </a:r>
          </a:p>
        </p:txBody>
      </p:sp>
      <p:sp>
        <p:nvSpPr>
          <p:cNvPr id="16" name="Body">
            <a:extLst>
              <a:ext uri="{FF2B5EF4-FFF2-40B4-BE49-F238E27FC236}">
                <a16:creationId xmlns:a16="http://schemas.microsoft.com/office/drawing/2014/main" id="{B7620A07-A1CB-4BF6-8B05-853ABB3F6215}"/>
              </a:ext>
            </a:extLst>
          </p:cNvPr>
          <p:cNvSpPr>
            <a:spLocks noGrp="1"/>
          </p:cNvSpPr>
          <p:nvPr/>
        </p:nvSpPr>
        <p:spPr>
          <a:xfrm>
            <a:off x="609600" y="3067050"/>
            <a:ext cx="7886700" cy="638175"/>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Which actual output shows that your repair worked?</a:t>
            </a:r>
          </a:p>
        </p:txBody>
      </p:sp>
      <p:sp>
        <p:nvSpPr>
          <p:cNvPr id="17" name="Body">
            <a:extLst>
              <a:ext uri="{FF2B5EF4-FFF2-40B4-BE49-F238E27FC236}">
                <a16:creationId xmlns:a16="http://schemas.microsoft.com/office/drawing/2014/main" id="{A98F21D0-F6A7-467E-9EB8-20F87B063392}"/>
              </a:ext>
            </a:extLst>
          </p:cNvPr>
          <p:cNvSpPr>
            <a:spLocks noGrp="1"/>
          </p:cNvSpPr>
          <p:nvPr/>
        </p:nvSpPr>
        <p:spPr>
          <a:xfrm>
            <a:off x="609600" y="3733800"/>
            <a:ext cx="7886700" cy="638175"/>
          </a:xfrm>
          <a:prstGeom prst="rect">
            <a:avLst/>
          </a:prstGeom>
          <a:noFill/>
          <a:ln w="0">
            <a:noFill/>
          </a:ln>
        </p:spPr>
        <p:txBody>
          <a:bodyPr wrap="square" lIns="0" tIns="0" rIns="0" bIns="0" anchor="t">
            <a:noAutofit/>
          </a:bodyPr>
          <a:lstStyle/>
          <a:p>
            <a:pPr marL="228600" indent="-190500" algn="l">
              <a:buChar char="►"/>
              <a:defRPr sz="1875" b="0">
                <a:solidFill>
                  <a:srgbClr val="333333"/>
                </a:solidFill>
                <a:latin typeface="Calibri"/>
                <a:ea typeface="Calibri"/>
                <a:cs typeface="Calibri"/>
              </a:defRPr>
            </a:pPr>
            <a:r>
              <a:t>Can you explain the final code without asking AI?</a:t>
            </a:r>
          </a:p>
        </p:txBody>
      </p:sp>
      <p:sp>
        <p:nvSpPr>
          <p:cNvPr id="18" name="Body">
            <a:extLst>
              <a:ext uri="{FF2B5EF4-FFF2-40B4-BE49-F238E27FC236}">
                <a16:creationId xmlns:a16="http://schemas.microsoft.com/office/drawing/2014/main" id="{6F33E50E-2165-48D8-9703-A57A0CCBAD9C}"/>
              </a:ext>
            </a:extLst>
          </p:cNvPr>
          <p:cNvSpPr>
            <a:spLocks noGrp="1"/>
          </p:cNvSpPr>
          <p:nvPr/>
        </p:nvSpPr>
        <p:spPr>
          <a:xfrm>
            <a:off x="552450" y="4629150"/>
            <a:ext cx="8039100" cy="419100"/>
          </a:xfrm>
          <a:prstGeom prst="rect">
            <a:avLst/>
          </a:prstGeom>
          <a:noFill/>
          <a:ln w="0">
            <a:noFill/>
          </a:ln>
        </p:spPr>
        <p:txBody>
          <a:bodyPr wrap="square" lIns="0" tIns="0" rIns="0" bIns="0" anchor="t">
            <a:noAutofit/>
          </a:bodyPr>
          <a:lstStyle/>
          <a:p>
            <a:pPr algn="l">
              <a:buNone/>
              <a:defRPr sz="1650" b="1">
                <a:solidFill>
                  <a:srgbClr val="4C2859"/>
                </a:solidFill>
                <a:latin typeface="Calibri"/>
                <a:ea typeface="Calibri"/>
                <a:cs typeface="Calibri"/>
              </a:defRPr>
            </a:pPr>
            <a:r>
              <a:rPr sz="1650" b="1">
                <a:solidFill>
                  <a:srgbClr val="4C2859"/>
                </a:solidFill>
                <a:latin typeface="Calibri"/>
                <a:ea typeface="Calibri"/>
                <a:cs typeface="Calibri"/>
              </a:rPr>
              <a:t>Keep requirements.md, the test plan, code and the required AI-use record.</a:t>
            </a:r>
          </a:p>
        </p:txBody>
      </p:sp>
    </p:spTree>
    <p:extLst>
      <p:ext uri="{BB962C8B-B14F-4D97-AF65-F5344CB8AC3E}">
        <p14:creationId xmlns:p14="http://schemas.microsoft.com/office/powerpoint/2010/main" val="12822251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2" name="Image 0"/>
          <p:cNvPicPr>
            <a:picLocks noChangeAspect="1"/>
          </p:cNvPicPr>
          <p:nvPr/>
        </p:nvPicPr>
        <p:blipFill>
          <a:blip r:embed="rId3"/>
          <a:stretch>
            <a:fillRect/>
          </a:stretch>
        </p:blipFill>
        <p:spPr>
          <a:xfrm>
            <a:off x="274320" y="256032"/>
            <a:ext cx="8595360" cy="1143000"/>
          </a:xfrm>
          <a:prstGeom prst="rect">
            <a:avLst/>
          </a:prstGeom>
        </p:spPr>
      </p:pic>
      <p:sp>
        <p:nvSpPr>
          <p:cNvPr id="3" name="Text 0">
            <a:extLst>
              <a:ext uri="{FF2B5EF4-FFF2-40B4-BE49-F238E27FC236}">
                <a16:creationId xmlns:a16="http://schemas.microsoft.com/office/drawing/2014/main" id="{0A89505B-85EF-4794-BCB0-EB81E54EEE05}"/>
              </a:ext>
            </a:extLst>
          </p:cNvPr>
          <p:cNvSpPr>
            <a:spLocks noGrp="1"/>
          </p:cNvSpPr>
          <p:nvPr/>
        </p:nvSpPr>
        <p:spPr>
          <a:xfrm>
            <a:off x="548640" y="411480"/>
            <a:ext cx="7334250" cy="777240"/>
          </a:xfrm>
          <a:prstGeom prst="rect">
            <a:avLst/>
          </a:prstGeom>
          <a:noFill/>
          <a:ln w="0">
            <a:noFill/>
          </a:ln>
        </p:spPr>
        <p:txBody>
          <a:bodyPr wrap="square" lIns="0" tIns="0" rIns="0" bIns="0" anchor="ctr">
            <a:noAutofit/>
          </a:bodyPr>
          <a:lstStyle/>
          <a:p>
            <a:pPr marL="0" indent="0" algn="l">
              <a:buNone/>
              <a:defRPr sz="2800" b="0">
                <a:solidFill>
                  <a:srgbClr val="FFFFFF"/>
                </a:solidFill>
                <a:latin typeface="Century Gothic"/>
                <a:ea typeface="Century Gothic"/>
                <a:cs typeface="Century Gothic"/>
              </a:defRPr>
            </a:pPr>
            <a:r>
              <a:rPr sz="2800" b="0">
                <a:solidFill>
                  <a:srgbClr val="FFFFFF"/>
                </a:solidFill>
                <a:latin typeface="Century Gothic"/>
                <a:ea typeface="Century Gothic"/>
                <a:cs typeface="Century Gothic"/>
              </a:rPr>
              <a:t>References and setup links</a:t>
            </a:r>
            <a:endParaRPr sz="2800"/>
          </a:p>
        </p:txBody>
      </p:sp>
      <p:sp>
        <p:nvSpPr>
          <p:cNvPr id="4" name="Shape 1">
            <a:extLst>
              <a:ext uri="{FF2B5EF4-FFF2-40B4-BE49-F238E27FC236}">
                <a16:creationId xmlns:a16="http://schemas.microsoft.com/office/drawing/2014/main" id="{1E4082E5-EA5A-4388-8CF7-11D5047F929B}"/>
              </a:ext>
            </a:extLst>
          </p:cNvPr>
          <p:cNvSpPr>
            <a:spLocks noGrp="1"/>
          </p:cNvSpPr>
          <p:nvPr/>
        </p:nvSpPr>
        <p:spPr>
          <a:xfrm>
            <a:off x="8092440" y="0"/>
            <a:ext cx="685800" cy="658368"/>
          </a:xfrm>
          <a:prstGeom prst="rect">
            <a:avLst/>
          </a:prstGeom>
          <a:solidFill>
            <a:srgbClr val="B31166"/>
          </a:solidFill>
          <a:ln w="12700">
            <a:solidFill>
              <a:srgbClr val="B31166"/>
            </a:solidFill>
            <a:prstDash val="solid"/>
          </a:ln>
        </p:spPr>
        <p:txBody>
          <a:bodyPr/>
          <a:lstStyle/>
          <a:p>
            <a:endParaRPr/>
          </a:p>
        </p:txBody>
      </p:sp>
      <p:sp>
        <p:nvSpPr>
          <p:cNvPr id="5" name="Text 2">
            <a:extLst>
              <a:ext uri="{FF2B5EF4-FFF2-40B4-BE49-F238E27FC236}">
                <a16:creationId xmlns:a16="http://schemas.microsoft.com/office/drawing/2014/main" id="{39B4C835-45AE-4192-A463-1BA555319AF0}"/>
              </a:ext>
            </a:extLst>
          </p:cNvPr>
          <p:cNvSpPr>
            <a:spLocks noGrp="1"/>
          </p:cNvSpPr>
          <p:nvPr/>
        </p:nvSpPr>
        <p:spPr>
          <a:xfrm>
            <a:off x="8092440" y="0"/>
            <a:ext cx="685800" cy="658368"/>
          </a:xfrm>
          <a:prstGeom prst="rect">
            <a:avLst/>
          </a:prstGeom>
          <a:noFill/>
          <a:ln w="0">
            <a:noFill/>
          </a:ln>
        </p:spPr>
        <p:txBody>
          <a:bodyPr wrap="square" lIns="0" tIns="0" rIns="0" bIns="0" anchor="ctr">
            <a:noAutofit/>
          </a:bodyPr>
          <a:lstStyle/>
          <a:p>
            <a:pPr marL="0" indent="0" algn="ctr">
              <a:buNone/>
              <a:defRPr sz="2000" b="0">
                <a:solidFill>
                  <a:srgbClr val="FFFFFF"/>
                </a:solidFill>
                <a:latin typeface="Century Gothic"/>
                <a:ea typeface="Century Gothic"/>
                <a:cs typeface="Century Gothic"/>
              </a:defRPr>
            </a:pPr>
            <a:r>
              <a:rPr sz="2000" b="0">
                <a:solidFill>
                  <a:srgbClr val="FFFFFF"/>
                </a:solidFill>
                <a:latin typeface="Century Gothic"/>
                <a:ea typeface="Century Gothic"/>
                <a:cs typeface="Century Gothic"/>
              </a:rPr>
              <a:t>34</a:t>
            </a:r>
            <a:endParaRPr sz="2000"/>
          </a:p>
        </p:txBody>
      </p:sp>
      <p:sp>
        <p:nvSpPr>
          <p:cNvPr id="14" name="Body">
            <a:extLst>
              <a:ext uri="{FF2B5EF4-FFF2-40B4-BE49-F238E27FC236}">
                <a16:creationId xmlns:a16="http://schemas.microsoft.com/office/drawing/2014/main" id="{A46CE1EB-CD6F-442B-8EE8-F699150DC7E2}"/>
              </a:ext>
            </a:extLst>
          </p:cNvPr>
          <p:cNvSpPr>
            <a:spLocks noGrp="1"/>
          </p:cNvSpPr>
          <p:nvPr/>
        </p:nvSpPr>
        <p:spPr>
          <a:xfrm>
            <a:off x="552450" y="1724025"/>
            <a:ext cx="8039100" cy="352425"/>
          </a:xfrm>
          <a:prstGeom prst="rect">
            <a:avLst/>
          </a:prstGeom>
          <a:noFill/>
          <a:ln w="0">
            <a:noFill/>
          </a:ln>
        </p:spPr>
        <p:txBody>
          <a:bodyPr wrap="square" lIns="0" tIns="0" rIns="0" bIns="0" anchor="t">
            <a:noAutofit/>
          </a:bodyPr>
          <a:lstStyle/>
          <a:p>
            <a:pPr algn="l">
              <a:buNone/>
              <a:defRPr sz="1875" b="0">
                <a:solidFill>
                  <a:srgbClr val="4C2859"/>
                </a:solidFill>
                <a:latin typeface="Calibri"/>
                <a:ea typeface="Calibri"/>
                <a:cs typeface="Calibri"/>
              </a:defRPr>
            </a:pPr>
            <a:r>
              <a:rPr sz="1875" b="0">
                <a:solidFill>
                  <a:srgbClr val="4C2859"/>
                </a:solidFill>
                <a:latin typeface="Calibri"/>
                <a:ea typeface="Calibri"/>
                <a:cs typeface="Calibri"/>
                <a:hlinkClick r:id="rId4"/>
              </a:rPr>
              <a:t>HKU GenAI access</a:t>
            </a:r>
          </a:p>
        </p:txBody>
      </p:sp>
      <p:sp>
        <p:nvSpPr>
          <p:cNvPr id="15" name="Body">
            <a:extLst>
              <a:ext uri="{FF2B5EF4-FFF2-40B4-BE49-F238E27FC236}">
                <a16:creationId xmlns:a16="http://schemas.microsoft.com/office/drawing/2014/main" id="{777122FA-208A-4779-8974-0424B417602E}"/>
              </a:ext>
            </a:extLst>
          </p:cNvPr>
          <p:cNvSpPr>
            <a:spLocks noGrp="1"/>
          </p:cNvSpPr>
          <p:nvPr/>
        </p:nvSpPr>
        <p:spPr>
          <a:xfrm>
            <a:off x="552450" y="2133600"/>
            <a:ext cx="8039100" cy="352425"/>
          </a:xfrm>
          <a:prstGeom prst="rect">
            <a:avLst/>
          </a:prstGeom>
          <a:noFill/>
          <a:ln w="0">
            <a:noFill/>
          </a:ln>
        </p:spPr>
        <p:txBody>
          <a:bodyPr wrap="square" lIns="0" tIns="0" rIns="0" bIns="0" anchor="t">
            <a:noAutofit/>
          </a:bodyPr>
          <a:lstStyle/>
          <a:p>
            <a:pPr algn="l">
              <a:buNone/>
              <a:defRPr sz="1875" b="0">
                <a:solidFill>
                  <a:srgbClr val="4C2859"/>
                </a:solidFill>
                <a:latin typeface="Calibri"/>
                <a:ea typeface="Calibri"/>
                <a:cs typeface="Calibri"/>
              </a:defRPr>
            </a:pPr>
            <a:r>
              <a:rPr sz="1875" b="0">
                <a:solidFill>
                  <a:srgbClr val="4C2859"/>
                </a:solidFill>
                <a:latin typeface="Calibri"/>
                <a:ea typeface="Calibri"/>
                <a:cs typeface="Calibri"/>
                <a:hlinkClick r:id="rId5"/>
              </a:rPr>
              <a:t>HKU Copilot setup</a:t>
            </a:r>
          </a:p>
        </p:txBody>
      </p:sp>
      <p:sp>
        <p:nvSpPr>
          <p:cNvPr id="16" name="Body">
            <a:extLst>
              <a:ext uri="{FF2B5EF4-FFF2-40B4-BE49-F238E27FC236}">
                <a16:creationId xmlns:a16="http://schemas.microsoft.com/office/drawing/2014/main" id="{393B4318-9F73-4A86-907B-0D0E8C0A6BAF}"/>
              </a:ext>
            </a:extLst>
          </p:cNvPr>
          <p:cNvSpPr>
            <a:spLocks noGrp="1"/>
          </p:cNvSpPr>
          <p:nvPr/>
        </p:nvSpPr>
        <p:spPr>
          <a:xfrm>
            <a:off x="552450" y="2543175"/>
            <a:ext cx="8039100" cy="352425"/>
          </a:xfrm>
          <a:prstGeom prst="rect">
            <a:avLst/>
          </a:prstGeom>
          <a:noFill/>
          <a:ln w="0">
            <a:noFill/>
          </a:ln>
        </p:spPr>
        <p:txBody>
          <a:bodyPr wrap="square" lIns="0" tIns="0" rIns="0" bIns="0" anchor="t">
            <a:noAutofit/>
          </a:bodyPr>
          <a:lstStyle/>
          <a:p>
            <a:pPr algn="l">
              <a:buNone/>
              <a:defRPr sz="1875" b="0">
                <a:solidFill>
                  <a:srgbClr val="4C2859"/>
                </a:solidFill>
                <a:latin typeface="Calibri"/>
                <a:ea typeface="Calibri"/>
                <a:cs typeface="Calibri"/>
              </a:defRPr>
            </a:pPr>
            <a:r>
              <a:rPr sz="1875" b="0">
                <a:solidFill>
                  <a:srgbClr val="4C2859"/>
                </a:solidFill>
                <a:latin typeface="Calibri"/>
                <a:ea typeface="Calibri"/>
                <a:cs typeface="Calibri"/>
                <a:hlinkClick r:id="rId6"/>
              </a:rPr>
              <a:t>VS Code Chat</a:t>
            </a:r>
          </a:p>
        </p:txBody>
      </p:sp>
      <p:sp>
        <p:nvSpPr>
          <p:cNvPr id="17" name="Body">
            <a:extLst>
              <a:ext uri="{FF2B5EF4-FFF2-40B4-BE49-F238E27FC236}">
                <a16:creationId xmlns:a16="http://schemas.microsoft.com/office/drawing/2014/main" id="{CD04006D-4A9D-4689-B0DF-39A09E0A00BC}"/>
              </a:ext>
            </a:extLst>
          </p:cNvPr>
          <p:cNvSpPr>
            <a:spLocks noGrp="1"/>
          </p:cNvSpPr>
          <p:nvPr/>
        </p:nvSpPr>
        <p:spPr>
          <a:xfrm>
            <a:off x="552450" y="2952750"/>
            <a:ext cx="8039100" cy="352425"/>
          </a:xfrm>
          <a:prstGeom prst="rect">
            <a:avLst/>
          </a:prstGeom>
          <a:noFill/>
          <a:ln w="0">
            <a:noFill/>
          </a:ln>
        </p:spPr>
        <p:txBody>
          <a:bodyPr wrap="square" lIns="0" tIns="0" rIns="0" bIns="0" anchor="t">
            <a:noAutofit/>
          </a:bodyPr>
          <a:lstStyle/>
          <a:p>
            <a:pPr algn="l">
              <a:buNone/>
              <a:defRPr sz="1875" b="0">
                <a:solidFill>
                  <a:srgbClr val="4C2859"/>
                </a:solidFill>
                <a:latin typeface="Calibri"/>
                <a:ea typeface="Calibri"/>
                <a:cs typeface="Calibri"/>
              </a:defRPr>
            </a:pPr>
            <a:r>
              <a:rPr sz="1875" b="0">
                <a:solidFill>
                  <a:srgbClr val="4C2859"/>
                </a:solidFill>
                <a:latin typeface="Calibri"/>
                <a:ea typeface="Calibri"/>
                <a:cs typeface="Calibri"/>
                <a:hlinkClick r:id="rId7"/>
              </a:rPr>
              <a:t>Choosing a chat model</a:t>
            </a:r>
          </a:p>
        </p:txBody>
      </p:sp>
      <p:sp>
        <p:nvSpPr>
          <p:cNvPr id="18" name="Body">
            <a:extLst>
              <a:ext uri="{FF2B5EF4-FFF2-40B4-BE49-F238E27FC236}">
                <a16:creationId xmlns:a16="http://schemas.microsoft.com/office/drawing/2014/main" id="{7A6AACA0-3BCC-4521-8F4B-5F8240CDB300}"/>
              </a:ext>
            </a:extLst>
          </p:cNvPr>
          <p:cNvSpPr>
            <a:spLocks noGrp="1"/>
          </p:cNvSpPr>
          <p:nvPr/>
        </p:nvSpPr>
        <p:spPr>
          <a:xfrm>
            <a:off x="552450" y="3362325"/>
            <a:ext cx="8039100" cy="352425"/>
          </a:xfrm>
          <a:prstGeom prst="rect">
            <a:avLst/>
          </a:prstGeom>
          <a:noFill/>
          <a:ln w="0">
            <a:noFill/>
          </a:ln>
        </p:spPr>
        <p:txBody>
          <a:bodyPr wrap="square" lIns="0" tIns="0" rIns="0" bIns="0" anchor="t">
            <a:noAutofit/>
          </a:bodyPr>
          <a:lstStyle/>
          <a:p>
            <a:pPr algn="l">
              <a:buNone/>
              <a:defRPr sz="1875" b="0">
                <a:solidFill>
                  <a:srgbClr val="4C2859"/>
                </a:solidFill>
                <a:latin typeface="Calibri"/>
                <a:ea typeface="Calibri"/>
                <a:cs typeface="Calibri"/>
              </a:defRPr>
            </a:pPr>
            <a:r>
              <a:rPr sz="1875" b="0">
                <a:solidFill>
                  <a:srgbClr val="4C2859"/>
                </a:solidFill>
                <a:latin typeface="Calibri"/>
                <a:ea typeface="Calibri"/>
                <a:cs typeface="Calibri"/>
                <a:hlinkClick r:id="rId8"/>
              </a:rPr>
              <a:t>Adding files as context</a:t>
            </a:r>
          </a:p>
        </p:txBody>
      </p:sp>
      <p:sp>
        <p:nvSpPr>
          <p:cNvPr id="19" name="Body">
            <a:extLst>
              <a:ext uri="{FF2B5EF4-FFF2-40B4-BE49-F238E27FC236}">
                <a16:creationId xmlns:a16="http://schemas.microsoft.com/office/drawing/2014/main" id="{FD8A4D72-81D6-4555-8287-3D203E18C131}"/>
              </a:ext>
            </a:extLst>
          </p:cNvPr>
          <p:cNvSpPr>
            <a:spLocks noGrp="1"/>
          </p:cNvSpPr>
          <p:nvPr/>
        </p:nvSpPr>
        <p:spPr>
          <a:xfrm>
            <a:off x="552450" y="3771900"/>
            <a:ext cx="8039100" cy="352425"/>
          </a:xfrm>
          <a:prstGeom prst="rect">
            <a:avLst/>
          </a:prstGeom>
          <a:noFill/>
          <a:ln w="0">
            <a:noFill/>
          </a:ln>
        </p:spPr>
        <p:txBody>
          <a:bodyPr wrap="square" lIns="0" tIns="0" rIns="0" bIns="0" anchor="t">
            <a:noAutofit/>
          </a:bodyPr>
          <a:lstStyle/>
          <a:p>
            <a:pPr algn="l">
              <a:buNone/>
              <a:defRPr sz="1875" b="0">
                <a:solidFill>
                  <a:srgbClr val="4C2859"/>
                </a:solidFill>
                <a:latin typeface="Calibri"/>
                <a:ea typeface="Calibri"/>
                <a:cs typeface="Calibri"/>
              </a:defRPr>
            </a:pPr>
            <a:r>
              <a:rPr sz="1875" b="0">
                <a:solidFill>
                  <a:srgbClr val="4C2859"/>
                </a:solidFill>
                <a:latin typeface="Calibri"/>
                <a:ea typeface="Calibri"/>
                <a:cs typeface="Calibri"/>
                <a:hlinkClick r:id="rId9"/>
              </a:rPr>
              <a:t>Test design: ISTQB syllabus</a:t>
            </a:r>
          </a:p>
        </p:txBody>
      </p:sp>
      <p:sp>
        <p:nvSpPr>
          <p:cNvPr id="20" name="Body">
            <a:extLst>
              <a:ext uri="{FF2B5EF4-FFF2-40B4-BE49-F238E27FC236}">
                <a16:creationId xmlns:a16="http://schemas.microsoft.com/office/drawing/2014/main" id="{B76FE2AE-FA1D-48DF-AA42-61EEFEA7FC6F}"/>
              </a:ext>
            </a:extLst>
          </p:cNvPr>
          <p:cNvSpPr>
            <a:spLocks noGrp="1"/>
          </p:cNvSpPr>
          <p:nvPr/>
        </p:nvSpPr>
        <p:spPr>
          <a:xfrm>
            <a:off x="552450" y="4181475"/>
            <a:ext cx="8039100" cy="352425"/>
          </a:xfrm>
          <a:prstGeom prst="rect">
            <a:avLst/>
          </a:prstGeom>
          <a:noFill/>
          <a:ln w="0">
            <a:noFill/>
          </a:ln>
        </p:spPr>
        <p:txBody>
          <a:bodyPr wrap="square" lIns="0" tIns="0" rIns="0" bIns="0" anchor="t">
            <a:noAutofit/>
          </a:bodyPr>
          <a:lstStyle/>
          <a:p>
            <a:pPr algn="l">
              <a:buNone/>
              <a:defRPr sz="1875" b="0">
                <a:solidFill>
                  <a:srgbClr val="4C2859"/>
                </a:solidFill>
                <a:latin typeface="Calibri"/>
                <a:ea typeface="Calibri"/>
                <a:cs typeface="Calibri"/>
              </a:defRPr>
            </a:pPr>
            <a:r>
              <a:rPr sz="1875" b="0">
                <a:solidFill>
                  <a:srgbClr val="4C2859"/>
                </a:solidFill>
                <a:latin typeface="Calibri"/>
                <a:ea typeface="Calibri"/>
                <a:cs typeface="Calibri"/>
                <a:hlinkClick r:id="rId10"/>
              </a:rPr>
              <a:t>Python control flow</a:t>
            </a:r>
          </a:p>
        </p:txBody>
      </p:sp>
    </p:spTree>
    <p:extLst>
      <p:ext uri="{BB962C8B-B14F-4D97-AF65-F5344CB8AC3E}">
        <p14:creationId xmlns:p14="http://schemas.microsoft.com/office/powerpoint/2010/main" val="12822251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5006</Words>
  <Application>Microsoft Office PowerPoint</Application>
  <DocSecurity>0</DocSecurity>
  <PresentationFormat>全屏显示(16:9)</PresentationFormat>
  <Paragraphs>508</Paragraphs>
  <Slides>34</Slides>
  <Notes>34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34</vt:i4>
      </vt:variant>
    </vt:vector>
  </HeadingPairs>
  <TitlesOfParts>
    <vt:vector size="39" baseType="lpstr">
      <vt:lpstr>Arial</vt:lpstr>
      <vt:lpstr>Calibri</vt:lpstr>
      <vt:lpstr>Century Gothic</vt:lpstr>
      <vt:lpstr>Consolas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越 曹</cp:lastModifiedBy>
  <cp:revision>2</cp:revision>
  <dcterms:created xsi:type="dcterms:W3CDTF">2026-09-11T02:49:05Z</dcterms:created>
  <dcterms:modified xsi:type="dcterms:W3CDTF">2026-09-11T04:59:03Z</dcterms:modified>
</cp:coreProperties>
</file>